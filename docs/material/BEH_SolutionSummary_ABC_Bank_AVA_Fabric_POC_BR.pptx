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handoutMasters/handoutMaster1.xml" ContentType="application/vnd.openxmlformats-officedocument.presentationml.handoutMaster+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45"/>
  </p:notesMasterIdLst>
  <p:handoutMasterIdLst>
    <p:handoutMasterId r:id="rId46"/>
  </p:handoutMasterIdLst>
  <p:sldIdLst>
    <p:sldId id="256" r:id="rId5"/>
    <p:sldId id="2147483627" r:id="rId7"/>
    <p:sldId id="2147483468" r:id="rId9"/>
    <p:sldId id="259" r:id="rId10"/>
    <p:sldId id="2147480565" r:id="rId11"/>
    <p:sldId id="2147483637" r:id="rId12"/>
    <p:sldId id="2147480536" r:id="rId14"/>
    <p:sldId id="264" r:id="rId15"/>
    <p:sldId id="27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olution Plan Slides" id="{F825D7AB-8068-4ED0-99F5-FBBE4D741C5A}">
          <p14:sldIdLst>
            <p14:sldId id="256"/>
            <p14:sldId id="4113"/>
            <p14:sldId id="2147483627"/>
            <p14:sldId id="2147483582"/>
            <p14:sldId id="2147483468"/>
            <p14:sldId id="259"/>
            <p14:sldId id="2147480565"/>
            <p14:sldId id="2147483637"/>
            <p14:sldId id="2147480562"/>
            <p14:sldId id="2147480536"/>
            <p14:sldId id="264"/>
            <p14:sldId id="261"/>
            <p14:sldId id="285"/>
            <p14:sldId id="2147483635"/>
            <p14:sldId id="2147483636"/>
            <p14:sldId id="283"/>
            <p14:sldId id="2147483595"/>
            <p14:sldId id="282"/>
            <p14:sldId id="270"/>
            <p14:sldId id="272"/>
            <p14:sldId id="271"/>
            <p14:sldId id="2147483628"/>
            <p14:sldId id="2147483629"/>
            <p14:sldId id="2147483630"/>
            <p14:sldId id="2147483631"/>
            <p14:sldId id="2147483632"/>
            <p14:sldId id="2147480528"/>
            <p14:sldId id="275"/>
            <p14:sldId id="2147483633"/>
            <p14:sldId id="276"/>
            <p14:sldId id="2147483626"/>
            <p14:sldId id="2147483634"/>
            <p14:sldId id="2147483596"/>
            <p14:sldId id="267"/>
            <p14:sldId id="258"/>
            <p14:sldId id="260"/>
            <p14:sldId id="278"/>
            <p14:sldId id="279"/>
            <p14:sldId id="281"/>
            <p14:sldId id="2147480534"/>
          </p14:sldIdLst>
        </p14:section>
        <p14:section name="Graveyard" id="{01658332-AC9C-428A-B946-ACCBF962BEF2}">
          <p14:sldIdLst/>
        </p14:section>
      </p14:sectionLst>
    </p:ext>
    <p:ext uri="{EFAFB233-063F-42B5-8137-9DF3F51BA10A}">
      <p15:sldGuideLst xmlns:p15="http://schemas.microsoft.com/office/powerpoint/2012/main">
        <p15:guide id="1" orient="horz" pos="2496" userDrawn="1">
          <p15:clr>
            <a:srgbClr val="A4A3A4"/>
          </p15:clr>
        </p15:guide>
        <p15:guide id="2" pos="25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ECF10F-2D6D-85EE-8092-6648B2711D12}" name="Cristiano Rodrigues Matheus" initials="" userId="S::c.rodrigues.matheus@avanade.com::85ed863a-4c3c-4608-8d1b-15d2be2df509" providerId="AD"/>
  <p188:author id="{58966B21-3E1B-53E1-4524-8DC0C486A3DB}" name="Ana Paula Victor De Araujo" initials="AA" userId="S::ana.victor.de.araujo@avanade.com::d6a8521f-2784-475a-b797-e01c80a1e457" providerId="AD"/>
  <p188:author id="{BD0BB523-78C5-9EC7-F689-0308DFACFF6C}" name="Evan Kalman" initials="" userId="S::e.kalman@avanade.com::b63cc5b0-ecec-4561-95e1-28384d9da0f8" providerId="AD"/>
  <p188:author id="{E9834F31-E8B5-A5B1-0BC0-351B8E3BB974}" name="Jason Berg" initials="JB" userId="S::jason.m.berg@avanade.com::8f96afc9-ba25-40e2-bfc7-31eadbc53e9d" providerId="AD"/>
  <p188:author id="{6BA4FA39-83AE-8BD3-5631-AE9D14796855}" name="Michael Robertson" initials="MR" userId="S::michael.robertson@avanade.com::ff101142-114a-4f68-ac90-efd125b1dc34" providerId="AD"/>
  <p188:author id="{5B98AB46-5354-33B7-7C0A-DE8B9DE162EC}" name="Aashish Dhole" initials="AD" userId="S::aashish.dhole@avanade.com::8b64950b-367d-4293-820f-75b512065fb3" providerId="AD"/>
  <p188:author id="{0BB78D75-E1FA-E85A-8B72-D694A91BCA85}" name="Pedro Ivo Tavares" initials="PT" userId="S::pedro.ivo.a.tavares@avanade.com::1a62cdd4-4be4-4a29-bc13-02859f4243a2" providerId="AD"/>
  <p188:author id="{ACF64D89-8142-0299-1990-DEC93E68BE32}" name="Kevin Kelley" initials="KK" userId="S::kevin.kelley@avanade.com::88889b0a-0b6d-4bfa-92a7-8df47405e088" providerId="AD"/>
  <p188:author id="{1424E5B3-F6AB-1476-9091-8EE63B5A4040}" name="Rob Lewis" initials="RL" userId="S::rob.lewis@avanade.com::bc8455e3-04ea-46ad-bdc3-f070dea1a25f" providerId="AD"/>
  <p188:author id="{F0FA83B5-1D11-5307-3104-839BE1DABB48}" name="Trey Bynum" initials="TB" userId="S::trey.bynum@avanade.com::343d94a6-06e2-42fe-abbf-8cb86e38e98f" providerId="AD"/>
  <p188:author id="{077956B9-FC70-EB9F-EC4F-66DE0D56058B}" name="Chris Abernathy" initials="CA" userId="S::chris.abernathy@avanade.com::a5e2d885-4493-4bf9-9aa7-e4d45ea20a40" providerId="AD"/>
  <p188:author id="{0E6F94D8-AAA8-5969-58A4-A97972B0E33E}" name="Alexandre Liebold Peres Y Peres" initials="" userId="S::alexandre.l.peres@avanade.com::ededff73-151e-4baa-b4e0-c1d1869b7a4c" providerId="AD"/>
  <p188:author id="{E48B7DDF-C0C8-8A3E-92D4-E1FE0BF41E3A}" name="Joffre Bernal" initials="JB" userId="S::joffre.d.bernal@avanade.com::242002de-8479-4109-879a-03fb21bcb67b" providerId="AD"/>
  <p188:author id="{536B75EB-36DC-9038-0566-274F9B7529DA}" name="James Batty" initials="JB" userId="S::james.batty@avanade.com::e510bf52-999b-44c5-89f4-2ac66e74845b" providerId="AD"/>
  <p188:author id="{8B2AEFEF-F38A-F846-F96F-54E5A37D4950}" name="Alexander Russo" initials="AR" userId="S::alexander.p.russo@avanade.com::046b29d1-1e04-49c1-9d30-4ce0f565e2cd" providerId="AD"/>
  <p188:author id="{35D2D5F2-20DF-2BD5-D162-103BBB75E280}" name="Michael Madsen" initials="MM" userId="S::michael.madsen@avanade.com::5219eb16-8a75-4698-b1aa-7937fec828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FF5800"/>
    <a:srgbClr val="E7E6E6"/>
    <a:srgbClr val="595959"/>
    <a:srgbClr val="008376"/>
    <a:srgbClr val="47800A"/>
    <a:srgbClr val="008C95"/>
    <a:srgbClr val="4B912A"/>
    <a:srgbClr val="FDFDFD"/>
    <a:srgbClr val="FC591F"/>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5705AB-D046-4FCA-9591-35451B51BE8D}" v="4" dt="2026-08-21T21:58:20.7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2496"/>
        <p:guide pos="25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7" Type="http://schemas.openxmlformats.org/officeDocument/2006/relationships/slide" Target="slides/slide3.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4" Type="http://schemas.openxmlformats.org/officeDocument/2006/relationships/slide" Target="slides/slide10.xml"/><Relationship Id="rId15" Type="http://schemas.openxmlformats.org/officeDocument/2006/relationships/slide" Target="slides/slide11.xml"/><Relationship Id="rId25" Type="http://schemas.openxmlformats.org/officeDocument/2006/relationships/slide" Target="slides/slide21.xml"/><Relationship Id="rId45" Type="http://schemas.openxmlformats.org/officeDocument/2006/relationships/notesMaster" Target="notesMasters/notesMaster1.xml"/><Relationship Id="rId46" Type="http://schemas.openxmlformats.org/officeDocument/2006/relationships/handoutMaster" Target="handoutMasters/handout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6/11/relationships/changesInfo" Target="changesInfos/changesInfo1.xml"/><Relationship Id="rId52" Type="http://schemas.microsoft.com/office/2015/10/relationships/revisionInfo" Target="revisionInfo.xml"/><Relationship Id="rId53"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ael Dos Santos De Almeida" userId="7215804a-e06a-42f5-8ddd-df41c410ddf3" providerId="ADAL" clId="{8280FB3A-C1F5-40B0-8625-78C4C29EEC61}"/>
    <pc:docChg chg="undo custSel modSld">
      <pc:chgData name="Rafael Dos Santos De Almeida" userId="7215804a-e06a-42f5-8ddd-df41c410ddf3" providerId="ADAL" clId="{8280FB3A-C1F5-40B0-8625-78C4C29EEC61}" dt="2026-08-21T21:59:43.685" v="448" actId="20577"/>
      <pc:docMkLst>
        <pc:docMk/>
      </pc:docMkLst>
      <pc:sldChg chg="modSp mod">
        <pc:chgData name="Rafael Dos Santos De Almeida" userId="7215804a-e06a-42f5-8ddd-df41c410ddf3" providerId="ADAL" clId="{8280FB3A-C1F5-40B0-8625-78C4C29EEC61}" dt="2026-08-21T21:24:27.992" v="103" actId="20577"/>
        <pc:sldMkLst>
          <pc:docMk/>
          <pc:sldMk cId="3946388760" sldId="256"/>
        </pc:sldMkLst>
        <pc:spChg chg="mod">
          <ac:chgData name="Rafael Dos Santos De Almeida" userId="7215804a-e06a-42f5-8ddd-df41c410ddf3" providerId="ADAL" clId="{8280FB3A-C1F5-40B0-8625-78C4C29EEC61}" dt="2026-08-21T21:24:27.992" v="103" actId="20577"/>
          <ac:spMkLst>
            <pc:docMk/>
            <pc:sldMk cId="3946388760" sldId="256"/>
            <ac:spMk id="3" creationId="{C3B7BC3A-EA1E-9533-8C85-610AF02E1122}"/>
          </ac:spMkLst>
        </pc:spChg>
      </pc:sldChg>
      <pc:sldChg chg="modSp mod">
        <pc:chgData name="Rafael Dos Santos De Almeida" userId="7215804a-e06a-42f5-8ddd-df41c410ddf3" providerId="ADAL" clId="{8280FB3A-C1F5-40B0-8625-78C4C29EEC61}" dt="2026-08-21T21:42:54.457" v="226" actId="20577"/>
        <pc:sldMkLst>
          <pc:docMk/>
          <pc:sldMk cId="3690776620" sldId="4113"/>
        </pc:sldMkLst>
        <pc:graphicFrameChg chg="modGraphic">
          <ac:chgData name="Rafael Dos Santos De Almeida" userId="7215804a-e06a-42f5-8ddd-df41c410ddf3" providerId="ADAL" clId="{8280FB3A-C1F5-40B0-8625-78C4C29EEC61}" dt="2026-08-21T21:24:17.593" v="93" actId="20577"/>
          <ac:graphicFrameMkLst>
            <pc:docMk/>
            <pc:sldMk cId="3690776620" sldId="4113"/>
            <ac:graphicFrameMk id="13" creationId="{A14B1F44-28D1-45D4-AA52-9EE99FB1D4AC}"/>
          </ac:graphicFrameMkLst>
        </pc:graphicFrameChg>
        <pc:graphicFrameChg chg="mod modGraphic">
          <ac:chgData name="Rafael Dos Santos De Almeida" userId="7215804a-e06a-42f5-8ddd-df41c410ddf3" providerId="ADAL" clId="{8280FB3A-C1F5-40B0-8625-78C4C29EEC61}" dt="2026-08-21T21:42:54.457" v="226" actId="20577"/>
          <ac:graphicFrameMkLst>
            <pc:docMk/>
            <pc:sldMk cId="3690776620" sldId="4113"/>
            <ac:graphicFrameMk id="20" creationId="{7ADA6EEC-4556-45A5-A438-BC8874A2C37B}"/>
          </ac:graphicFrameMkLst>
        </pc:graphicFrameChg>
      </pc:sldChg>
      <pc:sldChg chg="modSp mod">
        <pc:chgData name="Rafael Dos Santos De Almeida" userId="7215804a-e06a-42f5-8ddd-df41c410ddf3" providerId="ADAL" clId="{8280FB3A-C1F5-40B0-8625-78C4C29EEC61}" dt="2026-08-21T21:59:43.685" v="448" actId="20577"/>
        <pc:sldMkLst>
          <pc:docMk/>
          <pc:sldMk cId="3161308439" sldId="2147483468"/>
        </pc:sldMkLst>
        <pc:spChg chg="mod">
          <ac:chgData name="Rafael Dos Santos De Almeida" userId="7215804a-e06a-42f5-8ddd-df41c410ddf3" providerId="ADAL" clId="{8280FB3A-C1F5-40B0-8625-78C4C29EEC61}" dt="2026-08-21T21:58:20.721" v="395"/>
          <ac:spMkLst>
            <pc:docMk/>
            <pc:sldMk cId="3161308439" sldId="2147483468"/>
            <ac:spMk id="11" creationId="{0909058C-6561-0720-BD51-46BE733F684F}"/>
          </ac:spMkLst>
        </pc:spChg>
        <pc:spChg chg="mod">
          <ac:chgData name="Rafael Dos Santos De Almeida" userId="7215804a-e06a-42f5-8ddd-df41c410ddf3" providerId="ADAL" clId="{8280FB3A-C1F5-40B0-8625-78C4C29EEC61}" dt="2026-08-21T21:59:43.685" v="448" actId="20577"/>
          <ac:spMkLst>
            <pc:docMk/>
            <pc:sldMk cId="3161308439" sldId="2147483468"/>
            <ac:spMk id="22" creationId="{C5DAF829-ED23-17E0-AC0F-8A0281BC8C6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F67937-71EE-2E40-8930-C43612F7F1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ECB0E328-65A8-6B4F-9EF6-C5128DED21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BD4108-5533-5540-8846-3092E2C7CF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625F66B-C815-8849-811C-F1A4AB94F66D}" type="slidenum">
              <a:rPr lang="en-US" smtClean="0"/>
              <a:t>‹#›</a:t>
            </a:fld>
            <a:endParaRPr lang="en-US"/>
          </a:p>
        </p:txBody>
      </p:sp>
    </p:spTree>
    <p:extLst>
      <p:ext uri="{BB962C8B-B14F-4D97-AF65-F5344CB8AC3E}">
        <p14:creationId xmlns:p14="http://schemas.microsoft.com/office/powerpoint/2010/main" val="189391021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323134-CEB1-9C43-B6DE-74B10BFB1C0A}"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17A60-5211-564C-AE51-C5EE6D827C53}" type="slidenum">
              <a:rPr lang="en-US" smtClean="0"/>
              <a:t>‹#›</a:t>
            </a:fld>
            <a:endParaRPr lang="en-US"/>
          </a:p>
        </p:txBody>
      </p:sp>
    </p:spTree>
    <p:extLst>
      <p:ext uri="{BB962C8B-B14F-4D97-AF65-F5344CB8AC3E}">
        <p14:creationId xmlns:p14="http://schemas.microsoft.com/office/powerpoint/2010/main" val="185271736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759650-762C-9343-8990-0901C80FC791}" type="slidenum">
              <a:rPr kumimoji="0" lang="en-US" sz="1200" b="0" i="0" u="none" strike="noStrike" kern="1200" cap="none" spc="0" normalizeH="0" baseline="0" noProof="0" smtClean="0">
                <a:ln>
                  <a:noFill/>
                </a:ln>
                <a:solidFill>
                  <a:prstClr val="black"/>
                </a:solidFill>
                <a:effectLst/>
                <a:uLnTx/>
                <a:uFillTx/>
                <a:latin typeface="Arial"/>
                <a:ea typeface="ＭＳ Ｐゴシック"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a:ea typeface="ＭＳ Ｐゴシック" charset="0"/>
            </a:endParaRPr>
          </a:p>
        </p:txBody>
      </p:sp>
    </p:spTree>
    <p:extLst>
      <p:ext uri="{BB962C8B-B14F-4D97-AF65-F5344CB8AC3E}">
        <p14:creationId xmlns:p14="http://schemas.microsoft.com/office/powerpoint/2010/main" val="644543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Files and applications that may stop to work after the migrations should be fixed by Customer | (</a:t>
            </a:r>
            <a:r>
              <a:rPr lang="en-US" err="1"/>
              <a:t>HyperCare</a:t>
            </a:r>
            <a:r>
              <a:rPr lang="en-US"/>
              <a:t> team). (Assumption and Dependency  | Risk and mitigate)</a:t>
            </a:r>
          </a:p>
          <a:p>
            <a:endParaRPr lang="en-US"/>
          </a:p>
          <a:p>
            <a:r>
              <a:rPr lang="en-US"/>
              <a:t>After each migration wave any fail will be supported by Hypercare team. Files failed in one wave will be on next waves. (In Scope | Out of Scope)</a:t>
            </a:r>
          </a:p>
          <a:p>
            <a:endParaRPr lang="en-US"/>
          </a:p>
          <a:p>
            <a:r>
              <a:rPr lang="en-US"/>
              <a:t>The migration time is based on a 12GB/h sustained transfer rate that may reduce in accordance with files sizes and Egnyte transfer rate. The effective migration time will be verified by project team during assessment and planning </a:t>
            </a:r>
            <a:r>
              <a:rPr lang="en-US" err="1"/>
              <a:t>fases</a:t>
            </a:r>
            <a:r>
              <a:rPr lang="en-US"/>
              <a:t>. (Assumption and Dependency | Risk mitigate)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Como </a:t>
            </a:r>
            <a:r>
              <a:rPr lang="en-US" err="1"/>
              <a:t>será</a:t>
            </a:r>
            <a:r>
              <a:rPr lang="en-US"/>
              <a:t> o </a:t>
            </a:r>
            <a:r>
              <a:rPr lang="en-US" err="1"/>
              <a:t>processo</a:t>
            </a:r>
            <a:r>
              <a:rPr lang="en-US"/>
              <a:t> de </a:t>
            </a:r>
            <a:r>
              <a:rPr lang="en-US" err="1"/>
              <a:t>validação</a:t>
            </a:r>
            <a:r>
              <a:rPr lang="en-US"/>
              <a:t> de </a:t>
            </a:r>
            <a:r>
              <a:rPr lang="en-US" err="1"/>
              <a:t>cada</a:t>
            </a:r>
            <a:r>
              <a:rPr lang="en-US"/>
              <a:t> </a:t>
            </a:r>
            <a:r>
              <a:rPr lang="en-US" err="1"/>
              <a:t>onda</a:t>
            </a:r>
            <a:r>
              <a:rPr lang="en-US"/>
              <a:t>?</a:t>
            </a:r>
          </a:p>
          <a:p>
            <a:endParaRPr lang="en-US"/>
          </a:p>
          <a:p>
            <a:endParaRPr lang="en-US"/>
          </a:p>
        </p:txBody>
      </p:sp>
    </p:spTree>
    <p:extLst>
      <p:ext uri="{BB962C8B-B14F-4D97-AF65-F5344CB8AC3E}">
        <p14:creationId xmlns:p14="http://schemas.microsoft.com/office/powerpoint/2010/main" val="642128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a:ln>
                  <a:noFill/>
                </a:ln>
                <a:solidFill>
                  <a:srgbClr val="000000"/>
                </a:solidFill>
                <a:effectLst/>
                <a:uLnTx/>
                <a:uFillTx/>
                <a:latin typeface="Segoe UI"/>
                <a:ea typeface="+mn-ea"/>
                <a:cs typeface="+mn-cs"/>
              </a:rPr>
              <a:t>Slide Purpose</a:t>
            </a:r>
            <a:r>
              <a:rPr kumimoji="0" lang="en-GB" sz="1200" b="0" i="0" u="none" strike="noStrike" kern="1200" cap="none" spc="0" normalizeH="0" baseline="0" noProof="0">
                <a:ln>
                  <a:noFill/>
                </a:ln>
                <a:solidFill>
                  <a:srgbClr val="000000"/>
                </a:solidFill>
                <a:effectLst/>
                <a:uLnTx/>
                <a:uFillTx/>
                <a:latin typeface="Segoe UI"/>
                <a:ea typeface="+mn-ea"/>
                <a:cs typeface="+mn-cs"/>
              </a:rPr>
              <a:t>:  Provides for a representation of Avanade’s understanding of the organisation structure</a:t>
            </a:r>
            <a:r>
              <a:rPr kumimoji="0" lang="en-GB" sz="1200" b="0" i="0" u="none" strike="noStrike" kern="1200" cap="none" spc="0" normalizeH="0" baseline="0" noProof="0">
                <a:ln>
                  <a:noFill/>
                </a:ln>
                <a:solidFill>
                  <a:srgbClr val="000000"/>
                </a:solidFill>
                <a:effectLst/>
                <a:uLnTx/>
                <a:uFillTx/>
                <a:latin typeface="Calibri"/>
                <a:ea typeface="+mn-ea"/>
                <a:cs typeface="+mn-cs"/>
              </a:rPr>
              <a:t>. The project organization chart does not need to include every role to be staffed, just the core roles. </a:t>
            </a:r>
            <a:endParaRPr kumimoji="0" lang="en-GB"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1200" cap="none" spc="0" normalizeH="0" baseline="0" noProof="0">
                <a:ln>
                  <a:noFill/>
                </a:ln>
                <a:solidFill>
                  <a:srgbClr val="000000"/>
                </a:solidFill>
                <a:effectLst/>
                <a:uLnTx/>
                <a:uFillTx/>
                <a:latin typeface="Segoe UI"/>
                <a:ea typeface="+mn-ea"/>
                <a:cs typeface="+mn-cs"/>
              </a:rPr>
              <a:t>Instructions</a:t>
            </a:r>
            <a:r>
              <a:rPr kumimoji="0" lang="en-GB" sz="1200" b="0" i="0" u="none" strike="noStrike" kern="1200" cap="none" spc="0" normalizeH="0" baseline="0" noProof="0">
                <a:ln>
                  <a:noFill/>
                </a:ln>
                <a:solidFill>
                  <a:srgbClr val="000000"/>
                </a:solidFill>
                <a:effectLst/>
                <a:uLnTx/>
                <a:uFillTx/>
                <a:latin typeface="Segoe UI"/>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Adjust the organisation chart as appropriate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If ATC is involved, make sure the governance between onshore and offshore are shown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000000"/>
                </a:solidFill>
                <a:effectLst/>
                <a:uLnTx/>
                <a:uFillTx/>
                <a:latin typeface="Segoe UI"/>
                <a:ea typeface="+mn-ea"/>
                <a:cs typeface="+mn-cs"/>
              </a:rPr>
              <a:t>Ensure any Avanade roles represented are aligned with the ‘Estimation Basis’ slide in the main deck</a:t>
            </a:r>
          </a:p>
          <a:p>
            <a:endParaRPr lang="en-GB"/>
          </a:p>
        </p:txBody>
      </p:sp>
    </p:spTree>
    <p:extLst>
      <p:ext uri="{BB962C8B-B14F-4D97-AF65-F5344CB8AC3E}">
        <p14:creationId xmlns:p14="http://schemas.microsoft.com/office/powerpoint/2010/main" val="3308005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2E799-00EC-5E91-C5D8-64CAE317B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7ABAA-A1EC-C3F5-53D4-A28E04617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8C2FC-A541-4386-B706-EDA493CE2F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0" cap="none" spc="0" normalizeH="0" baseline="0" noProof="0">
                <a:ln>
                  <a:noFill/>
                </a:ln>
                <a:solidFill>
                  <a:srgbClr val="000000"/>
                </a:solidFill>
                <a:effectLst/>
                <a:uLnTx/>
                <a:uFillTx/>
                <a:latin typeface="Segoe UI"/>
                <a:ea typeface="+mn-ea"/>
                <a:cs typeface="+mn-cs"/>
              </a:rPr>
              <a:t>Slide Purpose</a:t>
            </a:r>
            <a:r>
              <a:rPr kumimoji="0" lang="en-GB" sz="1200" b="0" i="0" u="none" strike="noStrike" kern="0" cap="none" spc="0" normalizeH="0" baseline="0" noProof="0">
                <a:ln>
                  <a:noFill/>
                </a:ln>
                <a:solidFill>
                  <a:srgbClr val="000000"/>
                </a:solidFill>
                <a:effectLst/>
                <a:uLnTx/>
                <a:uFillTx/>
                <a:latin typeface="Segoe UI"/>
                <a:ea typeface="+mn-ea"/>
                <a:cs typeface="+mn-cs"/>
              </a:rPr>
              <a:t>:  Sets the basis of the solution scope of work estimated and what is not included in the solution.  Provides a summary of the solution outcomes or what the solution will deliver to the client.  </a:t>
            </a:r>
            <a:endParaRPr lang="en-GB"/>
          </a:p>
          <a:p>
            <a:pPr marL="0" marR="0" lvl="0" indent="0" algn="l" defTabSz="914400" rtl="0" eaLnBrk="1" fontAlgn="auto" latinLnBrk="0" hangingPunct="1">
              <a:lnSpc>
                <a:spcPct val="80000"/>
              </a:lnSpc>
              <a:spcBef>
                <a:spcPts val="0"/>
              </a:spcBef>
              <a:spcAft>
                <a:spcPts val="0"/>
              </a:spcAft>
              <a:buClr>
                <a:prstClr val="black"/>
              </a:buClr>
              <a:buSzTx/>
              <a:buFontTx/>
              <a:buNone/>
              <a:tabLst>
                <a:tab pos="2232025" algn="l"/>
              </a:tabLst>
              <a:defRPr/>
            </a:pPr>
            <a:endParaRPr lang="en-GB" b="1"/>
          </a:p>
          <a:p>
            <a:pPr marL="0" marR="0" lvl="0" indent="0" algn="l" defTabSz="914400" rtl="0" eaLnBrk="1" fontAlgn="auto" latinLnBrk="0" hangingPunct="1">
              <a:lnSpc>
                <a:spcPct val="80000"/>
              </a:lnSpc>
              <a:spcBef>
                <a:spcPts val="0"/>
              </a:spcBef>
              <a:spcAft>
                <a:spcPts val="0"/>
              </a:spcAft>
              <a:buClr>
                <a:prstClr val="black"/>
              </a:buClr>
              <a:buSzTx/>
              <a:buFontTx/>
              <a:buNone/>
              <a:tabLst>
                <a:tab pos="2232025" algn="l"/>
              </a:tabLst>
              <a:defRPr/>
            </a:pPr>
            <a:r>
              <a:rPr lang="en-GB" b="1"/>
              <a:t>In Scope: </a:t>
            </a:r>
            <a:r>
              <a:rPr lang="en-GB"/>
              <a:t> </a:t>
            </a:r>
            <a:r>
              <a:rPr lang="en-GB" sz="1600" kern="0">
                <a:solidFill>
                  <a:prstClr val="black"/>
                </a:solidFill>
                <a:latin typeface="Segoe UI"/>
                <a:cs typeface="Segoe UI"/>
              </a:rPr>
              <a:t>Summarize functional &amp; technical scope of the solution to be delivered by Avanade, for example:</a:t>
            </a:r>
          </a:p>
          <a:p>
            <a:pPr lvl="1">
              <a:lnSpc>
                <a:spcPct val="80000"/>
              </a:lnSpc>
              <a:buClr>
                <a:prstClr val="black"/>
              </a:buClr>
              <a:tabLst>
                <a:tab pos="2232025" algn="l"/>
              </a:tabLst>
              <a:defRPr/>
            </a:pPr>
            <a:r>
              <a:rPr lang="en-US" sz="1600" kern="0">
                <a:solidFill>
                  <a:prstClr val="black"/>
                </a:solidFill>
                <a:latin typeface="Segoe UI"/>
                <a:cs typeface="Segoe UI"/>
              </a:rPr>
              <a:t>Functional capabilities</a:t>
            </a:r>
          </a:p>
          <a:p>
            <a:pPr lvl="1">
              <a:lnSpc>
                <a:spcPct val="80000"/>
              </a:lnSpc>
              <a:buClr>
                <a:prstClr val="black"/>
              </a:buClr>
              <a:tabLst>
                <a:tab pos="2232025" algn="l"/>
              </a:tabLst>
              <a:defRPr/>
            </a:pPr>
            <a:r>
              <a:rPr lang="en-US" sz="1600" b="1" kern="0">
                <a:solidFill>
                  <a:prstClr val="black"/>
                </a:solidFill>
                <a:latin typeface="Segoe UI"/>
                <a:cs typeface="Segoe UI"/>
              </a:rPr>
              <a:t>Material Client ownership   </a:t>
            </a:r>
          </a:p>
          <a:p>
            <a:pPr lvl="1">
              <a:lnSpc>
                <a:spcPct val="80000"/>
              </a:lnSpc>
              <a:buClr>
                <a:prstClr val="black"/>
              </a:buClr>
              <a:tabLst>
                <a:tab pos="2232025" algn="l"/>
              </a:tabLst>
              <a:defRPr/>
            </a:pPr>
            <a:r>
              <a:rPr lang="en-US" sz="1600" kern="0">
                <a:solidFill>
                  <a:prstClr val="black"/>
                </a:solidFill>
                <a:latin typeface="Segoe UI"/>
                <a:cs typeface="Segoe UI"/>
              </a:rPr>
              <a:t>Processes</a:t>
            </a:r>
          </a:p>
          <a:p>
            <a:pPr lvl="1">
              <a:lnSpc>
                <a:spcPct val="80000"/>
              </a:lnSpc>
              <a:buClr>
                <a:prstClr val="black"/>
              </a:buClr>
              <a:tabLst>
                <a:tab pos="2232025" algn="l"/>
              </a:tabLst>
              <a:defRPr/>
            </a:pPr>
            <a:r>
              <a:rPr lang="en-US" sz="1600" kern="0">
                <a:solidFill>
                  <a:prstClr val="black"/>
                </a:solidFill>
                <a:latin typeface="Segoe UI"/>
                <a:cs typeface="Segoe UI"/>
              </a:rPr>
              <a:t>Environments </a:t>
            </a:r>
          </a:p>
          <a:p>
            <a:pPr lvl="1">
              <a:lnSpc>
                <a:spcPct val="80000"/>
              </a:lnSpc>
              <a:buClr>
                <a:prstClr val="black"/>
              </a:buClr>
              <a:tabLst>
                <a:tab pos="2232025" algn="l"/>
              </a:tabLst>
              <a:defRPr/>
            </a:pPr>
            <a:r>
              <a:rPr lang="en-US" sz="1600" kern="0">
                <a:solidFill>
                  <a:prstClr val="black"/>
                </a:solidFill>
                <a:latin typeface="Segoe UI"/>
                <a:cs typeface="Segoe UI"/>
              </a:rPr>
              <a:t>Technical interfaces</a:t>
            </a:r>
          </a:p>
          <a:p>
            <a:pPr lvl="1">
              <a:lnSpc>
                <a:spcPct val="80000"/>
              </a:lnSpc>
              <a:buClr>
                <a:prstClr val="black"/>
              </a:buClr>
              <a:tabLst>
                <a:tab pos="2232025" algn="l"/>
              </a:tabLst>
              <a:defRPr/>
            </a:pPr>
            <a:r>
              <a:rPr lang="en-US" sz="1600" kern="0">
                <a:solidFill>
                  <a:prstClr val="black"/>
                </a:solidFill>
                <a:latin typeface="Segoe UI"/>
                <a:cs typeface="Segoe UI"/>
              </a:rPr>
              <a:t>Key modules</a:t>
            </a:r>
          </a:p>
          <a:p>
            <a:pPr lvl="1">
              <a:lnSpc>
                <a:spcPct val="80000"/>
              </a:lnSpc>
              <a:buClr>
                <a:prstClr val="black"/>
              </a:buClr>
              <a:tabLst>
                <a:tab pos="2232025" algn="l"/>
              </a:tabLst>
              <a:defRPr/>
            </a:pPr>
            <a:r>
              <a:rPr lang="en-US" sz="1600" kern="0">
                <a:solidFill>
                  <a:prstClr val="black"/>
                </a:solidFill>
                <a:latin typeface="Segoe UI"/>
                <a:cs typeface="Segoe UI"/>
              </a:rPr>
              <a:t>Third party solutions</a:t>
            </a:r>
          </a:p>
          <a:p>
            <a:pPr lvl="1">
              <a:lnSpc>
                <a:spcPct val="80000"/>
              </a:lnSpc>
              <a:buClr>
                <a:prstClr val="black"/>
              </a:buClr>
              <a:tabLst>
                <a:tab pos="2232025" algn="l"/>
              </a:tabLst>
              <a:defRPr/>
            </a:pPr>
            <a:r>
              <a:rPr lang="en-US" sz="1600" kern="0">
                <a:solidFill>
                  <a:prstClr val="black"/>
                </a:solidFill>
                <a:latin typeface="Segoe UI"/>
                <a:cs typeface="Segoe UI"/>
              </a:rPr>
              <a:t>Geographic </a:t>
            </a:r>
            <a:endParaRPr lang="en-GB" sz="1600" kern="0">
              <a:solidFill>
                <a:prstClr val="black"/>
              </a:solidFill>
              <a:latin typeface="Segoe UI"/>
              <a:cs typeface="Segoe UI"/>
            </a:endParaRPr>
          </a:p>
          <a:p>
            <a:pPr lvl="1">
              <a:lnSpc>
                <a:spcPct val="80000"/>
              </a:lnSpc>
              <a:buClr>
                <a:prstClr val="black"/>
              </a:buClr>
              <a:tabLst>
                <a:tab pos="2232025" algn="l"/>
              </a:tabLst>
              <a:defRPr/>
            </a:pPr>
            <a:r>
              <a:rPr lang="en-GB" sz="1600" kern="0">
                <a:solidFill>
                  <a:prstClr val="black"/>
                </a:solidFill>
                <a:latin typeface="Segoe UI"/>
                <a:cs typeface="Segoe UI"/>
              </a:rPr>
              <a:t>Other options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a:p>
          <a:p>
            <a:pPr marL="0" marR="0" lvl="0" indent="0" algn="l" defTabSz="914400" rtl="0" eaLnBrk="1" fontAlgn="auto" latinLnBrk="0" hangingPunct="1">
              <a:lnSpc>
                <a:spcPct val="100000"/>
              </a:lnSpc>
              <a:spcBef>
                <a:spcPts val="0"/>
              </a:spcBef>
              <a:spcAft>
                <a:spcPts val="0"/>
              </a:spcAft>
              <a:buClrTx/>
              <a:buSzTx/>
              <a:buFontTx/>
              <a:buNone/>
              <a:tabLst/>
              <a:defRPr/>
            </a:pPr>
            <a:r>
              <a:rPr lang="en-GB" b="1"/>
              <a:t>Out of Scope:</a:t>
            </a:r>
            <a:r>
              <a:rPr lang="en-GB"/>
              <a:t> </a:t>
            </a:r>
            <a:r>
              <a:rPr lang="en-GB" sz="1200" kern="0">
                <a:solidFill>
                  <a:prstClr val="black"/>
                </a:solidFill>
                <a:latin typeface="Segoe UI"/>
                <a:cs typeface="Segoe UI"/>
              </a:rPr>
              <a:t>Summarize key areas outside of Avanade’s scope of work that might ordinarily be within the scope of the solution delivered, including whether they are covered through Client obligations or are entirely outside of the scope of the Client program</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b="1"/>
              <a:t>Solution Outcomes: </a:t>
            </a:r>
            <a:r>
              <a:rPr lang="en-GB"/>
              <a:t>  </a:t>
            </a:r>
            <a:r>
              <a:rPr lang="en-US" sz="1200" kern="0">
                <a:solidFill>
                  <a:prstClr val="black"/>
                </a:solidFill>
                <a:latin typeface="Segoe UI"/>
                <a:cs typeface="Segoe UI"/>
              </a:rPr>
              <a:t>Provide a list of key outcomes that will be delivered when the scope items have been completed be that infrastructure, applications, software, reports, etc. – what will the solution deliver.</a:t>
            </a:r>
            <a:endParaRPr lang="en-US">
              <a:solidFill>
                <a:prstClr val="black"/>
              </a:solidFill>
              <a:latin typeface="Segoe UI"/>
              <a:cs typeface="Segoe UI"/>
            </a:endParaRPr>
          </a:p>
          <a:p>
            <a:endParaRPr lang="en-GB"/>
          </a:p>
        </p:txBody>
      </p:sp>
    </p:spTree>
    <p:extLst>
      <p:ext uri="{BB962C8B-B14F-4D97-AF65-F5344CB8AC3E}">
        <p14:creationId xmlns:p14="http://schemas.microsoft.com/office/powerpoint/2010/main" val="9899545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B99BE-3CD9-CB58-FE34-3893C82DDC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BC872-F395-55CF-4920-BEC7F065D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7D2C2-0B0C-C060-4802-946A3BCB209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sng" strike="noStrike" kern="0" cap="none" spc="0" normalizeH="0" baseline="0" noProof="0">
                <a:ln>
                  <a:noFill/>
                </a:ln>
                <a:solidFill>
                  <a:srgbClr val="000000"/>
                </a:solidFill>
                <a:effectLst/>
                <a:uLnTx/>
                <a:uFillTx/>
                <a:latin typeface="Segoe UI"/>
                <a:ea typeface="+mn-ea"/>
                <a:cs typeface="+mn-cs"/>
              </a:rPr>
              <a:t>Slide Purpose</a:t>
            </a:r>
            <a:r>
              <a:rPr kumimoji="0" lang="en-GB" sz="1200" b="0" i="0" u="none" strike="noStrike" kern="0" cap="none" spc="0" normalizeH="0" baseline="0" noProof="0">
                <a:ln>
                  <a:noFill/>
                </a:ln>
                <a:solidFill>
                  <a:srgbClr val="000000"/>
                </a:solidFill>
                <a:effectLst/>
                <a:uLnTx/>
                <a:uFillTx/>
                <a:latin typeface="Segoe UI"/>
                <a:ea typeface="+mn-ea"/>
                <a:cs typeface="+mn-cs"/>
              </a:rPr>
              <a:t>:  Sets the basis of the solution scope of work estimated and what is not included in the solution.  Provides a summary of the solution outcomes or what the solution will deliver to the client.  </a:t>
            </a:r>
            <a:endParaRPr lang="en-GB"/>
          </a:p>
          <a:p>
            <a:pPr marL="0" marR="0" lvl="0" indent="0" algn="l" defTabSz="914400" rtl="0" eaLnBrk="1" fontAlgn="auto" latinLnBrk="0" hangingPunct="1">
              <a:lnSpc>
                <a:spcPct val="80000"/>
              </a:lnSpc>
              <a:spcBef>
                <a:spcPts val="0"/>
              </a:spcBef>
              <a:spcAft>
                <a:spcPts val="0"/>
              </a:spcAft>
              <a:buClr>
                <a:prstClr val="black"/>
              </a:buClr>
              <a:buSzTx/>
              <a:buFontTx/>
              <a:buNone/>
              <a:tabLst>
                <a:tab pos="2232025" algn="l"/>
              </a:tabLst>
              <a:defRPr/>
            </a:pPr>
            <a:endParaRPr lang="en-GB" b="1"/>
          </a:p>
          <a:p>
            <a:pPr marL="0" marR="0" lvl="0" indent="0" algn="l" defTabSz="914400" rtl="0" eaLnBrk="1" fontAlgn="auto" latinLnBrk="0" hangingPunct="1">
              <a:lnSpc>
                <a:spcPct val="80000"/>
              </a:lnSpc>
              <a:spcBef>
                <a:spcPts val="0"/>
              </a:spcBef>
              <a:spcAft>
                <a:spcPts val="0"/>
              </a:spcAft>
              <a:buClr>
                <a:prstClr val="black"/>
              </a:buClr>
              <a:buSzTx/>
              <a:buFontTx/>
              <a:buNone/>
              <a:tabLst>
                <a:tab pos="2232025" algn="l"/>
              </a:tabLst>
              <a:defRPr/>
            </a:pPr>
            <a:r>
              <a:rPr lang="en-GB" b="1"/>
              <a:t>In Scope: </a:t>
            </a:r>
            <a:r>
              <a:rPr lang="en-GB"/>
              <a:t> </a:t>
            </a:r>
            <a:r>
              <a:rPr lang="en-GB" sz="1600" kern="0">
                <a:solidFill>
                  <a:prstClr val="black"/>
                </a:solidFill>
                <a:latin typeface="Segoe UI"/>
                <a:cs typeface="Segoe UI"/>
              </a:rPr>
              <a:t>Summarize functional &amp; technical scope of the solution to be delivered by Avanade, for example:</a:t>
            </a:r>
          </a:p>
          <a:p>
            <a:pPr lvl="1">
              <a:lnSpc>
                <a:spcPct val="80000"/>
              </a:lnSpc>
              <a:buClr>
                <a:prstClr val="black"/>
              </a:buClr>
              <a:tabLst>
                <a:tab pos="2232025" algn="l"/>
              </a:tabLst>
              <a:defRPr/>
            </a:pPr>
            <a:r>
              <a:rPr lang="en-US" sz="1600" kern="0">
                <a:solidFill>
                  <a:prstClr val="black"/>
                </a:solidFill>
                <a:latin typeface="Segoe UI"/>
                <a:cs typeface="Segoe UI"/>
              </a:rPr>
              <a:t>Functional capabilities</a:t>
            </a:r>
          </a:p>
          <a:p>
            <a:pPr lvl="1">
              <a:lnSpc>
                <a:spcPct val="80000"/>
              </a:lnSpc>
              <a:buClr>
                <a:prstClr val="black"/>
              </a:buClr>
              <a:tabLst>
                <a:tab pos="2232025" algn="l"/>
              </a:tabLst>
              <a:defRPr/>
            </a:pPr>
            <a:r>
              <a:rPr lang="en-US" sz="1600" b="1" kern="0">
                <a:solidFill>
                  <a:prstClr val="black"/>
                </a:solidFill>
                <a:latin typeface="Segoe UI"/>
                <a:cs typeface="Segoe UI"/>
              </a:rPr>
              <a:t>Material Client ownership   </a:t>
            </a:r>
          </a:p>
          <a:p>
            <a:pPr lvl="1">
              <a:lnSpc>
                <a:spcPct val="80000"/>
              </a:lnSpc>
              <a:buClr>
                <a:prstClr val="black"/>
              </a:buClr>
              <a:tabLst>
                <a:tab pos="2232025" algn="l"/>
              </a:tabLst>
              <a:defRPr/>
            </a:pPr>
            <a:r>
              <a:rPr lang="en-US" sz="1600" kern="0">
                <a:solidFill>
                  <a:prstClr val="black"/>
                </a:solidFill>
                <a:latin typeface="Segoe UI"/>
                <a:cs typeface="Segoe UI"/>
              </a:rPr>
              <a:t>Processes</a:t>
            </a:r>
          </a:p>
          <a:p>
            <a:pPr lvl="1">
              <a:lnSpc>
                <a:spcPct val="80000"/>
              </a:lnSpc>
              <a:buClr>
                <a:prstClr val="black"/>
              </a:buClr>
              <a:tabLst>
                <a:tab pos="2232025" algn="l"/>
              </a:tabLst>
              <a:defRPr/>
            </a:pPr>
            <a:r>
              <a:rPr lang="en-US" sz="1600" kern="0">
                <a:solidFill>
                  <a:prstClr val="black"/>
                </a:solidFill>
                <a:latin typeface="Segoe UI"/>
                <a:cs typeface="Segoe UI"/>
              </a:rPr>
              <a:t>Environments </a:t>
            </a:r>
          </a:p>
          <a:p>
            <a:pPr lvl="1">
              <a:lnSpc>
                <a:spcPct val="80000"/>
              </a:lnSpc>
              <a:buClr>
                <a:prstClr val="black"/>
              </a:buClr>
              <a:tabLst>
                <a:tab pos="2232025" algn="l"/>
              </a:tabLst>
              <a:defRPr/>
            </a:pPr>
            <a:r>
              <a:rPr lang="en-US" sz="1600" kern="0">
                <a:solidFill>
                  <a:prstClr val="black"/>
                </a:solidFill>
                <a:latin typeface="Segoe UI"/>
                <a:cs typeface="Segoe UI"/>
              </a:rPr>
              <a:t>Technical interfaces</a:t>
            </a:r>
          </a:p>
          <a:p>
            <a:pPr lvl="1">
              <a:lnSpc>
                <a:spcPct val="80000"/>
              </a:lnSpc>
              <a:buClr>
                <a:prstClr val="black"/>
              </a:buClr>
              <a:tabLst>
                <a:tab pos="2232025" algn="l"/>
              </a:tabLst>
              <a:defRPr/>
            </a:pPr>
            <a:r>
              <a:rPr lang="en-US" sz="1600" kern="0">
                <a:solidFill>
                  <a:prstClr val="black"/>
                </a:solidFill>
                <a:latin typeface="Segoe UI"/>
                <a:cs typeface="Segoe UI"/>
              </a:rPr>
              <a:t>Key modules</a:t>
            </a:r>
          </a:p>
          <a:p>
            <a:pPr lvl="1">
              <a:lnSpc>
                <a:spcPct val="80000"/>
              </a:lnSpc>
              <a:buClr>
                <a:prstClr val="black"/>
              </a:buClr>
              <a:tabLst>
                <a:tab pos="2232025" algn="l"/>
              </a:tabLst>
              <a:defRPr/>
            </a:pPr>
            <a:r>
              <a:rPr lang="en-US" sz="1600" kern="0">
                <a:solidFill>
                  <a:prstClr val="black"/>
                </a:solidFill>
                <a:latin typeface="Segoe UI"/>
                <a:cs typeface="Segoe UI"/>
              </a:rPr>
              <a:t>Third party solutions</a:t>
            </a:r>
          </a:p>
          <a:p>
            <a:pPr lvl="1">
              <a:lnSpc>
                <a:spcPct val="80000"/>
              </a:lnSpc>
              <a:buClr>
                <a:prstClr val="black"/>
              </a:buClr>
              <a:tabLst>
                <a:tab pos="2232025" algn="l"/>
              </a:tabLst>
              <a:defRPr/>
            </a:pPr>
            <a:r>
              <a:rPr lang="en-US" sz="1600" kern="0">
                <a:solidFill>
                  <a:prstClr val="black"/>
                </a:solidFill>
                <a:latin typeface="Segoe UI"/>
                <a:cs typeface="Segoe UI"/>
              </a:rPr>
              <a:t>Geographic </a:t>
            </a:r>
            <a:endParaRPr lang="en-GB" sz="1600" kern="0">
              <a:solidFill>
                <a:prstClr val="black"/>
              </a:solidFill>
              <a:latin typeface="Segoe UI"/>
              <a:cs typeface="Segoe UI"/>
            </a:endParaRPr>
          </a:p>
          <a:p>
            <a:pPr lvl="1">
              <a:lnSpc>
                <a:spcPct val="80000"/>
              </a:lnSpc>
              <a:buClr>
                <a:prstClr val="black"/>
              </a:buClr>
              <a:tabLst>
                <a:tab pos="2232025" algn="l"/>
              </a:tabLst>
              <a:defRPr/>
            </a:pPr>
            <a:r>
              <a:rPr lang="en-GB" sz="1600" kern="0">
                <a:solidFill>
                  <a:prstClr val="black"/>
                </a:solidFill>
                <a:latin typeface="Segoe UI"/>
                <a:cs typeface="Segoe UI"/>
              </a:rPr>
              <a:t>Other options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a:p>
          <a:p>
            <a:pPr marL="0" marR="0" lvl="0" indent="0" algn="l" defTabSz="914400" rtl="0" eaLnBrk="1" fontAlgn="auto" latinLnBrk="0" hangingPunct="1">
              <a:lnSpc>
                <a:spcPct val="100000"/>
              </a:lnSpc>
              <a:spcBef>
                <a:spcPts val="0"/>
              </a:spcBef>
              <a:spcAft>
                <a:spcPts val="0"/>
              </a:spcAft>
              <a:buClrTx/>
              <a:buSzTx/>
              <a:buFontTx/>
              <a:buNone/>
              <a:tabLst/>
              <a:defRPr/>
            </a:pPr>
            <a:r>
              <a:rPr lang="en-GB" b="1"/>
              <a:t>Out of Scope:</a:t>
            </a:r>
            <a:r>
              <a:rPr lang="en-GB"/>
              <a:t> </a:t>
            </a:r>
            <a:r>
              <a:rPr lang="en-GB" sz="1200" kern="0">
                <a:solidFill>
                  <a:prstClr val="black"/>
                </a:solidFill>
                <a:latin typeface="Segoe UI"/>
                <a:cs typeface="Segoe UI"/>
              </a:rPr>
              <a:t>Summarize key areas outside of Avanade’s scope of work that might ordinarily be within the scope of the solution delivered, including whether they are covered through Client obligations or are entirely outside of the scope of the Client program</a:t>
            </a:r>
          </a:p>
          <a:p>
            <a:endParaRPr lang="en-GB"/>
          </a:p>
          <a:p>
            <a:pPr marL="0" marR="0" lvl="0" indent="0" algn="l" defTabSz="914400" rtl="0" eaLnBrk="1" fontAlgn="auto" latinLnBrk="0" hangingPunct="1">
              <a:lnSpc>
                <a:spcPct val="100000"/>
              </a:lnSpc>
              <a:spcBef>
                <a:spcPts val="0"/>
              </a:spcBef>
              <a:spcAft>
                <a:spcPts val="0"/>
              </a:spcAft>
              <a:buClrTx/>
              <a:buSzTx/>
              <a:buFontTx/>
              <a:buNone/>
              <a:tabLst/>
              <a:defRPr/>
            </a:pPr>
            <a:r>
              <a:rPr lang="en-GB" b="1"/>
              <a:t>Solution Outcomes: </a:t>
            </a:r>
            <a:r>
              <a:rPr lang="en-GB"/>
              <a:t>  </a:t>
            </a:r>
            <a:r>
              <a:rPr lang="en-US" sz="1200" kern="0">
                <a:solidFill>
                  <a:prstClr val="black"/>
                </a:solidFill>
                <a:latin typeface="Segoe UI"/>
                <a:cs typeface="Segoe UI"/>
              </a:rPr>
              <a:t>Provide a list of key outcomes that will be delivered when the scope items have been completed be that infrastructure, applications, software, reports, etc. – what will the solution deliver.</a:t>
            </a:r>
            <a:endParaRPr lang="en-US">
              <a:solidFill>
                <a:prstClr val="black"/>
              </a:solidFill>
              <a:latin typeface="Segoe UI"/>
              <a:cs typeface="Segoe UI"/>
            </a:endParaRPr>
          </a:p>
          <a:p>
            <a:endParaRPr lang="en-GB"/>
          </a:p>
        </p:txBody>
      </p:sp>
    </p:spTree>
    <p:extLst>
      <p:ext uri="{BB962C8B-B14F-4D97-AF65-F5344CB8AC3E}">
        <p14:creationId xmlns:p14="http://schemas.microsoft.com/office/powerpoint/2010/main" val="2546399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idx="1"/>
          </p:nvPr>
        </p:nvSpPr>
        <p:spPr>
          <a:xfrm>
            <a:off x="691375" y="1718912"/>
            <a:ext cx="10783229" cy="4351338"/>
          </a:xfrm>
          <a:prstGeom prst="rect">
            <a:avLst/>
          </a:prstGeom>
        </p:spPr>
        <p:txBody>
          <a:bodyPr vert="horz" lIns="91440" tIns="45720" rIns="91440" bIns="45720" rtlCol="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a:xfrm>
            <a:off x="691376" y="390719"/>
            <a:ext cx="10783229" cy="998344"/>
          </a:xfrm>
          <a:prstGeom prst="rect">
            <a:avLst/>
          </a:prstGeom>
        </p:spPr>
        <p:txBody>
          <a:bodyPr/>
          <a:lstStyle>
            <a:lvl1pPr>
              <a:defRPr>
                <a:solidFill>
                  <a:schemeClr val="tx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47F2C7DF-21F8-7F43-AF2B-D19C00A05ECA}"/>
              </a:ext>
            </a:extLst>
          </p:cNvPr>
          <p:cNvSpPr>
            <a:spLocks noGrp="1"/>
          </p:cNvSpPr>
          <p:nvPr>
            <p:ph type="sldNum" sz="quarter" idx="10"/>
          </p:nvPr>
        </p:nvSpPr>
        <p:spPr>
          <a:xfrm>
            <a:off x="11255189" y="6400099"/>
            <a:ext cx="438831" cy="365125"/>
          </a:xfrm>
          <a:prstGeom prst="rect">
            <a:avLst/>
          </a:prstGeom>
        </p:spPr>
        <p:txBody>
          <a:bodyPr/>
          <a:lstStyle>
            <a:lvl1pPr>
              <a:defRPr sz="1400">
                <a:solidFill>
                  <a:schemeClr val="tx1"/>
                </a:solidFill>
              </a:defRPr>
            </a:lvl1pPr>
          </a:lstStyle>
          <a:p>
            <a:fld id="{0EE23A24-5E29-4F5A-B780-9568AE9A51DD}" type="slidenum">
              <a:rPr lang="en-US" smtClean="0"/>
              <a:pPr/>
              <a:t>‹#›</a:t>
            </a:fld>
            <a:endParaRPr lang="en-US"/>
          </a:p>
        </p:txBody>
      </p:sp>
    </p:spTree>
    <p:extLst>
      <p:ext uri="{BB962C8B-B14F-4D97-AF65-F5344CB8AC3E}">
        <p14:creationId xmlns:p14="http://schemas.microsoft.com/office/powerpoint/2010/main" val="368935036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Text Placeholder 2"/>
          <p:cNvSpPr>
            <a:spLocks noGrp="1"/>
          </p:cNvSpPr>
          <p:nvPr>
            <p:ph idx="1"/>
          </p:nvPr>
        </p:nvSpPr>
        <p:spPr>
          <a:xfrm>
            <a:off x="691376" y="1524000"/>
            <a:ext cx="10783229"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a:xfrm>
            <a:off x="691376" y="390719"/>
            <a:ext cx="10783229" cy="998344"/>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FB1F7665-5829-2740-8772-C6980D9DE7D0}"/>
              </a:ext>
            </a:extLst>
          </p:cNvPr>
          <p:cNvSpPr>
            <a:spLocks noGrp="1"/>
          </p:cNvSpPr>
          <p:nvPr>
            <p:ph type="sldNum" sz="quarter" idx="10"/>
          </p:nvPr>
        </p:nvSpPr>
        <p:spPr/>
        <p:txBody>
          <a:bodyPr/>
          <a:lstStyle/>
          <a:p>
            <a:fld id="{0EE23A24-5E29-4F5A-B780-9568AE9A51DD}" type="slidenum">
              <a:rPr lang="en-US" smtClean="0"/>
              <a:pPr/>
              <a:t>‹#›</a:t>
            </a:fld>
            <a:endParaRPr lang="en-US"/>
          </a:p>
        </p:txBody>
      </p:sp>
    </p:spTree>
    <p:extLst>
      <p:ext uri="{BB962C8B-B14F-4D97-AF65-F5344CB8AC3E}">
        <p14:creationId xmlns:p14="http://schemas.microsoft.com/office/powerpoint/2010/main" val="73686193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Only">
    <p:bg bwMode="ltGray">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8C0F1608-8C29-59FD-2083-7DA7A20953A8}"/>
              </a:ext>
            </a:extLst>
          </p:cNvPr>
          <p:cNvSpPr>
            <a:spLocks noGrp="1"/>
          </p:cNvSpPr>
          <p:nvPr>
            <p:ph type="title"/>
          </p:nvPr>
        </p:nvSpPr>
        <p:spPr>
          <a:xfrm>
            <a:off x="457888" y="457200"/>
            <a:ext cx="11200711" cy="987692"/>
          </a:xfrm>
          <a:prstGeom prst="rect">
            <a:avLst/>
          </a:prstGeom>
        </p:spPr>
        <p:txBody>
          <a:bodyPr vert="horz" lIns="91440" tIns="45720" rIns="91440" bIns="45720" rtlCol="0" anchor="t">
            <a:noAutofit/>
          </a:bodyPr>
          <a:lstStyle>
            <a:lvl1pPr>
              <a:lnSpc>
                <a:spcPct val="100000"/>
              </a:lnSpc>
              <a:spcBef>
                <a:spcPts val="0"/>
              </a:spcBef>
              <a:spcAft>
                <a:spcPts val="0"/>
              </a:spcAft>
              <a:defRPr sz="3200" b="1">
                <a:solidFill>
                  <a:schemeClr val="tx1"/>
                </a:solidFill>
                <a:latin typeface="Segoe UI" panose="020B0502040204020203" pitchFamily="34" charset="0"/>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22871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Default Cover">
    <p:bg>
      <p:bgPr>
        <a:gradFill flip="none" rotWithShape="1">
          <a:gsLst>
            <a:gs pos="0">
              <a:schemeClr val="accent4"/>
            </a:gs>
            <a:gs pos="100000">
              <a:schemeClr val="tx2"/>
            </a:gs>
          </a:gsLst>
          <a:lin ang="2700000" scaled="1"/>
          <a:tileRect/>
        </a:gradFill>
        <a:effectLst/>
      </p:bgPr>
    </p:bg>
    <p:spTree>
      <p:nvGrpSpPr>
        <p:cNvPr id="1" name=""/>
        <p:cNvGrpSpPr/>
        <p:nvPr/>
      </p:nvGrpSpPr>
      <p:grpSpPr>
        <a:xfrm>
          <a:off x="0" y="0"/>
          <a:ext cx="0" cy="0"/>
          <a:chOff x="0" y="0"/>
          <a:chExt cx="0" cy="0"/>
        </a:xfrm>
      </p:grpSpPr>
      <p:pic>
        <p:nvPicPr>
          <p:cNvPr id="6" name="Picture 5" descr="A colorful lines on a black background&#10;&#10;Description automatically generated">
            <a:extLst>
              <a:ext uri="{FF2B5EF4-FFF2-40B4-BE49-F238E27FC236}">
                <a16:creationId xmlns:a16="http://schemas.microsoft.com/office/drawing/2014/main" id="{ACFC54E7-DC56-0816-1B51-E42B362F07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 y="-490006"/>
            <a:ext cx="12192000" cy="7348006"/>
          </a:xfrm>
          <a:prstGeom prst="rect">
            <a:avLst/>
          </a:prstGeom>
        </p:spPr>
      </p:pic>
      <p:pic>
        <p:nvPicPr>
          <p:cNvPr id="4" name="Picture 3" descr="Logo&#10;&#10;Description automatically generated">
            <a:extLst>
              <a:ext uri="{FF2B5EF4-FFF2-40B4-BE49-F238E27FC236}">
                <a16:creationId xmlns:a16="http://schemas.microsoft.com/office/drawing/2014/main" id="{74EB15CB-DB97-7369-BE85-D7B3060325E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21691" y="203709"/>
            <a:ext cx="3289300" cy="1207171"/>
          </a:xfrm>
          <a:prstGeom prst="rect">
            <a:avLst/>
          </a:prstGeom>
        </p:spPr>
      </p:pic>
      <p:sp>
        <p:nvSpPr>
          <p:cNvPr id="7" name="Footer Placeholder 4">
            <a:extLst>
              <a:ext uri="{FF2B5EF4-FFF2-40B4-BE49-F238E27FC236}">
                <a16:creationId xmlns:a16="http://schemas.microsoft.com/office/drawing/2014/main" id="{B9043631-CA1F-72E1-FA33-47D6B7E96776}"/>
              </a:ext>
            </a:extLst>
          </p:cNvPr>
          <p:cNvSpPr txBox="1">
            <a:spLocks/>
          </p:cNvSpPr>
          <p:nvPr userDrawn="1"/>
        </p:nvSpPr>
        <p:spPr>
          <a:xfrm>
            <a:off x="7183073" y="6358387"/>
            <a:ext cx="4114800" cy="365125"/>
          </a:xfr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700" b="0">
                <a:solidFill>
                  <a:schemeClr val="bg1"/>
                </a:solidFill>
                <a:latin typeface="Segoe UI Semibold" panose="020B0502040204020203" pitchFamily="34" charset="0"/>
                <a:cs typeface="Segoe UI Semibold" panose="020B0502040204020203" pitchFamily="34" charset="0"/>
              </a:rPr>
              <a:t>©</a:t>
            </a:r>
            <a:fld id="{070B284F-70A1-4575-8A69-1E7D15DA9A5E}" type="datetimeyyyy">
              <a:rPr lang="en-US" sz="700" b="0" smtClean="0">
                <a:solidFill>
                  <a:schemeClr val="bg1"/>
                </a:solidFill>
                <a:latin typeface="Segoe UI Semibold" panose="020B0502040204020203" pitchFamily="34" charset="0"/>
                <a:cs typeface="Segoe UI Semibold" panose="020B0502040204020203" pitchFamily="34" charset="0"/>
              </a:rPr>
              <a:t>2026</a:t>
            </a:fld>
            <a:r>
              <a:rPr lang="en-US" sz="700" b="0">
                <a:solidFill>
                  <a:schemeClr val="bg1"/>
                </a:solidFill>
                <a:latin typeface="Segoe UI Semibold" panose="020B0502040204020203" pitchFamily="34" charset="0"/>
                <a:cs typeface="Segoe UI Semibold" panose="020B0502040204020203" pitchFamily="34" charset="0"/>
              </a:rPr>
              <a:t> Avanade Inc. All Rights Reserved.</a:t>
            </a:r>
          </a:p>
        </p:txBody>
      </p:sp>
      <p:sp>
        <p:nvSpPr>
          <p:cNvPr id="16" name="Title 7">
            <a:extLst>
              <a:ext uri="{FF2B5EF4-FFF2-40B4-BE49-F238E27FC236}">
                <a16:creationId xmlns:a16="http://schemas.microsoft.com/office/drawing/2014/main" id="{A4B2E99C-298D-718C-3E87-C7CDDD4666AA}"/>
              </a:ext>
            </a:extLst>
          </p:cNvPr>
          <p:cNvSpPr>
            <a:spLocks noGrp="1"/>
          </p:cNvSpPr>
          <p:nvPr>
            <p:ph type="title" hasCustomPrompt="1"/>
          </p:nvPr>
        </p:nvSpPr>
        <p:spPr>
          <a:xfrm>
            <a:off x="485539" y="3870006"/>
            <a:ext cx="6795051" cy="1527097"/>
          </a:xfrm>
          <a:prstGeom prst="rect">
            <a:avLst/>
          </a:prstGeom>
        </p:spPr>
        <p:txBody>
          <a:bodyPr anchor="ctr"/>
          <a:lstStyle>
            <a:lvl1pPr algn="l">
              <a:lnSpc>
                <a:spcPct val="80000"/>
              </a:lnSpc>
              <a:spcBef>
                <a:spcPts val="0"/>
              </a:spcBef>
              <a:spcAft>
                <a:spcPts val="0"/>
              </a:spcAft>
              <a:defRPr sz="5600" b="1" i="0">
                <a:solidFill>
                  <a:schemeClr val="bg1"/>
                </a:solidFill>
                <a:latin typeface="Segoe UI" panose="020B0502040204020203" pitchFamily="34" charset="0"/>
                <a:cs typeface="Segoe UI" panose="020B0502040204020203" pitchFamily="34" charset="0"/>
              </a:defRPr>
            </a:lvl1pPr>
          </a:lstStyle>
          <a:p>
            <a:r>
              <a:rPr lang="en-US" altLang="ja-JP"/>
              <a:t>Click to edit </a:t>
            </a:r>
            <a:br>
              <a:rPr lang="en-US" altLang="ja-JP"/>
            </a:br>
            <a:r>
              <a:rPr lang="en-US" altLang="ja-JP"/>
              <a:t>Master title style</a:t>
            </a:r>
            <a:endParaRPr lang="en-GB"/>
          </a:p>
        </p:txBody>
      </p:sp>
      <p:sp>
        <p:nvSpPr>
          <p:cNvPr id="17" name="Text Placeholder 9">
            <a:extLst>
              <a:ext uri="{FF2B5EF4-FFF2-40B4-BE49-F238E27FC236}">
                <a16:creationId xmlns:a16="http://schemas.microsoft.com/office/drawing/2014/main" id="{D2C48BD7-3C34-B08C-255C-79D84CBB100E}"/>
              </a:ext>
            </a:extLst>
          </p:cNvPr>
          <p:cNvSpPr>
            <a:spLocks noGrp="1"/>
          </p:cNvSpPr>
          <p:nvPr>
            <p:ph type="body" sz="quarter" idx="10" hasCustomPrompt="1"/>
          </p:nvPr>
        </p:nvSpPr>
        <p:spPr>
          <a:xfrm>
            <a:off x="485538" y="5476402"/>
            <a:ext cx="6795052" cy="547733"/>
          </a:xfrm>
          <a:prstGeom prst="rect">
            <a:avLst/>
          </a:prstGeom>
        </p:spPr>
        <p:txBody>
          <a:bodyPr anchor="ctr"/>
          <a:lstStyle>
            <a:lvl1pPr marL="0" indent="0" algn="l">
              <a:buNone/>
              <a:defRPr sz="2400" b="1" i="0">
                <a:solidFill>
                  <a:schemeClr val="bg1"/>
                </a:solidFill>
                <a:latin typeface="Segoe UI Semibold" panose="020B0502040204020203" pitchFamily="34" charset="0"/>
                <a:cs typeface="Segoe UI Semibold" panose="020B0502040204020203" pitchFamily="34" charset="0"/>
              </a:defRPr>
            </a:lvl1pPr>
          </a:lstStyle>
          <a:p>
            <a:pPr lvl="0"/>
            <a:r>
              <a:rPr lang="en-US"/>
              <a:t>Sub-title / Presenter Name</a:t>
            </a:r>
            <a:endParaRPr lang="en-GB"/>
          </a:p>
        </p:txBody>
      </p:sp>
      <p:pic>
        <p:nvPicPr>
          <p:cNvPr id="3" name="Graphic 2">
            <a:extLst>
              <a:ext uri="{FF2B5EF4-FFF2-40B4-BE49-F238E27FC236}">
                <a16:creationId xmlns:a16="http://schemas.microsoft.com/office/drawing/2014/main" id="{58C5AC77-1855-61A1-86D8-42A6577554F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9525000" y="807294"/>
            <a:ext cx="2109041" cy="204101"/>
          </a:xfrm>
          <a:prstGeom prst="rect">
            <a:avLst/>
          </a:prstGeom>
        </p:spPr>
      </p:pic>
    </p:spTree>
    <p:extLst>
      <p:ext uri="{BB962C8B-B14F-4D97-AF65-F5344CB8AC3E}">
        <p14:creationId xmlns:p14="http://schemas.microsoft.com/office/powerpoint/2010/main" val="182738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Logo">
    <p:spTree>
      <p:nvGrpSpPr>
        <p:cNvPr id="1" name=""/>
        <p:cNvGrpSpPr/>
        <p:nvPr/>
      </p:nvGrpSpPr>
      <p:grpSpPr>
        <a:xfrm>
          <a:off x="0" y="0"/>
          <a:ext cx="0" cy="0"/>
          <a:chOff x="0" y="0"/>
          <a:chExt cx="0" cy="0"/>
        </a:xfrm>
      </p:grpSpPr>
      <p:sp>
        <p:nvSpPr>
          <p:cNvPr id="6" name="Rectangle 5"/>
          <p:cNvSpPr txBox="1">
            <a:spLocks noChangeArrowheads="1"/>
          </p:cNvSpPr>
          <p:nvPr userDrawn="1"/>
        </p:nvSpPr>
        <p:spPr bwMode="auto">
          <a:xfrm>
            <a:off x="4731663" y="6600908"/>
            <a:ext cx="2486346" cy="165099"/>
          </a:xfrm>
          <a:prstGeom prst="rect">
            <a:avLst/>
          </a:prstGeom>
          <a:noFill/>
          <a:ln w="9525">
            <a:noFill/>
            <a:miter lim="800000"/>
            <a:headEnd/>
            <a:tailEnd/>
          </a:ln>
          <a:effectLst/>
        </p:spPr>
        <p:txBody>
          <a:bodyPr lIns="0" tIns="0" rIns="0" bIns="0" anchor="b"/>
          <a:lstStyle/>
          <a:p>
            <a:pPr algn="ctr">
              <a:lnSpc>
                <a:spcPct val="90000"/>
              </a:lnSpc>
              <a:spcAft>
                <a:spcPct val="30000"/>
              </a:spcAft>
            </a:pPr>
            <a:r>
              <a:rPr lang="en-US" sz="700">
                <a:solidFill>
                  <a:schemeClr val="bg1"/>
                </a:solidFill>
                <a:latin typeface="Segoe UI" panose="020B0502040204020203" pitchFamily="34" charset="0"/>
                <a:cs typeface="Segoe UI" panose="020B0502040204020203" pitchFamily="34" charset="0"/>
              </a:rPr>
              <a:t>©2017 Avanade Inc. All Rights Reserved.</a:t>
            </a:r>
          </a:p>
        </p:txBody>
      </p:sp>
      <p:sp>
        <p:nvSpPr>
          <p:cNvPr id="2" name="Slide Number Placeholder 1">
            <a:extLst>
              <a:ext uri="{FF2B5EF4-FFF2-40B4-BE49-F238E27FC236}">
                <a16:creationId xmlns:a16="http://schemas.microsoft.com/office/drawing/2014/main" id="{133E5817-89C8-45EE-8909-BD20E45F270F}"/>
              </a:ext>
            </a:extLst>
          </p:cNvPr>
          <p:cNvSpPr>
            <a:spLocks noGrp="1"/>
          </p:cNvSpPr>
          <p:nvPr>
            <p:ph type="sldNum" sz="quarter" idx="10"/>
          </p:nvPr>
        </p:nvSpPr>
        <p:spPr/>
        <p:txBody>
          <a:bodyPr/>
          <a:lstStyle/>
          <a:p>
            <a:fld id="{3847DB54-D037-B84F-B6F1-2E8DA40D09AD}" type="slidenum">
              <a:rPr lang="en-US" smtClean="0"/>
              <a:pPr/>
              <a:t>‹#›</a:t>
            </a:fld>
            <a:endParaRPr lang="en-US"/>
          </a:p>
        </p:txBody>
      </p:sp>
    </p:spTree>
    <p:extLst>
      <p:ext uri="{BB962C8B-B14F-4D97-AF65-F5344CB8AC3E}">
        <p14:creationId xmlns:p14="http://schemas.microsoft.com/office/powerpoint/2010/main" val="137760661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guide id="3" pos="66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L Logo Lines">
    <p:bg bwMode="ltGray">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7A93532-71D0-D05E-6EE7-F2E82D104578}"/>
              </a:ext>
            </a:extLst>
          </p:cNvPr>
          <p:cNvGrpSpPr/>
          <p:nvPr userDrawn="1"/>
        </p:nvGrpSpPr>
        <p:grpSpPr>
          <a:xfrm>
            <a:off x="0" y="4438650"/>
            <a:ext cx="3902176" cy="2419350"/>
            <a:chOff x="0" y="3874168"/>
            <a:chExt cx="4812632" cy="2983832"/>
          </a:xfrm>
        </p:grpSpPr>
        <p:pic>
          <p:nvPicPr>
            <p:cNvPr id="3" name="Picture 2" descr="A picture containing icon&#10;&#10;Description automatically generated">
              <a:extLst>
                <a:ext uri="{FF2B5EF4-FFF2-40B4-BE49-F238E27FC236}">
                  <a16:creationId xmlns:a16="http://schemas.microsoft.com/office/drawing/2014/main" id="{730A7B0A-F79F-93B1-9BB9-47E04ECD8167}"/>
                </a:ext>
              </a:extLst>
            </p:cNvPr>
            <p:cNvPicPr>
              <a:picLocks noChangeAspect="1"/>
            </p:cNvPicPr>
            <p:nvPr/>
          </p:nvPicPr>
          <p:blipFill rotWithShape="1">
            <a:blip r:embed="rId2"/>
            <a:srcRect l="50000" r="10526" b="24873"/>
            <a:stretch/>
          </p:blipFill>
          <p:spPr>
            <a:xfrm>
              <a:off x="0" y="5205317"/>
              <a:ext cx="4812632" cy="1652683"/>
            </a:xfrm>
            <a:prstGeom prst="rect">
              <a:avLst/>
            </a:prstGeom>
          </p:spPr>
        </p:pic>
        <p:pic>
          <p:nvPicPr>
            <p:cNvPr id="4" name="Graphic 4">
              <a:extLst>
                <a:ext uri="{FF2B5EF4-FFF2-40B4-BE49-F238E27FC236}">
                  <a16:creationId xmlns:a16="http://schemas.microsoft.com/office/drawing/2014/main" id="{556EA8C8-B054-949F-4116-CED566BE875B}"/>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9375" t="17544" r="29934" b="38948"/>
            <a:stretch/>
          </p:blipFill>
          <p:spPr>
            <a:xfrm>
              <a:off x="0" y="3874168"/>
              <a:ext cx="3741822" cy="2983832"/>
            </a:xfrm>
            <a:prstGeom prst="rect">
              <a:avLst/>
            </a:prstGeom>
          </p:spPr>
        </p:pic>
      </p:grpSp>
      <p:sp>
        <p:nvSpPr>
          <p:cNvPr id="5" name="Title Placeholder 1">
            <a:extLst>
              <a:ext uri="{FF2B5EF4-FFF2-40B4-BE49-F238E27FC236}">
                <a16:creationId xmlns:a16="http://schemas.microsoft.com/office/drawing/2014/main" id="{430AE8CE-28F6-38EA-5BF8-DC81ABF0B996}"/>
              </a:ext>
            </a:extLst>
          </p:cNvPr>
          <p:cNvSpPr>
            <a:spLocks noGrp="1"/>
          </p:cNvSpPr>
          <p:nvPr>
            <p:ph type="title"/>
          </p:nvPr>
        </p:nvSpPr>
        <p:spPr>
          <a:xfrm>
            <a:off x="457888" y="457200"/>
            <a:ext cx="11200711" cy="606692"/>
          </a:xfrm>
          <a:prstGeom prst="rect">
            <a:avLst/>
          </a:prstGeom>
        </p:spPr>
        <p:txBody>
          <a:bodyPr vert="horz" lIns="91440" tIns="45720" rIns="91440" bIns="45720" rtlCol="0" anchor="t">
            <a:noAutofit/>
          </a:bodyPr>
          <a:lstStyle>
            <a:lvl1pPr>
              <a:lnSpc>
                <a:spcPct val="100000"/>
              </a:lnSpc>
              <a:spcBef>
                <a:spcPts val="0"/>
              </a:spcBef>
              <a:spcAft>
                <a:spcPts val="0"/>
              </a:spcAft>
              <a:defRPr sz="3200" b="1">
                <a:solidFill>
                  <a:schemeClr val="tx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6DAADF01-D003-B82E-57AA-B2A2404F08AC}"/>
              </a:ext>
            </a:extLst>
          </p:cNvPr>
          <p:cNvSpPr>
            <a:spLocks noGrp="1"/>
          </p:cNvSpPr>
          <p:nvPr>
            <p:ph type="body" sz="quarter" idx="12" hasCustomPrompt="1"/>
          </p:nvPr>
        </p:nvSpPr>
        <p:spPr>
          <a:xfrm>
            <a:off x="457012" y="1063892"/>
            <a:ext cx="11201588" cy="381000"/>
          </a:xfrm>
          <a:prstGeom prst="rect">
            <a:avLst/>
          </a:prstGeom>
        </p:spPr>
        <p:txBody>
          <a:bodyPr/>
          <a:lstStyle>
            <a:lvl1pPr algn="l">
              <a:lnSpc>
                <a:spcPct val="100000"/>
              </a:lnSpc>
              <a:spcBef>
                <a:spcPts val="0"/>
              </a:spcBef>
              <a:spcAft>
                <a:spcPts val="0"/>
              </a:spcAft>
              <a:defRPr sz="1867" b="1" i="0">
                <a:solidFill>
                  <a:schemeClr val="tx2"/>
                </a:solidFill>
                <a:latin typeface="Segoe UI Semibold" panose="020B0502040204020203" pitchFamily="34" charset="0"/>
                <a:cs typeface="Segoe UI Semibold" panose="020B0502040204020203" pitchFamily="34" charset="0"/>
              </a:defRPr>
            </a:lvl1pPr>
            <a:lvl2pPr marL="120648" indent="0" algn="ctr">
              <a:buNone/>
              <a:defRPr sz="1867"/>
            </a:lvl2pPr>
          </a:lstStyle>
          <a:p>
            <a:pPr lvl="0"/>
            <a:r>
              <a:rPr lang="en-US"/>
              <a:t>Click to add Sub-title</a:t>
            </a:r>
            <a:endParaRPr lang="en-US" altLang="ja-JP"/>
          </a:p>
        </p:txBody>
      </p:sp>
      <p:sp>
        <p:nvSpPr>
          <p:cNvPr id="9" name="Content Placeholder 20">
            <a:extLst>
              <a:ext uri="{FF2B5EF4-FFF2-40B4-BE49-F238E27FC236}">
                <a16:creationId xmlns:a16="http://schemas.microsoft.com/office/drawing/2014/main" id="{0CBF9A6C-69D1-9665-B19D-FC6E05A1772C}"/>
              </a:ext>
            </a:extLst>
          </p:cNvPr>
          <p:cNvSpPr>
            <a:spLocks noGrp="1"/>
          </p:cNvSpPr>
          <p:nvPr>
            <p:ph sz="quarter" idx="10"/>
          </p:nvPr>
        </p:nvSpPr>
        <p:spPr>
          <a:xfrm>
            <a:off x="457200" y="1591476"/>
            <a:ext cx="11201588" cy="4202632"/>
          </a:xfrm>
          <a:prstGeom prst="rect">
            <a:avLst/>
          </a:prstGeom>
        </p:spPr>
        <p:txBody>
          <a:bodyPr/>
          <a:lstStyle>
            <a:lvl1pPr>
              <a:lnSpc>
                <a:spcPct val="100000"/>
              </a:lnSpc>
              <a:spcBef>
                <a:spcPts val="0"/>
              </a:spcBef>
              <a:spcAft>
                <a:spcPts val="0"/>
              </a:spcAft>
              <a:defRPr b="0" i="0">
                <a:latin typeface="Segoe UI" panose="020B0502040204020203" pitchFamily="34" charset="0"/>
                <a:cs typeface="Segoe UI" panose="020B0502040204020203" pitchFamily="34" charset="0"/>
              </a:defRPr>
            </a:lvl1pPr>
            <a:lvl2pPr>
              <a:lnSpc>
                <a:spcPct val="100000"/>
              </a:lnSpc>
              <a:spcBef>
                <a:spcPts val="0"/>
              </a:spcBef>
              <a:spcAft>
                <a:spcPts val="0"/>
              </a:spcAft>
              <a:defRPr b="0" i="0">
                <a:latin typeface="Segoe UI" panose="020B0502040204020203" pitchFamily="34" charset="0"/>
                <a:cs typeface="Segoe UI" panose="020B0502040204020203" pitchFamily="34" charset="0"/>
              </a:defRPr>
            </a:lvl2pPr>
            <a:lvl3pPr>
              <a:lnSpc>
                <a:spcPct val="100000"/>
              </a:lnSpc>
              <a:spcBef>
                <a:spcPts val="0"/>
              </a:spcBef>
              <a:spcAft>
                <a:spcPts val="0"/>
              </a:spcAft>
              <a:defRPr b="0" i="0">
                <a:latin typeface="Segoe UI" panose="020B0502040204020203" pitchFamily="34" charset="0"/>
                <a:cs typeface="Segoe UI" panose="020B0502040204020203" pitchFamily="34" charset="0"/>
              </a:defRPr>
            </a:lvl3pPr>
            <a:lvl4pPr>
              <a:lnSpc>
                <a:spcPct val="100000"/>
              </a:lnSpc>
              <a:spcBef>
                <a:spcPts val="0"/>
              </a:spcBef>
              <a:spcAft>
                <a:spcPts val="0"/>
              </a:spcAft>
              <a:defRPr b="0" i="0">
                <a:latin typeface="Segoe UI" panose="020B0502040204020203" pitchFamily="34" charset="0"/>
                <a:cs typeface="Segoe UI" panose="020B0502040204020203" pitchFamily="34" charset="0"/>
              </a:defRPr>
            </a:lvl4pPr>
            <a:lvl5pPr>
              <a:lnSpc>
                <a:spcPct val="100000"/>
              </a:lnSpc>
              <a:spcBef>
                <a:spcPts val="0"/>
              </a:spcBef>
              <a:spcAft>
                <a:spcPts val="0"/>
              </a:spcAft>
              <a:defRPr b="0" i="0">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726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and Content L Logo Lines">
    <p:bg bwMode="ltGray">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7A93532-71D0-D05E-6EE7-F2E82D104578}"/>
              </a:ext>
            </a:extLst>
          </p:cNvPr>
          <p:cNvGrpSpPr/>
          <p:nvPr userDrawn="1"/>
        </p:nvGrpSpPr>
        <p:grpSpPr>
          <a:xfrm>
            <a:off x="0" y="4438650"/>
            <a:ext cx="3902176" cy="2419350"/>
            <a:chOff x="0" y="3874168"/>
            <a:chExt cx="4812632" cy="2983832"/>
          </a:xfrm>
        </p:grpSpPr>
        <p:pic>
          <p:nvPicPr>
            <p:cNvPr id="3" name="Picture 2" descr="A picture containing icon&#10;&#10;Description automatically generated">
              <a:extLst>
                <a:ext uri="{FF2B5EF4-FFF2-40B4-BE49-F238E27FC236}">
                  <a16:creationId xmlns:a16="http://schemas.microsoft.com/office/drawing/2014/main" id="{730A7B0A-F79F-93B1-9BB9-47E04ECD8167}"/>
                </a:ext>
              </a:extLst>
            </p:cNvPr>
            <p:cNvPicPr>
              <a:picLocks noChangeAspect="1"/>
            </p:cNvPicPr>
            <p:nvPr/>
          </p:nvPicPr>
          <p:blipFill rotWithShape="1">
            <a:blip r:embed="rId2"/>
            <a:srcRect l="50000" r="10526" b="24873"/>
            <a:stretch/>
          </p:blipFill>
          <p:spPr>
            <a:xfrm>
              <a:off x="0" y="5205317"/>
              <a:ext cx="4812632" cy="1652683"/>
            </a:xfrm>
            <a:prstGeom prst="rect">
              <a:avLst/>
            </a:prstGeom>
          </p:spPr>
        </p:pic>
        <p:pic>
          <p:nvPicPr>
            <p:cNvPr id="4" name="Graphic 4">
              <a:extLst>
                <a:ext uri="{FF2B5EF4-FFF2-40B4-BE49-F238E27FC236}">
                  <a16:creationId xmlns:a16="http://schemas.microsoft.com/office/drawing/2014/main" id="{556EA8C8-B054-949F-4116-CED566BE875B}"/>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39375" t="17544" r="29934" b="38948"/>
            <a:stretch/>
          </p:blipFill>
          <p:spPr>
            <a:xfrm>
              <a:off x="0" y="3874168"/>
              <a:ext cx="3741822" cy="2983832"/>
            </a:xfrm>
            <a:prstGeom prst="rect">
              <a:avLst/>
            </a:prstGeom>
          </p:spPr>
        </p:pic>
      </p:grpSp>
      <p:sp>
        <p:nvSpPr>
          <p:cNvPr id="5" name="Title Placeholder 1">
            <a:extLst>
              <a:ext uri="{FF2B5EF4-FFF2-40B4-BE49-F238E27FC236}">
                <a16:creationId xmlns:a16="http://schemas.microsoft.com/office/drawing/2014/main" id="{430AE8CE-28F6-38EA-5BF8-DC81ABF0B996}"/>
              </a:ext>
            </a:extLst>
          </p:cNvPr>
          <p:cNvSpPr>
            <a:spLocks noGrp="1"/>
          </p:cNvSpPr>
          <p:nvPr>
            <p:ph type="title"/>
          </p:nvPr>
        </p:nvSpPr>
        <p:spPr>
          <a:xfrm>
            <a:off x="457888" y="457200"/>
            <a:ext cx="11200711" cy="606692"/>
          </a:xfrm>
          <a:prstGeom prst="rect">
            <a:avLst/>
          </a:prstGeom>
        </p:spPr>
        <p:txBody>
          <a:bodyPr vert="horz" lIns="91440" tIns="45720" rIns="91440" bIns="45720" rtlCol="0" anchor="t">
            <a:noAutofit/>
          </a:bodyPr>
          <a:lstStyle>
            <a:lvl1pPr>
              <a:lnSpc>
                <a:spcPct val="100000"/>
              </a:lnSpc>
              <a:spcBef>
                <a:spcPts val="0"/>
              </a:spcBef>
              <a:spcAft>
                <a:spcPts val="0"/>
              </a:spcAft>
              <a:defRPr sz="3200" b="1">
                <a:solidFill>
                  <a:schemeClr val="tx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6DAADF01-D003-B82E-57AA-B2A2404F08AC}"/>
              </a:ext>
            </a:extLst>
          </p:cNvPr>
          <p:cNvSpPr>
            <a:spLocks noGrp="1"/>
          </p:cNvSpPr>
          <p:nvPr>
            <p:ph type="body" sz="quarter" idx="12" hasCustomPrompt="1"/>
          </p:nvPr>
        </p:nvSpPr>
        <p:spPr>
          <a:xfrm>
            <a:off x="457012" y="1063892"/>
            <a:ext cx="11201588" cy="381000"/>
          </a:xfrm>
          <a:prstGeom prst="rect">
            <a:avLst/>
          </a:prstGeom>
        </p:spPr>
        <p:txBody>
          <a:bodyPr/>
          <a:lstStyle>
            <a:lvl1pPr algn="l">
              <a:lnSpc>
                <a:spcPct val="100000"/>
              </a:lnSpc>
              <a:spcBef>
                <a:spcPts val="0"/>
              </a:spcBef>
              <a:spcAft>
                <a:spcPts val="0"/>
              </a:spcAft>
              <a:defRPr sz="1867" b="1" i="0">
                <a:solidFill>
                  <a:schemeClr val="tx2"/>
                </a:solidFill>
                <a:latin typeface="Segoe UI Semibold" panose="020B0502040204020203" pitchFamily="34" charset="0"/>
                <a:cs typeface="Segoe UI Semibold" panose="020B0502040204020203" pitchFamily="34" charset="0"/>
              </a:defRPr>
            </a:lvl1pPr>
            <a:lvl2pPr marL="120648" indent="0" algn="ctr">
              <a:buNone/>
              <a:defRPr sz="1867"/>
            </a:lvl2pPr>
          </a:lstStyle>
          <a:p>
            <a:pPr lvl="0"/>
            <a:r>
              <a:rPr lang="en-US"/>
              <a:t>Click to add Sub-title</a:t>
            </a:r>
            <a:endParaRPr lang="en-US" altLang="ja-JP"/>
          </a:p>
        </p:txBody>
      </p:sp>
      <p:sp>
        <p:nvSpPr>
          <p:cNvPr id="9" name="Content Placeholder 20">
            <a:extLst>
              <a:ext uri="{FF2B5EF4-FFF2-40B4-BE49-F238E27FC236}">
                <a16:creationId xmlns:a16="http://schemas.microsoft.com/office/drawing/2014/main" id="{0CBF9A6C-69D1-9665-B19D-FC6E05A1772C}"/>
              </a:ext>
            </a:extLst>
          </p:cNvPr>
          <p:cNvSpPr>
            <a:spLocks noGrp="1"/>
          </p:cNvSpPr>
          <p:nvPr>
            <p:ph sz="quarter" idx="10"/>
          </p:nvPr>
        </p:nvSpPr>
        <p:spPr>
          <a:xfrm>
            <a:off x="457200" y="1591476"/>
            <a:ext cx="11201588" cy="4202632"/>
          </a:xfrm>
          <a:prstGeom prst="rect">
            <a:avLst/>
          </a:prstGeom>
        </p:spPr>
        <p:txBody>
          <a:bodyPr/>
          <a:lstStyle>
            <a:lvl1pPr>
              <a:lnSpc>
                <a:spcPct val="100000"/>
              </a:lnSpc>
              <a:spcBef>
                <a:spcPts val="0"/>
              </a:spcBef>
              <a:spcAft>
                <a:spcPts val="0"/>
              </a:spcAft>
              <a:defRPr b="0" i="0">
                <a:latin typeface="Segoe UI" panose="020B0502040204020203" pitchFamily="34" charset="0"/>
                <a:cs typeface="Segoe UI" panose="020B0502040204020203" pitchFamily="34" charset="0"/>
              </a:defRPr>
            </a:lvl1pPr>
            <a:lvl2pPr>
              <a:lnSpc>
                <a:spcPct val="100000"/>
              </a:lnSpc>
              <a:spcBef>
                <a:spcPts val="0"/>
              </a:spcBef>
              <a:spcAft>
                <a:spcPts val="0"/>
              </a:spcAft>
              <a:defRPr b="0" i="0">
                <a:latin typeface="Segoe UI" panose="020B0502040204020203" pitchFamily="34" charset="0"/>
                <a:cs typeface="Segoe UI" panose="020B0502040204020203" pitchFamily="34" charset="0"/>
              </a:defRPr>
            </a:lvl2pPr>
            <a:lvl3pPr>
              <a:lnSpc>
                <a:spcPct val="100000"/>
              </a:lnSpc>
              <a:spcBef>
                <a:spcPts val="0"/>
              </a:spcBef>
              <a:spcAft>
                <a:spcPts val="0"/>
              </a:spcAft>
              <a:defRPr b="0" i="0">
                <a:latin typeface="Segoe UI" panose="020B0502040204020203" pitchFamily="34" charset="0"/>
                <a:cs typeface="Segoe UI" panose="020B0502040204020203" pitchFamily="34" charset="0"/>
              </a:defRPr>
            </a:lvl3pPr>
            <a:lvl4pPr>
              <a:lnSpc>
                <a:spcPct val="100000"/>
              </a:lnSpc>
              <a:spcBef>
                <a:spcPts val="0"/>
              </a:spcBef>
              <a:spcAft>
                <a:spcPts val="0"/>
              </a:spcAft>
              <a:defRPr b="0" i="0">
                <a:latin typeface="Segoe UI" panose="020B0502040204020203" pitchFamily="34" charset="0"/>
                <a:cs typeface="Segoe UI" panose="020B0502040204020203" pitchFamily="34" charset="0"/>
              </a:defRPr>
            </a:lvl4pPr>
            <a:lvl5pPr>
              <a:lnSpc>
                <a:spcPct val="100000"/>
              </a:lnSpc>
              <a:spcBef>
                <a:spcPts val="0"/>
              </a:spcBef>
              <a:spcAft>
                <a:spcPts val="0"/>
              </a:spcAft>
              <a:defRPr b="0" i="0">
                <a:latin typeface="Segoe UI" panose="020B0502040204020203" pitchFamily="34" charset="0"/>
                <a:cs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67263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9" Type="http://schemas.openxmlformats.org/officeDocument/2006/relationships/image" Target="../media/image1.png"/><Relationship Id="rId10" Type="http://schemas.openxmlformats.org/officeDocument/2006/relationships/hyperlink" Target="https://avanade.sharepoint.com/sites/policies/Policies2/Data%20Management/1431_DataManagement.pdf"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8" name="Title Placeholder 1">
            <a:extLst>
              <a:ext uri="{FF2B5EF4-FFF2-40B4-BE49-F238E27FC236}">
                <a16:creationId xmlns:a16="http://schemas.microsoft.com/office/drawing/2014/main" id="{658DE76C-BE08-874D-89E5-86F2CB5A1662}"/>
              </a:ext>
            </a:extLst>
          </p:cNvPr>
          <p:cNvSpPr>
            <a:spLocks noGrp="1"/>
          </p:cNvSpPr>
          <p:nvPr>
            <p:ph type="title"/>
          </p:nvPr>
        </p:nvSpPr>
        <p:spPr>
          <a:xfrm>
            <a:off x="694944" y="390719"/>
            <a:ext cx="10789921" cy="998344"/>
          </a:xfrm>
          <a:prstGeom prst="rect">
            <a:avLst/>
          </a:prstGeom>
        </p:spPr>
        <p:txBody>
          <a:bodyPr vert="horz" lIns="91440" tIns="45720" rIns="91440" bIns="45720" rtlCol="0" anchor="t">
            <a:noAutofit/>
          </a:bodyPr>
          <a:lstStyle/>
          <a:p>
            <a:r>
              <a:rPr lang="en-US"/>
              <a:t>Click to edit Master title style</a:t>
            </a:r>
          </a:p>
        </p:txBody>
      </p:sp>
      <p:sp>
        <p:nvSpPr>
          <p:cNvPr id="31" name="Text Placeholder 2">
            <a:extLst>
              <a:ext uri="{FF2B5EF4-FFF2-40B4-BE49-F238E27FC236}">
                <a16:creationId xmlns:a16="http://schemas.microsoft.com/office/drawing/2014/main" id="{503EF9A9-1084-A048-BA5E-600BDC189274}"/>
              </a:ext>
            </a:extLst>
          </p:cNvPr>
          <p:cNvSpPr>
            <a:spLocks noGrp="1"/>
          </p:cNvSpPr>
          <p:nvPr>
            <p:ph type="body" idx="1"/>
          </p:nvPr>
        </p:nvSpPr>
        <p:spPr>
          <a:xfrm>
            <a:off x="694945" y="1524000"/>
            <a:ext cx="1078992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Rectangle 31">
            <a:extLst>
              <a:ext uri="{FF2B5EF4-FFF2-40B4-BE49-F238E27FC236}">
                <a16:creationId xmlns:a16="http://schemas.microsoft.com/office/drawing/2014/main" id="{56ADD8B0-8C25-234B-ADCE-7E0BFFB2AA87}"/>
              </a:ext>
            </a:extLst>
          </p:cNvPr>
          <p:cNvSpPr/>
          <p:nvPr userDrawn="1"/>
        </p:nvSpPr>
        <p:spPr>
          <a:xfrm>
            <a:off x="694944" y="0"/>
            <a:ext cx="10789920" cy="45719"/>
          </a:xfrm>
          <a:prstGeom prst="rect">
            <a:avLst/>
          </a:prstGeom>
          <a:gradFill>
            <a:gsLst>
              <a:gs pos="80000">
                <a:srgbClr val="FF5800"/>
              </a:gs>
              <a:gs pos="0">
                <a:srgbClr val="FFD700"/>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descr="AvanadeLogoNoTM_AWColor_RGB.png">
            <a:extLst>
              <a:ext uri="{FF2B5EF4-FFF2-40B4-BE49-F238E27FC236}">
                <a16:creationId xmlns:a16="http://schemas.microsoft.com/office/drawing/2014/main" id="{3DE45E54-C75E-2442-B65B-75CB35B3E217}"/>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707135" y="6165705"/>
            <a:ext cx="914400" cy="335584"/>
          </a:xfrm>
          <a:prstGeom prst="rect">
            <a:avLst/>
          </a:prstGeom>
        </p:spPr>
      </p:pic>
      <p:sp>
        <p:nvSpPr>
          <p:cNvPr id="30" name="Rectangle 29"/>
          <p:cNvSpPr/>
          <p:nvPr userDrawn="1"/>
        </p:nvSpPr>
        <p:spPr>
          <a:xfrm>
            <a:off x="12218648" y="576694"/>
            <a:ext cx="155791" cy="527538"/>
          </a:xfrm>
          <a:prstGeom prst="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3" name="Rectangle 32"/>
          <p:cNvSpPr/>
          <p:nvPr userDrawn="1"/>
        </p:nvSpPr>
        <p:spPr>
          <a:xfrm>
            <a:off x="12218648" y="1153388"/>
            <a:ext cx="155791" cy="527538"/>
          </a:xfrm>
          <a:prstGeom prst="rect">
            <a:avLst/>
          </a:prstGeom>
          <a:solidFill>
            <a:schemeClr val="accent3"/>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4" name="Rectangle 33"/>
          <p:cNvSpPr/>
          <p:nvPr userDrawn="1"/>
        </p:nvSpPr>
        <p:spPr>
          <a:xfrm>
            <a:off x="12215747" y="2306776"/>
            <a:ext cx="155791" cy="527538"/>
          </a:xfrm>
          <a:prstGeom prst="rect">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8" name="Rectangle 37"/>
          <p:cNvSpPr/>
          <p:nvPr userDrawn="1"/>
        </p:nvSpPr>
        <p:spPr>
          <a:xfrm>
            <a:off x="12215747" y="4036858"/>
            <a:ext cx="155791" cy="527538"/>
          </a:xfrm>
          <a:prstGeom prst="rect">
            <a:avLst/>
          </a:prstGeom>
          <a:solidFill>
            <a:srgbClr val="006EC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39" name="Rectangle 38"/>
          <p:cNvSpPr/>
          <p:nvPr userDrawn="1"/>
        </p:nvSpPr>
        <p:spPr>
          <a:xfrm>
            <a:off x="12215747" y="1730082"/>
            <a:ext cx="155791" cy="527538"/>
          </a:xfrm>
          <a:prstGeom prst="rect">
            <a:avLst/>
          </a:prstGeom>
          <a:solidFill>
            <a:srgbClr val="890078"/>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0" name="Rectangle 39"/>
          <p:cNvSpPr/>
          <p:nvPr userDrawn="1"/>
        </p:nvSpPr>
        <p:spPr>
          <a:xfrm>
            <a:off x="12382950" y="576694"/>
            <a:ext cx="155791" cy="527538"/>
          </a:xfrm>
          <a:prstGeom prst="rect">
            <a:avLst/>
          </a:prstGeom>
          <a:solidFill>
            <a:srgbClr val="A5064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1" name="Rectangle 40"/>
          <p:cNvSpPr/>
          <p:nvPr userDrawn="1"/>
        </p:nvSpPr>
        <p:spPr>
          <a:xfrm>
            <a:off x="12382950" y="1153388"/>
            <a:ext cx="155791" cy="527538"/>
          </a:xfrm>
          <a:prstGeom prst="rect">
            <a:avLst/>
          </a:prstGeom>
          <a:solidFill>
            <a:srgbClr val="9E120E"/>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2" name="Rectangle 41"/>
          <p:cNvSpPr/>
          <p:nvPr userDrawn="1"/>
        </p:nvSpPr>
        <p:spPr>
          <a:xfrm>
            <a:off x="12380049" y="2306776"/>
            <a:ext cx="155791" cy="527538"/>
          </a:xfrm>
          <a:prstGeom prst="rect">
            <a:avLst/>
          </a:prstGeom>
          <a:solidFill>
            <a:srgbClr val="E6A61C"/>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3" name="Rectangle 42"/>
          <p:cNvSpPr/>
          <p:nvPr userDrawn="1"/>
        </p:nvSpPr>
        <p:spPr>
          <a:xfrm>
            <a:off x="12380049" y="2883470"/>
            <a:ext cx="155791" cy="527538"/>
          </a:xfrm>
          <a:prstGeom prst="rect">
            <a:avLst/>
          </a:prstGeom>
          <a:solidFill>
            <a:srgbClr val="05732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4" name="Rectangle 43"/>
          <p:cNvSpPr/>
          <p:nvPr userDrawn="1"/>
        </p:nvSpPr>
        <p:spPr>
          <a:xfrm>
            <a:off x="12380049" y="3460164"/>
            <a:ext cx="155791" cy="527538"/>
          </a:xfrm>
          <a:prstGeom prst="rect">
            <a:avLst/>
          </a:prstGeom>
          <a:solidFill>
            <a:srgbClr val="005F6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5" name="Rectangle 44"/>
          <p:cNvSpPr/>
          <p:nvPr userDrawn="1"/>
        </p:nvSpPr>
        <p:spPr>
          <a:xfrm>
            <a:off x="12380049" y="4036858"/>
            <a:ext cx="155791" cy="527538"/>
          </a:xfrm>
          <a:prstGeom prst="rect">
            <a:avLst/>
          </a:prstGeom>
          <a:solidFill>
            <a:srgbClr val="05508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6" name="Rectangle 45"/>
          <p:cNvSpPr/>
          <p:nvPr userDrawn="1"/>
        </p:nvSpPr>
        <p:spPr>
          <a:xfrm>
            <a:off x="12380049" y="1730082"/>
            <a:ext cx="155791" cy="527538"/>
          </a:xfrm>
          <a:prstGeom prst="rect">
            <a:avLst/>
          </a:prstGeom>
          <a:solidFill>
            <a:srgbClr val="5A145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7" name="Rectangle 46"/>
          <p:cNvSpPr/>
          <p:nvPr userDrawn="1"/>
        </p:nvSpPr>
        <p:spPr>
          <a:xfrm>
            <a:off x="12218648" y="0"/>
            <a:ext cx="155791" cy="527538"/>
          </a:xfrm>
          <a:prstGeom prst="rect">
            <a:avLst/>
          </a:prstGeom>
          <a:solidFill>
            <a:schemeClr val="tx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8" name="Rectangle 47"/>
          <p:cNvSpPr/>
          <p:nvPr userDrawn="1"/>
        </p:nvSpPr>
        <p:spPr>
          <a:xfrm>
            <a:off x="12382950" y="0"/>
            <a:ext cx="155791" cy="527538"/>
          </a:xfrm>
          <a:prstGeom prst="rect">
            <a:avLst/>
          </a:prstGeom>
          <a:solidFill>
            <a:srgbClr val="CC46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49" name="Rectangle 48"/>
          <p:cNvSpPr/>
          <p:nvPr userDrawn="1"/>
        </p:nvSpPr>
        <p:spPr>
          <a:xfrm>
            <a:off x="12215747" y="2883470"/>
            <a:ext cx="155791" cy="527538"/>
          </a:xfrm>
          <a:prstGeom prst="rect">
            <a:avLst/>
          </a:prstGeom>
          <a:solidFill>
            <a:schemeClr val="accent5"/>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50" name="Rectangle 49"/>
          <p:cNvSpPr/>
          <p:nvPr userDrawn="1"/>
        </p:nvSpPr>
        <p:spPr>
          <a:xfrm>
            <a:off x="12215747" y="3460164"/>
            <a:ext cx="155791" cy="527538"/>
          </a:xfrm>
          <a:prstGeom prst="rect">
            <a:avLst/>
          </a:prstGeom>
          <a:solidFill>
            <a:schemeClr val="accent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sp>
        <p:nvSpPr>
          <p:cNvPr id="24" name="Rectangle 5">
            <a:extLst>
              <a:ext uri="{FF2B5EF4-FFF2-40B4-BE49-F238E27FC236}">
                <a16:creationId xmlns:a16="http://schemas.microsoft.com/office/drawing/2014/main" id="{770EFDC9-5DD5-4A81-A181-1272E8F098C7}"/>
              </a:ext>
            </a:extLst>
          </p:cNvPr>
          <p:cNvSpPr txBox="1">
            <a:spLocks noChangeArrowheads="1"/>
          </p:cNvSpPr>
          <p:nvPr userDrawn="1"/>
        </p:nvSpPr>
        <p:spPr bwMode="auto">
          <a:xfrm>
            <a:off x="4400860" y="6235000"/>
            <a:ext cx="2486346" cy="165099"/>
          </a:xfrm>
          <a:prstGeom prst="rect">
            <a:avLst/>
          </a:prstGeom>
          <a:noFill/>
          <a:ln w="9525">
            <a:noFill/>
            <a:miter lim="800000"/>
            <a:headEnd/>
            <a:tailEnd/>
          </a:ln>
          <a:effectLst/>
        </p:spPr>
        <p:txBody>
          <a:bodyPr lIns="0" tIns="0" rIns="0" bIns="0" anchor="b"/>
          <a:lstStyle/>
          <a:p>
            <a:pPr algn="ctr">
              <a:lnSpc>
                <a:spcPct val="90000"/>
              </a:lnSpc>
              <a:spcAft>
                <a:spcPct val="30000"/>
              </a:spcAft>
            </a:pPr>
            <a:r>
              <a:rPr lang="en-US" sz="700">
                <a:solidFill>
                  <a:schemeClr val="bg1">
                    <a:lumMod val="75000"/>
                  </a:schemeClr>
                </a:solidFill>
                <a:latin typeface="Segoe UI" panose="020B0502040204020203" pitchFamily="34" charset="0"/>
                <a:cs typeface="Segoe UI" panose="020B0502040204020203" pitchFamily="34" charset="0"/>
              </a:rPr>
              <a:t>©2023 Avanade Inc. All Rights Reserved.</a:t>
            </a:r>
          </a:p>
        </p:txBody>
      </p:sp>
      <p:sp>
        <p:nvSpPr>
          <p:cNvPr id="25" name="TextBox 24">
            <a:extLst>
              <a:ext uri="{FF2B5EF4-FFF2-40B4-BE49-F238E27FC236}">
                <a16:creationId xmlns:a16="http://schemas.microsoft.com/office/drawing/2014/main" id="{92857830-2F82-4104-9DED-4C213855AA9B}"/>
              </a:ext>
            </a:extLst>
          </p:cNvPr>
          <p:cNvSpPr txBox="1"/>
          <p:nvPr userDrawn="1"/>
        </p:nvSpPr>
        <p:spPr>
          <a:xfrm>
            <a:off x="8707793" y="6244838"/>
            <a:ext cx="2777072" cy="307777"/>
          </a:xfrm>
          <a:prstGeom prst="rect">
            <a:avLst/>
          </a:prstGeom>
          <a:noFill/>
        </p:spPr>
        <p:txBody>
          <a:bodyPr wrap="square" rtlCol="0">
            <a:spAutoFit/>
          </a:bodyPr>
          <a:lstStyle/>
          <a:p>
            <a:pPr algn="r"/>
            <a:r>
              <a:rPr lang="en-US" sz="700">
                <a:solidFill>
                  <a:srgbClr val="FF5800"/>
                </a:solidFill>
              </a:rPr>
              <a:t>&lt;Highly Confidential&gt; </a:t>
            </a:r>
            <a:r>
              <a:rPr lang="en-US" sz="700">
                <a:solidFill>
                  <a:srgbClr val="464646"/>
                </a:solidFill>
              </a:rPr>
              <a:t>See Avanade’s </a:t>
            </a:r>
            <a:r>
              <a:rPr lang="en-US" sz="700">
                <a:solidFill>
                  <a:srgbClr val="FF5800"/>
                </a:solidFill>
                <a:hlinkClick r:id="rId10" invalidUrl="https://avanade.sharepoint.com/sites/policies/Policies2/Data Management/1431_DataManagement.pdf"/>
              </a:rPr>
              <a:t>Data Management Policy</a:t>
            </a:r>
            <a:endParaRPr lang="en-US" sz="700">
              <a:solidFill>
                <a:srgbClr val="FF5800"/>
              </a:solidFill>
            </a:endParaRPr>
          </a:p>
          <a:p>
            <a:pPr algn="r"/>
            <a:r>
              <a:rPr lang="en-US" sz="700">
                <a:solidFill>
                  <a:schemeClr val="tx1"/>
                </a:solidFill>
              </a:rPr>
              <a:t>Version 1.0</a:t>
            </a:r>
          </a:p>
        </p:txBody>
      </p:sp>
    </p:spTree>
    <p:extLst>
      <p:ext uri="{BB962C8B-B14F-4D97-AF65-F5344CB8AC3E}">
        <p14:creationId xmlns:p14="http://schemas.microsoft.com/office/powerpoint/2010/main" val="2156093164"/>
      </p:ext>
    </p:extLst>
  </p:cSld>
  <p:clrMap bg1="lt1" tx1="dk1" bg2="lt2" tx2="dk2" accent1="accent1" accent2="accent2" accent3="accent3" accent4="accent4" accent5="accent5" accent6="accent6" hlink="hlink" folHlink="folHlink"/>
  <p:sldLayoutIdLst>
    <p:sldLayoutId id="2147483760" r:id="rId1"/>
    <p:sldLayoutId id="2147484086" r:id="rId2"/>
    <p:sldLayoutId id="2147484087" r:id="rId3"/>
    <p:sldLayoutId id="2147484088" r:id="rId4"/>
    <p:sldLayoutId id="2147484089" r:id="rId5"/>
    <p:sldLayoutId id="2147484093" r:id="rId6"/>
    <p:sldLayoutId id="2147484090" r:id="rId7"/>
  </p:sldLayoutIdLst>
  <p:transition>
    <p:fade/>
  </p:transition>
  <p:hf hdr="0" ftr="0" dt="0"/>
  <p:txStyles>
    <p:titleStyle>
      <a:lvl1pPr algn="l" defTabSz="914400" rtl="0" eaLnBrk="1" latinLnBrk="0" hangingPunct="1">
        <a:lnSpc>
          <a:spcPct val="90000"/>
        </a:lnSpc>
        <a:spcBef>
          <a:spcPct val="0"/>
        </a:spcBef>
        <a:buNone/>
        <a:defRPr sz="3600" b="1" i="0" kern="1200">
          <a:solidFill>
            <a:schemeClr val="tx1"/>
          </a:solidFill>
          <a:latin typeface="Segoe UI Semibold" panose="020B0502040204020203" pitchFamily="34" charset="0"/>
          <a:ea typeface="Segoe UI Semibold" panose="020B0502040204020203" pitchFamily="34" charset="0"/>
          <a:cs typeface="Segoe UI Semibold" panose="020B0502040204020203" pitchFamily="34" charset="0"/>
        </a:defRPr>
      </a:lvl1pPr>
    </p:titleStyle>
    <p:bodyStyle>
      <a:lvl1pPr marL="0" indent="0" algn="l" defTabSz="914400" rtl="0" eaLnBrk="1" latinLnBrk="0" hangingPunct="1">
        <a:lnSpc>
          <a:spcPct val="90000"/>
        </a:lnSpc>
        <a:spcBef>
          <a:spcPts val="1000"/>
        </a:spcBef>
        <a:buFont typeface="Arial"/>
        <a:buNone/>
        <a:defRPr sz="2000" b="0" i="0" kern="1200">
          <a:solidFill>
            <a:schemeClr val="tx1"/>
          </a:solidFill>
          <a:latin typeface="Segoe UI Light" charset="0"/>
          <a:ea typeface="Segoe UI Light" charset="0"/>
          <a:cs typeface="Segoe UI Light"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Segoe UI Light" charset="0"/>
          <a:ea typeface="Segoe UI Light" charset="0"/>
          <a:cs typeface="Segoe UI Light"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Segoe UI Light" charset="0"/>
          <a:ea typeface="Segoe UI Light" charset="0"/>
          <a:cs typeface="Segoe UI Light"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Segoe UI Light" charset="0"/>
          <a:ea typeface="Segoe UI Light" charset="0"/>
          <a:cs typeface="Segoe UI Light"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Segoe UI Light" charset="0"/>
          <a:ea typeface="Segoe UI Light" charset="0"/>
          <a:cs typeface="Segoe UI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gs>
            <a:gs pos="100000">
              <a:schemeClr val="tx2"/>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FC2EB-7C21-6B18-6620-1ED7C0DCDCDA}"/>
              </a:ext>
            </a:extLst>
          </p:cNvPr>
          <p:cNvSpPr>
            <a:spLocks noGrp="1"/>
          </p:cNvSpPr>
          <p:nvPr>
            <p:ph type="title"/>
          </p:nvPr>
        </p:nvSpPr>
        <p:spPr>
          <a:xfrm>
            <a:off x="430213" y="3221899"/>
            <a:ext cx="7656975" cy="1527097"/>
          </a:xfrm>
          <a:prstGeom prst="rect">
            <a:avLst/>
          </a:prstGeom>
        </p:spPr>
        <p:txBody>
          <a:bodyPr/>
          <a:lstStyle/>
          <a:p>
            <a:r>
              <a:rPr lang="en-ZA" sz="4800"/>
              <a:t>Brazil Engineering Hub</a:t>
            </a:r>
            <a:br>
              <a:rPr lang="en-ZA" sz="4800"/>
            </a:br>
            <a:r>
              <a:rPr lang="en-ZA" sz="4800"/>
              <a:t>Solution Summary</a:t>
            </a:r>
            <a:endParaRPr lang="en-US" sz="4800"/>
          </a:p>
        </p:txBody>
      </p:sp>
      <p:sp>
        <p:nvSpPr>
          <p:cNvPr id="3" name="Text Placeholder 2">
            <a:extLst>
              <a:ext uri="{FF2B5EF4-FFF2-40B4-BE49-F238E27FC236}">
                <a16:creationId xmlns:a16="http://schemas.microsoft.com/office/drawing/2014/main" id="{C3B7BC3A-EA1E-9533-8C85-610AF02E1122}"/>
              </a:ext>
            </a:extLst>
          </p:cNvPr>
          <p:cNvSpPr>
            <a:spLocks noGrp="1"/>
          </p:cNvSpPr>
          <p:nvPr>
            <p:ph type="body" sz="quarter" idx="10"/>
          </p:nvPr>
        </p:nvSpPr>
        <p:spPr>
          <a:xfrm>
            <a:off x="430213" y="4532686"/>
            <a:ext cx="11228387" cy="1791914"/>
          </a:xfrm>
          <a:prstGeom prst="rect">
            <a:avLst/>
          </a:prstGeom>
        </p:spPr>
        <p:txBody>
          <a:bodyPr numCol="1" anchor="t"/>
          <a:lstStyle/>
          <a:p>
            <a:pPr>
              <a:spcBef>
                <a:spcPts val="200"/>
              </a:spcBef>
              <a:spcAft>
                <a:spcPts val="0"/>
              </a:spcAft>
            </a:pPr>
            <a:r>
              <a:rPr lang="en-ZA" sz="1800" dirty="0"/>
              <a:t>Opportunity Name:  Legacy Application Modernization PoC — AVA Fabric Agents</a:t>
            </a:r>
            <a:endParaRPr lang="en-ZA" sz="1800" dirty="0"/>
          </a:p>
          <a:p>
            <a:pPr>
              <a:spcBef>
                <a:spcPts val="200"/>
              </a:spcBef>
              <a:spcAft>
                <a:spcPts val="0"/>
              </a:spcAft>
            </a:pPr>
            <a:r>
              <a:rPr lang="en-ZA" sz="1800" dirty="0"/>
              <a:t>Client: ABC Bank</a:t>
            </a:r>
            <a:endParaRPr lang="en-ZA" sz="1800" dirty="0"/>
          </a:p>
          <a:p>
            <a:pPr>
              <a:spcBef>
                <a:spcPts val="200"/>
              </a:spcBef>
              <a:spcAft>
                <a:spcPts val="0"/>
              </a:spcAft>
            </a:pPr>
            <a:r>
              <a:rPr lang="en-ZA" sz="1800" dirty="0"/>
              <a:t>Responsible SA for Brazil Engineering Hub: Rafael S Almeida</a:t>
            </a:r>
          </a:p>
          <a:p>
            <a:pPr>
              <a:spcBef>
                <a:spcPts val="200"/>
              </a:spcBef>
              <a:spcAft>
                <a:spcPts val="0"/>
              </a:spcAft>
            </a:pPr>
            <a:endParaRPr lang="en-ZA" sz="1600" dirty="0"/>
          </a:p>
          <a:p>
            <a:pPr>
              <a:spcBef>
                <a:spcPts val="200"/>
              </a:spcBef>
              <a:spcAft>
                <a:spcPts val="0"/>
              </a:spcAft>
            </a:pPr>
            <a:r>
              <a:rPr lang="en-ZA" sz="1600" dirty="0"/>
              <a:t>Date:  2026-08-21</a:t>
            </a:r>
          </a:p>
          <a:p>
            <a:pPr>
              <a:spcBef>
                <a:spcPts val="200"/>
              </a:spcBef>
              <a:spcAft>
                <a:spcPts val="0"/>
              </a:spcAft>
            </a:pPr>
            <a:endParaRPr lang="en-ZA" sz="2000" dirty="0"/>
          </a:p>
        </p:txBody>
      </p:sp>
    </p:spTree>
    <p:extLst>
      <p:ext uri="{BB962C8B-B14F-4D97-AF65-F5344CB8AC3E}">
        <p14:creationId xmlns:p14="http://schemas.microsoft.com/office/powerpoint/2010/main" val="3946388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309DA7-7BF8-4786-68FE-29757129B008}"/>
              </a:ext>
            </a:extLst>
          </p:cNvPr>
          <p:cNvSpPr>
            <a:spLocks noGrp="1"/>
          </p:cNvSpPr>
          <p:nvPr>
            <p:ph type="title"/>
          </p:nvPr>
        </p:nvSpPr>
        <p:spPr/>
        <p:txBody>
          <a:bodyPr/>
          <a:lstStyle/>
          <a:p>
            <a:r>
              <a:rPr lang="en-US">
                <a:latin typeface="Segoe UI Semibold"/>
                <a:cs typeface="Segoe UI Semibold"/>
              </a:rPr>
              <a:t>Conditions for Brazil Engineering Hub Staffing</a:t>
            </a:r>
            <a:endParaRPr lang="en-US"/>
          </a:p>
        </p:txBody>
      </p:sp>
      <p:sp>
        <p:nvSpPr>
          <p:cNvPr id="4" name="Slide Number Placeholder 3">
            <a:extLst>
              <a:ext uri="{FF2B5EF4-FFF2-40B4-BE49-F238E27FC236}">
                <a16:creationId xmlns:a16="http://schemas.microsoft.com/office/drawing/2014/main" id="{C528B917-D321-F49D-0193-6E0B29D1DBEA}"/>
              </a:ext>
            </a:extLst>
          </p:cNvPr>
          <p:cNvSpPr>
            <a:spLocks noGrp="1"/>
          </p:cNvSpPr>
          <p:nvPr>
            <p:ph type="sldNum" sz="quarter" idx="10"/>
          </p:nvPr>
        </p:nvSpPr>
        <p:spPr/>
        <p:txBody>
          <a:bodyPr/>
          <a:lstStyle/>
          <a:p>
            <a:endParaRPr lang="en-US"/>
          </a:p>
        </p:txBody>
      </p:sp>
      <p:graphicFrame>
        <p:nvGraphicFramePr>
          <p:cNvPr id="5" name="Content Placeholder 4">
            <a:extLst>
              <a:ext uri="{FF2B5EF4-FFF2-40B4-BE49-F238E27FC236}">
                <a16:creationId xmlns:a16="http://schemas.microsoft.com/office/drawing/2014/main" id="{956DCBDF-D18A-DE81-87A1-4310F30528C3}"/>
              </a:ext>
            </a:extLst>
          </p:cNvPr>
          <p:cNvGraphicFramePr>
            <a:graphicFrameLocks noGrp="1"/>
          </p:cNvGraphicFramePr>
          <p:nvPr>
            <p:ph idx="1"/>
          </p:nvPr>
        </p:nvGraphicFramePr>
        <p:xfrm>
          <a:off x="692150" y="1280160"/>
          <a:ext cx="10783228" cy="3992880"/>
        </p:xfrm>
        <a:graphic>
          <a:graphicData uri="http://schemas.openxmlformats.org/drawingml/2006/table">
            <a:tbl>
              <a:tblPr firstRow="1" bandRow="1">
                <a:tableStyleId>{EB344D84-9AFB-497E-A393-DC336BA19D2E}</a:tableStyleId>
              </a:tblPr>
              <a:tblGrid>
                <a:gridCol w="2176678">
                  <a:extLst>
                    <a:ext uri="{9D8B030D-6E8A-4147-A177-3AD203B41FA5}">
                      <a16:colId xmlns:a16="http://schemas.microsoft.com/office/drawing/2014/main" val="144799638"/>
                    </a:ext>
                  </a:extLst>
                </a:gridCol>
                <a:gridCol w="8606550">
                  <a:extLst>
                    <a:ext uri="{9D8B030D-6E8A-4147-A177-3AD203B41FA5}">
                      <a16:colId xmlns:a16="http://schemas.microsoft.com/office/drawing/2014/main" val="495193253"/>
                    </a:ext>
                  </a:extLst>
                </a:gridCol>
              </a:tblGrid>
              <a:tr h="0">
                <a:tc>
                  <a:txBody>
                    <a:bodyPr/>
                    <a:lstStyle/>
                    <a:p>
                      <a:r>
                        <a:rPr lang="en-GB" sz="1800">
                          <a:latin typeface="Segoe UI Variable Text" pitchFamily="2" charset="0"/>
                        </a:rPr>
                        <a:t>Topic</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tc>
                  <a:txBody>
                    <a:bodyPr/>
                    <a:lstStyle/>
                    <a:p>
                      <a:r>
                        <a:rPr lang="en-GB" sz="1800">
                          <a:latin typeface="Segoe UI Variable Text" pitchFamily="2" charset="0"/>
                        </a:rPr>
                        <a:t>Condition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763206497"/>
                  </a:ext>
                </a:extLst>
              </a:tr>
              <a:tr h="142702">
                <a:tc>
                  <a:txBody>
                    <a:bodyPr/>
                    <a:lstStyle/>
                    <a:p>
                      <a:pPr marL="0" algn="l" defTabSz="914400" rtl="0" eaLnBrk="1" latinLnBrk="0" hangingPunct="1"/>
                      <a:r>
                        <a:rPr kumimoji="0" lang="en-GB" sz="1600" b="0" i="0" u="none" strike="noStrike" kern="1200" cap="none" spc="0" normalizeH="0" baseline="0">
                          <a:ln>
                            <a:noFill/>
                          </a:ln>
                          <a:solidFill>
                            <a:schemeClr val="tx1"/>
                          </a:solidFill>
                          <a:effectLst/>
                          <a:uLnTx/>
                          <a:uFillTx/>
                          <a:latin typeface="Segoe UI Variable Text" pitchFamily="2" charset="0"/>
                          <a:ea typeface="+mn-ea"/>
                          <a:cs typeface="+mn-cs"/>
                        </a:rPr>
                        <a:t>Resource Availability</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kumimoji="0" lang="en-US" sz="1600" b="0" i="0" u="none" strike="noStrike" kern="1200" cap="none" spc="0" normalizeH="0" baseline="0">
                          <a:ln>
                            <a:noFill/>
                          </a:ln>
                          <a:solidFill>
                            <a:schemeClr val="tx1"/>
                          </a:solidFill>
                          <a:effectLst/>
                          <a:uLnTx/>
                          <a:uFillTx/>
                          <a:latin typeface="Segoe UI Variable Text" pitchFamily="2" charset="0"/>
                          <a:ea typeface="+mn-ea"/>
                          <a:cs typeface="+mn-cs"/>
                        </a:rPr>
                        <a:t>This solution summary does not guarantee resource availability. BEH staffing must be confirmed at contract signature; the AVA Fabric Factory pod is a shared service allocated by wave.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3190747"/>
                  </a:ext>
                </a:extLst>
              </a:tr>
              <a:tr h="142702">
                <a:tc>
                  <a:txBody>
                    <a:bodyPr/>
                    <a:lstStyle/>
                    <a:p>
                      <a:pPr marL="0" algn="l" defTabSz="914400" rtl="0" eaLnBrk="1" latinLnBrk="0" hangingPunct="1"/>
                      <a:r>
                        <a:rPr kumimoji="0" lang="en-GB" sz="1600" b="0" i="0" u="none" strike="noStrike" kern="1200" cap="none" spc="0" normalizeH="0" baseline="0">
                          <a:ln>
                            <a:noFill/>
                          </a:ln>
                          <a:solidFill>
                            <a:schemeClr val="tx1"/>
                          </a:solidFill>
                          <a:effectLst/>
                          <a:uLnTx/>
                          <a:uFillTx/>
                          <a:latin typeface="Segoe UI Variable Text" pitchFamily="2" charset="0"/>
                          <a:ea typeface="+mn-ea"/>
                          <a:cs typeface="+mn-cs"/>
                        </a:rPr>
                        <a:t>Extension Requests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algn="l" defTabSz="914400" rtl="0" eaLnBrk="1" latinLnBrk="0" hangingPunct="1"/>
                      <a:r>
                        <a:rPr kumimoji="0" lang="en-US" sz="1600" b="0" i="0" u="none" strike="noStrike" kern="1200" cap="none" spc="0" normalizeH="0" baseline="0">
                          <a:ln>
                            <a:noFill/>
                          </a:ln>
                          <a:solidFill>
                            <a:schemeClr val="tx1"/>
                          </a:solidFill>
                          <a:effectLst/>
                          <a:uLnTx/>
                          <a:uFillTx/>
                          <a:latin typeface="Segoe UI Variable Text" pitchFamily="2" charset="0"/>
                          <a:ea typeface="+mn-ea"/>
                          <a:cs typeface="+mn-cs"/>
                        </a:rPr>
                        <a:t>Allocation extensions must be requested with a minimum of 4 weeks' notice. Extending the PoC beyond 4 weeks re-opens the fixed price.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863474"/>
                  </a:ext>
                </a:extLst>
              </a:tr>
              <a:tr h="142702">
                <a:tc>
                  <a:txBody>
                    <a:bodyPr/>
                    <a:lstStyle/>
                    <a:p>
                      <a:r>
                        <a:rPr lang="en-GB" sz="1600">
                          <a:solidFill>
                            <a:schemeClr val="tx1"/>
                          </a:solidFill>
                          <a:latin typeface="Segoe UI Variable Text" pitchFamily="2" charset="0"/>
                        </a:rPr>
                        <a:t>Early termination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sz="1600">
                          <a:solidFill>
                            <a:schemeClr val="tx1"/>
                          </a:solidFill>
                          <a:latin typeface="Segoe UI Variable Text" pitchFamily="2" charset="0"/>
                        </a:rPr>
                        <a:t>If the allocation is terminated early, remaining notice period is charged. Artefacts already produced by executed phases are delivered as-is.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971430"/>
                  </a:ext>
                </a:extLst>
              </a:tr>
              <a:tr h="142702">
                <a:tc>
                  <a:txBody>
                    <a:bodyPr/>
                    <a:lstStyle/>
                    <a:p>
                      <a:r>
                        <a:rPr lang="en-GB" sz="1600">
                          <a:solidFill>
                            <a:schemeClr val="tx1"/>
                          </a:solidFill>
                          <a:latin typeface="Segoe UI Variable Text" pitchFamily="2" charset="0"/>
                        </a:rPr>
                        <a:t>WBS and charging hours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Resources need a WBS level 2 aligned to Avanade Brazil before mobilization. Hours are charged per the BEH Staffing table (800 h total).</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1999725"/>
                  </a:ext>
                </a:extLst>
              </a:tr>
              <a:tr h="142702">
                <a:tc>
                  <a:txBody>
                    <a:bodyPr/>
                    <a:lstStyle/>
                    <a:p>
                      <a:r>
                        <a:rPr lang="en-GB" sz="1600">
                          <a:solidFill>
                            <a:schemeClr val="tx1"/>
                          </a:solidFill>
                          <a:latin typeface="Segoe UI Variable Text" pitchFamily="2" charset="0"/>
                        </a:rPr>
                        <a:t>AI execution environment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The AI model must run in an environment approved by the bank (dedicated tenant or bank VPC), defined and homologated in Week 1 — the single largest schedule risk.</a:t>
                      </a:r>
                      <a:endParaRPr lang="en-GB" sz="1600">
                        <a:solidFill>
                          <a:schemeClr val="tx1"/>
                        </a:solidFill>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551720"/>
                  </a:ext>
                </a:extLst>
              </a:tr>
              <a:tr h="142702">
                <a:tc>
                  <a:txBody>
                    <a:bodyPr/>
                    <a:lstStyle/>
                    <a:p>
                      <a:r>
                        <a:rPr lang="en-GB" sz="1600">
                          <a:solidFill>
                            <a:schemeClr val="tx1"/>
                          </a:solidFill>
                          <a:latin typeface="Segoe UI Variable Text" pitchFamily="2" charset="0"/>
                        </a:rPr>
                        <a:t>Source code and IP</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The bank grants read access to the legacy repository. Client source code is never used for model training. IP of generated artefacts belongs to the bank; the platform remains Avanade's.</a:t>
                      </a:r>
                      <a:endParaRPr lang="en-GB" sz="1600">
                        <a:solidFill>
                          <a:schemeClr val="tx1"/>
                        </a:solidFill>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551720"/>
                  </a:ext>
                </a:extLst>
              </a:tr>
              <a:tr h="142702">
                <a:tc>
                  <a:txBody>
                    <a:bodyPr/>
                    <a:lstStyle/>
                    <a:p>
                      <a:r>
                        <a:rPr lang="en-GB" sz="1600">
                          <a:solidFill>
                            <a:schemeClr val="tx1"/>
                          </a:solidFill>
                          <a:latin typeface="Segoe UI Variable Text" pitchFamily="2" charset="0"/>
                        </a:rPr>
                        <a:t>Platform version freeze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The AVA Fabric platform version is frozen for the duration of the PoC. Upgrades are applied only after the executive readout.</a:t>
                      </a:r>
                      <a:endParaRPr lang="en-GB" sz="1600">
                        <a:solidFill>
                          <a:schemeClr val="tx1"/>
                        </a:solidFill>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551720"/>
                  </a:ext>
                </a:extLst>
              </a:tr>
              <a:tr h="142702">
                <a:tc>
                  <a:txBody>
                    <a:bodyPr/>
                    <a:lstStyle/>
                    <a:p>
                      <a:r>
                        <a:rPr lang="en-GB" sz="1600">
                          <a:solidFill>
                            <a:schemeClr val="tx1"/>
                          </a:solidFill>
                          <a:latin typeface="Segoe UI Variable Text" pitchFamily="2" charset="0"/>
                        </a:rPr>
                        <a:t>Expenses added</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GB" sz="1600">
                          <a:solidFill>
                            <a:schemeClr val="tx1"/>
                          </a:solidFill>
                          <a:latin typeface="Segoe UI Variable Text" pitchFamily="2" charset="0"/>
                        </a:rPr>
                        <a:t>Azure infrastructure (~US$ 400 for 4 weeks) and AI model consumption (~US$ 600) are passed through at cost.</a:t>
                      </a:r>
                      <a:endParaRPr lang="en-GB" sz="1600">
                        <a:solidFill>
                          <a:schemeClr val="tx1"/>
                        </a:solidFill>
                        <a:latin typeface="Segoe UI Variable Text" pitchFamily="2" charset="0"/>
                      </a:endParaRP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3551720"/>
                  </a:ext>
                </a:extLst>
              </a:tr>
            </a:tbl>
          </a:graphicData>
        </a:graphic>
      </p:graphicFrame>
    </p:spTree>
    <p:extLst>
      <p:ext uri="{BB962C8B-B14F-4D97-AF65-F5344CB8AC3E}">
        <p14:creationId xmlns:p14="http://schemas.microsoft.com/office/powerpoint/2010/main" val="225526553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45ADD6-13CB-2149-649A-AC590EBD2EB7}"/>
              </a:ext>
            </a:extLst>
          </p:cNvPr>
          <p:cNvSpPr>
            <a:spLocks noGrp="1"/>
          </p:cNvSpPr>
          <p:nvPr>
            <p:ph type="sldNum" sz="quarter" idx="10"/>
          </p:nvPr>
        </p:nvSpPr>
        <p:spPr>
          <a:prstGeom prst="rect">
            <a:avLst/>
          </a:prstGeom>
        </p:spPr>
        <p:txBody>
          <a:bodyPr/>
          <a:lstStyle/>
          <a:p>
            <a:fld id="{3847DB54-D037-B84F-B6F1-2E8DA40D09AD}" type="slidenum">
              <a:rPr lang="en-US" smtClean="0"/>
              <a:pPr/>
              <a:t>5</a:t>
            </a:fld>
            <a:endParaRPr lang="en-US"/>
          </a:p>
        </p:txBody>
      </p:sp>
      <p:sp>
        <p:nvSpPr>
          <p:cNvPr id="4" name="Title 3">
            <a:extLst>
              <a:ext uri="{FF2B5EF4-FFF2-40B4-BE49-F238E27FC236}">
                <a16:creationId xmlns:a16="http://schemas.microsoft.com/office/drawing/2014/main" id="{602BB980-45D1-5472-F76C-BC266216AAED}"/>
              </a:ext>
            </a:extLst>
          </p:cNvPr>
          <p:cNvSpPr>
            <a:spLocks noGrp="1"/>
          </p:cNvSpPr>
          <p:nvPr>
            <p:ph type="title" idx="4294967295"/>
          </p:nvPr>
        </p:nvSpPr>
        <p:spPr>
          <a:xfrm>
            <a:off x="0" y="457200"/>
            <a:ext cx="11201400" cy="987425"/>
          </a:xfrm>
        </p:spPr>
        <p:txBody>
          <a:bodyPr/>
          <a:lstStyle/>
          <a:p>
            <a:r>
              <a:rPr lang="en-US" sz="4000"/>
              <a:t>BEH - Solution on a Page</a:t>
            </a:r>
          </a:p>
        </p:txBody>
      </p:sp>
      <p:sp>
        <p:nvSpPr>
          <p:cNvPr id="11" name="Rectangle 10">
            <a:extLst>
              <a:ext uri="{FF2B5EF4-FFF2-40B4-BE49-F238E27FC236}">
                <a16:creationId xmlns:a16="http://schemas.microsoft.com/office/drawing/2014/main" id="{0909058C-6561-0720-BD51-46BE733F684F}"/>
              </a:ext>
            </a:extLst>
          </p:cNvPr>
          <p:cNvSpPr/>
          <p:nvPr/>
        </p:nvSpPr>
        <p:spPr>
          <a:xfrm>
            <a:off x="510582" y="1399079"/>
            <a:ext cx="3346584" cy="3477875"/>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85"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7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754"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339"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924" algn="l" defTabSz="609585" rtl="0" eaLnBrk="1" latinLnBrk="0" hangingPunct="1">
              <a:defRPr kern="1200">
                <a:solidFill>
                  <a:schemeClr val="tx1"/>
                </a:solidFill>
                <a:latin typeface="Arial" charset="0"/>
                <a:ea typeface="ＭＳ Ｐゴシック" charset="0"/>
                <a:cs typeface="ＭＳ Ｐゴシック" charset="0"/>
              </a:defRPr>
            </a:lvl6pPr>
            <a:lvl7pPr marL="3657509" algn="l" defTabSz="609585" rtl="0" eaLnBrk="1" latinLnBrk="0" hangingPunct="1">
              <a:defRPr kern="1200">
                <a:solidFill>
                  <a:schemeClr val="tx1"/>
                </a:solidFill>
                <a:latin typeface="Arial" charset="0"/>
                <a:ea typeface="ＭＳ Ｐゴシック" charset="0"/>
                <a:cs typeface="ＭＳ Ｐゴシック" charset="0"/>
              </a:defRPr>
            </a:lvl7pPr>
            <a:lvl8pPr marL="4267093" algn="l" defTabSz="609585" rtl="0" eaLnBrk="1" latinLnBrk="0" hangingPunct="1">
              <a:defRPr kern="1200">
                <a:solidFill>
                  <a:schemeClr val="tx1"/>
                </a:solidFill>
                <a:latin typeface="Arial" charset="0"/>
                <a:ea typeface="ＭＳ Ｐゴシック" charset="0"/>
                <a:cs typeface="ＭＳ Ｐゴシック" charset="0"/>
              </a:defRPr>
            </a:lvl8pPr>
            <a:lvl9pPr marL="4876678" algn="l" defTabSz="609585" rtl="0" eaLnBrk="1" latinLnBrk="0" hangingPunct="1">
              <a:defRPr kern="1200">
                <a:solidFill>
                  <a:schemeClr val="tx1"/>
                </a:solidFill>
                <a:latin typeface="Arial" charset="0"/>
                <a:ea typeface="ＭＳ Ｐゴシック" charset="0"/>
                <a:cs typeface="ＭＳ Ｐゴシック" charset="0"/>
              </a:defRPr>
            </a:lvl9pPr>
          </a:lstStyle>
          <a:p>
            <a:pPr marL="171450" indent="-171450">
              <a:spcAft>
                <a:spcPts val="300"/>
              </a:spcAft>
              <a:buFont typeface="Arial" panose="020B0604020202020204" pitchFamily="34" charset="0"/>
              <a:buChar char="•"/>
            </a:pPr>
            <a:r>
              <a:rPr lang="en-US" sz="1000" dirty="0">
                <a:latin typeface="Segoe UI"/>
                <a:cs typeface="Segoe UI"/>
              </a:rPr>
              <a:t>Run the AVA Fabric Agents pipeline end-to-end (F0→F3S) over one legacy banking application selected as pilot.</a:t>
            </a:r>
          </a:p>
          <a:p>
            <a:pPr marL="171450" indent="-171450">
              <a:spcAft>
                <a:spcPts val="300"/>
              </a:spcAft>
              <a:buFont typeface="Arial" panose="020B0604020202020204" pitchFamily="34" charset="0"/>
              <a:buChar char="•"/>
            </a:pPr>
            <a:r>
              <a:rPr lang="en-US" sz="1000" dirty="0">
                <a:latin typeface="Segoe UI"/>
                <a:cs typeface="Segoe UI"/>
              </a:rPr>
              <a:t>F0/F1 — AST-based extraction and AS-IS diagnostic: inventory, architecture blueprint, bounded contexts, database analysis, business-rule catalogue, security and gap/risk registers.</a:t>
            </a:r>
          </a:p>
          <a:p>
            <a:pPr marL="171450" indent="-171450">
              <a:spcAft>
                <a:spcPts val="300"/>
              </a:spcAft>
              <a:buFont typeface="Arial" panose="020B0604020202020204" pitchFamily="34" charset="0"/>
              <a:buChar char="•"/>
            </a:pPr>
            <a:r>
              <a:rPr lang="en-US" sz="1000" dirty="0">
                <a:latin typeface="Segoe UI"/>
                <a:cs typeface="Segoe UI"/>
              </a:rPr>
              <a:t>F2 — TO-BE architecture: C4 diagrams, ADRs, OpenAPI contracts per bounded context, wave model, migration plan and formal effort estimate (FP/SP/hours).</a:t>
            </a:r>
          </a:p>
          <a:p>
            <a:pPr marL="171450" indent="-171450">
              <a:spcAft>
                <a:spcPts val="300"/>
              </a:spcAft>
              <a:buFont typeface="Arial" panose="020B0604020202020204" pitchFamily="34" charset="0"/>
              <a:buChar char="•"/>
            </a:pPr>
            <a:r>
              <a:rPr lang="en-US" sz="1000" dirty="0">
                <a:latin typeface="Segoe UI"/>
                <a:cs typeface="Segoe UI"/>
              </a:rPr>
              <a:t>F3 — Navigable prototype for business validation before any code exists.</a:t>
            </a:r>
          </a:p>
          <a:p>
            <a:pPr marL="171450" indent="-171450">
              <a:spcAft>
                <a:spcPts val="300"/>
              </a:spcAft>
              <a:buFont typeface="Arial" panose="020B0604020202020204" pitchFamily="34" charset="0"/>
              <a:buChar char="•"/>
            </a:pPr>
            <a:r>
              <a:rPr lang="en-US" sz="1000" dirty="0">
                <a:latin typeface="Segoe UI"/>
                <a:cs typeface="Segoe UI"/>
              </a:rPr>
              <a:t>F3S — SpecKit: constitution, specifications, plans and an executable, fully traceable backlog.</a:t>
            </a:r>
          </a:p>
          <a:p>
            <a:pPr marL="171450" indent="-171450">
              <a:spcAft>
                <a:spcPts val="300"/>
              </a:spcAft>
              <a:buFont typeface="Arial" panose="020B0604020202020204" pitchFamily="34" charset="0"/>
              <a:buChar char="•"/>
            </a:pPr>
            <a:r>
              <a:rPr lang="en-US" sz="1000" dirty="0">
                <a:latin typeface="Segoe UI"/>
                <a:cs typeface="Segoe UI"/>
              </a:rPr>
              <a:t>F4 — Assisted code generation limited to ONE pilot bounded context (.NET 8 + Angular), with a human developer on the build gate.</a:t>
            </a:r>
          </a:p>
          <a:p>
            <a:pPr marL="171450" indent="-171450">
              <a:spcAft>
                <a:spcPts val="300"/>
              </a:spcAft>
              <a:buFont typeface="Arial" panose="020B0604020202020204" pitchFamily="34" charset="0"/>
              <a:buChar char="•"/>
            </a:pPr>
            <a:r>
              <a:rPr lang="en-US" sz="1000" dirty="0">
                <a:latin typeface="Segoe UI"/>
                <a:cs typeface="Segoe UI"/>
              </a:rPr>
              <a:t>F5/F6 — Test plan and Terraform IaC for the pilot bounded context only.</a:t>
            </a:r>
          </a:p>
          <a:p>
            <a:pPr marL="171450" indent="-171450">
              <a:spcAft>
                <a:spcPts val="300"/>
              </a:spcAft>
              <a:buFont typeface="Arial" panose="020B0604020202020204" pitchFamily="34" charset="0"/>
              <a:buChar char="•"/>
            </a:pPr>
            <a:r>
              <a:rPr lang="en-US" sz="1000" dirty="0">
                <a:latin typeface="Segoe UI"/>
                <a:cs typeface="Segoe UI"/>
              </a:rPr>
              <a:t>F7 — Security &amp; Compliance report (LGPD Arts. 46-50, OWASP, STRIDE, Wave-4 pentest checklist) with CISO and DPO sign-off lines.</a:t>
            </a:r>
          </a:p>
          <a:p>
            <a:pPr marL="171450" indent="-171450">
              <a:spcAft>
                <a:spcPts val="300"/>
              </a:spcAft>
              <a:buFont typeface="Arial" panose="020B0604020202020204" pitchFamily="34" charset="0"/>
              <a:buChar char="•"/>
            </a:pPr>
            <a:r>
              <a:rPr lang="en-US" sz="1000" dirty="0">
                <a:latin typeface="Segoe UI"/>
                <a:cs typeface="Segoe UI"/>
              </a:rPr>
              <a:t>Executive readout with adherence report and modernization roadmap recommendation.</a:t>
            </a:r>
            <a:endParaRPr lang="en-ZA" sz="1000" dirty="0">
              <a:latin typeface="Segoe UI"/>
              <a:cs typeface="Segoe UI"/>
            </a:endParaRPr>
          </a:p>
        </p:txBody>
      </p:sp>
      <p:sp>
        <p:nvSpPr>
          <p:cNvPr id="12" name="Rectangle 11">
            <a:extLst>
              <a:ext uri="{FF2B5EF4-FFF2-40B4-BE49-F238E27FC236}">
                <a16:creationId xmlns:a16="http://schemas.microsoft.com/office/drawing/2014/main" id="{5F400F18-F1CC-23B0-33DB-B3C76B306A0B}"/>
              </a:ext>
            </a:extLst>
          </p:cNvPr>
          <p:cNvSpPr/>
          <p:nvPr/>
        </p:nvSpPr>
        <p:spPr>
          <a:xfrm>
            <a:off x="4056822" y="1399079"/>
            <a:ext cx="3933401" cy="1400383"/>
          </a:xfrm>
          <a:prstGeom prst="rect">
            <a:avLst/>
          </a:prstGeom>
        </p:spPr>
        <p:txBody>
          <a:bodyPr wrap="square" lIns="91440" tIns="45720" rIns="91440" bIns="45720" anchor="t">
            <a:spAutoFit/>
          </a:bodyPr>
          <a:ls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85"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7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754"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339"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924" algn="l" defTabSz="609585" rtl="0" eaLnBrk="1" latinLnBrk="0" hangingPunct="1">
              <a:defRPr kern="1200">
                <a:solidFill>
                  <a:schemeClr val="tx1"/>
                </a:solidFill>
                <a:latin typeface="Arial" charset="0"/>
                <a:ea typeface="ＭＳ Ｐゴシック" charset="0"/>
                <a:cs typeface="ＭＳ Ｐゴシック" charset="0"/>
              </a:defRPr>
            </a:lvl6pPr>
            <a:lvl7pPr marL="3657509" algn="l" defTabSz="609585" rtl="0" eaLnBrk="1" latinLnBrk="0" hangingPunct="1">
              <a:defRPr kern="1200">
                <a:solidFill>
                  <a:schemeClr val="tx1"/>
                </a:solidFill>
                <a:latin typeface="Arial" charset="0"/>
                <a:ea typeface="ＭＳ Ｐゴシック" charset="0"/>
                <a:cs typeface="ＭＳ Ｐゴシック" charset="0"/>
              </a:defRPr>
            </a:lvl7pPr>
            <a:lvl8pPr marL="4267093" algn="l" defTabSz="609585" rtl="0" eaLnBrk="1" latinLnBrk="0" hangingPunct="1">
              <a:defRPr kern="1200">
                <a:solidFill>
                  <a:schemeClr val="tx1"/>
                </a:solidFill>
                <a:latin typeface="Arial" charset="0"/>
                <a:ea typeface="ＭＳ Ｐゴシック" charset="0"/>
                <a:cs typeface="ＭＳ Ｐゴシック" charset="0"/>
              </a:defRPr>
            </a:lvl8pPr>
            <a:lvl9pPr marL="4876678" algn="l" defTabSz="609585" rtl="0" eaLnBrk="1" latinLnBrk="0" hangingPunct="1">
              <a:defRPr kern="1200">
                <a:solidFill>
                  <a:schemeClr val="tx1"/>
                </a:solidFill>
                <a:latin typeface="Arial" charset="0"/>
                <a:ea typeface="ＭＳ Ｐゴシック" charset="0"/>
                <a:cs typeface="ＭＳ Ｐゴシック" charset="0"/>
              </a:defRPr>
            </a:lvl9pPr>
          </a:lstStyle>
          <a:p>
            <a:pPr marL="171450" indent="-171450">
              <a:spcAft>
                <a:spcPts val="600"/>
              </a:spcAft>
              <a:buFont typeface="Arial" panose="020B0604020202020204" pitchFamily="34" charset="0"/>
              <a:buChar char="•"/>
            </a:pPr>
            <a:r>
              <a:rPr lang="en-US" sz="1000" dirty="0">
                <a:latin typeface="Segoe UI"/>
                <a:cs typeface="Segoe UI"/>
              </a:rPr>
              <a:t>Calibrated on a measured end-to-end run of the same pipeline (project nopcommerce-04, Aug 2026)</a:t>
            </a:r>
          </a:p>
          <a:p>
            <a:pPr marL="171450" indent="-171450">
              <a:spcAft>
                <a:spcPts val="600"/>
              </a:spcAft>
              <a:buFont typeface="Arial" panose="020B0604020202020204" pitchFamily="34" charset="0"/>
              <a:buChar char="•"/>
            </a:pPr>
            <a:r>
              <a:rPr lang="en-US" sz="1000" dirty="0">
                <a:latin typeface="Segoe UI"/>
                <a:ea typeface="ＭＳ Ｐゴシック"/>
                <a:cs typeface="Segoe UI"/>
              </a:rPr>
              <a:t>Fixed 4-week timeline; fixed price; 4 quality gates</a:t>
            </a:r>
          </a:p>
          <a:p>
            <a:pPr marL="171450" indent="-171450">
              <a:spcAft>
                <a:spcPts val="600"/>
              </a:spcAft>
              <a:buFont typeface="Arial" panose="020B0604020202020204" pitchFamily="34" charset="0"/>
              <a:buChar char="•"/>
            </a:pPr>
            <a:r>
              <a:rPr lang="en-US" sz="1000" dirty="0">
                <a:latin typeface="Segoe UI"/>
                <a:cs typeface="Segoe UI"/>
              </a:rPr>
              <a:t>One pilot application; one pilot bounded context for codegen</a:t>
            </a:r>
          </a:p>
          <a:p>
            <a:pPr marL="171450" indent="-171450">
              <a:spcAft>
                <a:spcPts val="600"/>
              </a:spcAft>
              <a:buFont typeface="Arial" panose="020B0604020202020204" pitchFamily="34" charset="0"/>
              <a:buChar char="•"/>
            </a:pPr>
            <a:r>
              <a:rPr lang="en-US" sz="1000" dirty="0">
                <a:latin typeface="Segoe UI"/>
                <a:cs typeface="Segoe UI"/>
              </a:rPr>
              <a:t>Target stack .NET 8 + Angular (the two GA codegen stacks)</a:t>
            </a:r>
          </a:p>
        </p:txBody>
      </p:sp>
      <p:sp>
        <p:nvSpPr>
          <p:cNvPr id="13" name="Rectangle 12">
            <a:extLst>
              <a:ext uri="{FF2B5EF4-FFF2-40B4-BE49-F238E27FC236}">
                <a16:creationId xmlns:a16="http://schemas.microsoft.com/office/drawing/2014/main" id="{4185CDF1-3979-21C1-E153-06AFAAFFAED2}"/>
              </a:ext>
            </a:extLst>
          </p:cNvPr>
          <p:cNvSpPr/>
          <p:nvPr/>
        </p:nvSpPr>
        <p:spPr>
          <a:xfrm>
            <a:off x="8280125" y="1399080"/>
            <a:ext cx="3456000" cy="3431709"/>
          </a:xfrm>
          <a:prstGeom prst="rect">
            <a:avLst/>
          </a:prstGeom>
        </p:spPr>
        <p:txBody>
          <a:bodyPr wrap="square" lIns="91440" tIns="45720" rIns="91440" bIns="45720" anchor="t">
            <a:spAutoFit/>
          </a:bodyPr>
          <a:ls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85"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7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754"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339"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924" algn="l" defTabSz="609585" rtl="0" eaLnBrk="1" latinLnBrk="0" hangingPunct="1">
              <a:defRPr kern="1200">
                <a:solidFill>
                  <a:schemeClr val="tx1"/>
                </a:solidFill>
                <a:latin typeface="Arial" charset="0"/>
                <a:ea typeface="ＭＳ Ｐゴシック" charset="0"/>
                <a:cs typeface="ＭＳ Ｐゴシック" charset="0"/>
              </a:defRPr>
            </a:lvl6pPr>
            <a:lvl7pPr marL="3657509" algn="l" defTabSz="609585" rtl="0" eaLnBrk="1" latinLnBrk="0" hangingPunct="1">
              <a:defRPr kern="1200">
                <a:solidFill>
                  <a:schemeClr val="tx1"/>
                </a:solidFill>
                <a:latin typeface="Arial" charset="0"/>
                <a:ea typeface="ＭＳ Ｐゴシック" charset="0"/>
                <a:cs typeface="ＭＳ Ｐゴシック" charset="0"/>
              </a:defRPr>
            </a:lvl7pPr>
            <a:lvl8pPr marL="4267093" algn="l" defTabSz="609585" rtl="0" eaLnBrk="1" latinLnBrk="0" hangingPunct="1">
              <a:defRPr kern="1200">
                <a:solidFill>
                  <a:schemeClr val="tx1"/>
                </a:solidFill>
                <a:latin typeface="Arial" charset="0"/>
                <a:ea typeface="ＭＳ Ｐゴシック" charset="0"/>
                <a:cs typeface="ＭＳ Ｐゴシック" charset="0"/>
              </a:defRPr>
            </a:lvl8pPr>
            <a:lvl9pPr marL="4876678" algn="l" defTabSz="609585" rtl="0" eaLnBrk="1" latinLnBrk="0" hangingPunct="1">
              <a:defRPr kern="1200">
                <a:solidFill>
                  <a:schemeClr val="tx1"/>
                </a:solidFill>
                <a:latin typeface="Arial" charset="0"/>
                <a:ea typeface="ＭＳ Ｐゴシック" charset="0"/>
                <a:cs typeface="ＭＳ Ｐゴシック" charset="0"/>
              </a:defRPr>
            </a:lvl9pPr>
          </a:lstStyle>
          <a:p>
            <a:pPr marL="171450" indent="-171450">
              <a:spcAft>
                <a:spcPts val="600"/>
              </a:spcAft>
              <a:buFont typeface="Arial" panose="020B0604020202020204" pitchFamily="34" charset="0"/>
              <a:buChar char="•"/>
            </a:pPr>
            <a:r>
              <a:rPr lang="en-US" sz="1000">
                <a:latin typeface="Segoe UI"/>
                <a:ea typeface="ＭＳ Ｐゴシック"/>
                <a:cs typeface="Segoe UI"/>
              </a:rPr>
              <a:t>A decision-grade modernization plan for the pilot application, auditable end to end</a:t>
            </a:r>
            <a:endParaRPr lang="en-US"/>
          </a:p>
          <a:p>
            <a:pPr marL="171450" indent="-171450">
              <a:spcAft>
                <a:spcPts val="600"/>
              </a:spcAft>
              <a:buFont typeface="Arial" panose="020B0604020202020204" pitchFamily="34" charset="0"/>
              <a:buChar char="•"/>
            </a:pPr>
            <a:r>
              <a:rPr lang="en-US" sz="1000">
                <a:latin typeface="Segoe UI"/>
                <a:ea typeface="ＭＳ Ｐゴシック"/>
                <a:cs typeface="Segoe UI"/>
              </a:rPr>
              <a:t>AS-IS Master Report + business-rule catalogue traceable to source code</a:t>
            </a:r>
            <a:endParaRPr lang="en-US" sz="1000">
              <a:latin typeface="Segoe UI"/>
              <a:cs typeface="Segoe UI"/>
            </a:endParaRPr>
          </a:p>
          <a:p>
            <a:pPr marL="171450" indent="-171450">
              <a:spcAft>
                <a:spcPts val="600"/>
              </a:spcAft>
              <a:buFont typeface="Arial" panose="020B0604020202020204" pitchFamily="34" charset="0"/>
              <a:buChar char="•"/>
            </a:pPr>
            <a:r>
              <a:rPr lang="en-US" sz="1000">
                <a:latin typeface="Segoe UI"/>
                <a:cs typeface="Segoe UI"/>
              </a:rPr>
              <a:t>TO-BE blueprint, 8 ADRs and OpenAPI contracts per bounded context</a:t>
            </a:r>
          </a:p>
          <a:p>
            <a:pPr marL="171450" indent="-171450">
              <a:spcAft>
                <a:spcPts val="600"/>
              </a:spcAft>
              <a:buFont typeface="Arial" panose="020B0604020202020204" pitchFamily="34" charset="0"/>
              <a:buChar char="•"/>
            </a:pPr>
            <a:r>
              <a:rPr lang="en-US" sz="1000">
                <a:latin typeface="Segoe UI"/>
                <a:ea typeface="ＭＳ Ｐゴシック"/>
                <a:cs typeface="Segoe UI"/>
              </a:rPr>
              <a:t>Formal effort estimate (FP → SP → hours) defensible at investment committee</a:t>
            </a:r>
          </a:p>
          <a:p>
            <a:pPr marL="171450" indent="-171450">
              <a:spcAft>
                <a:spcPts val="600"/>
              </a:spcAft>
              <a:buFont typeface="Arial" panose="020B0604020202020204" pitchFamily="34" charset="0"/>
              <a:buChar char="•"/>
            </a:pPr>
            <a:r>
              <a:rPr lang="en-US" sz="1000">
                <a:latin typeface="Segoe UI"/>
                <a:cs typeface="Segoe UI"/>
              </a:rPr>
              <a:t>Wave model and migration plan with coexistence (Strangler Fig) strategy</a:t>
            </a:r>
          </a:p>
          <a:p>
            <a:pPr marL="171450" indent="-171450">
              <a:spcAft>
                <a:spcPts val="600"/>
              </a:spcAft>
              <a:buFont typeface="Arial" panose="020B0604020202020204" pitchFamily="34" charset="0"/>
              <a:buChar char="•"/>
            </a:pPr>
            <a:r>
              <a:rPr lang="en-US" sz="1000">
                <a:latin typeface="Segoe UI"/>
                <a:cs typeface="Segoe UI"/>
              </a:rPr>
              <a:t>Executable backlog with acceptance criteria and dependency graph, consumable by the bank's own squads</a:t>
            </a:r>
          </a:p>
          <a:p>
            <a:pPr marL="171450" indent="-171450">
              <a:spcAft>
                <a:spcPts val="600"/>
              </a:spcAft>
              <a:buFont typeface="Arial" panose="020B0604020202020204" pitchFamily="34" charset="0"/>
              <a:buChar char="•"/>
            </a:pPr>
            <a:r>
              <a:rPr lang="en-US" sz="1000">
                <a:latin typeface="Segoe UI"/>
                <a:cs typeface="Segoe UI"/>
              </a:rPr>
              <a:t>Working modular code and Terraform IaC for the pilot bounded context</a:t>
            </a:r>
          </a:p>
          <a:p>
            <a:pPr marL="171450" indent="-171450">
              <a:spcAft>
                <a:spcPts val="600"/>
              </a:spcAft>
              <a:buFont typeface="Arial" panose="020B0604020202020204" pitchFamily="34" charset="0"/>
              <a:buChar char="•"/>
            </a:pPr>
            <a:r>
              <a:rPr lang="en-US" sz="1000">
                <a:latin typeface="Segoe UI"/>
                <a:cs typeface="Segoe UI"/>
              </a:rPr>
              <a:t>Security &amp; Compliance report ready for CISO / DPO review</a:t>
            </a:r>
          </a:p>
          <a:p>
            <a:pPr marL="171450" indent="-171450">
              <a:spcAft>
                <a:spcPts val="600"/>
              </a:spcAft>
              <a:buFont typeface="Arial" panose="020B0604020202020204" pitchFamily="34" charset="0"/>
              <a:buChar char="•"/>
            </a:pPr>
            <a:r>
              <a:rPr lang="en-US" sz="1000">
                <a:latin typeface="Segoe UI"/>
                <a:cs typeface="Segoe UI"/>
              </a:rPr>
              <a:t>Quantified answer to: what does it cost, how long does it take, and what is the risk</a:t>
            </a:r>
          </a:p>
        </p:txBody>
      </p:sp>
      <p:cxnSp>
        <p:nvCxnSpPr>
          <p:cNvPr id="15" name="Straight Connector 14">
            <a:extLst>
              <a:ext uri="{FF2B5EF4-FFF2-40B4-BE49-F238E27FC236}">
                <a16:creationId xmlns:a16="http://schemas.microsoft.com/office/drawing/2014/main" id="{4FDEADD4-2AB8-DE9E-6073-2D2D41FC98D1}"/>
              </a:ext>
            </a:extLst>
          </p:cNvPr>
          <p:cNvCxnSpPr/>
          <p:nvPr/>
        </p:nvCxnSpPr>
        <p:spPr>
          <a:xfrm>
            <a:off x="3871661" y="1494329"/>
            <a:ext cx="0" cy="3869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D900215-9759-86CD-86EF-4518BDBABB14}"/>
              </a:ext>
            </a:extLst>
          </p:cNvPr>
          <p:cNvCxnSpPr/>
          <p:nvPr/>
        </p:nvCxnSpPr>
        <p:spPr>
          <a:xfrm>
            <a:off x="8135179" y="1494329"/>
            <a:ext cx="0" cy="3869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6088C28-AFAD-3D45-E544-36D03DF6BFAF}"/>
              </a:ext>
            </a:extLst>
          </p:cNvPr>
          <p:cNvSpPr txBox="1"/>
          <p:nvPr/>
        </p:nvSpPr>
        <p:spPr>
          <a:xfrm>
            <a:off x="557476" y="1067422"/>
            <a:ext cx="806631" cy="369332"/>
          </a:xfrm>
          <a:prstGeom prst="rect">
            <a:avLst/>
          </a:prstGeom>
          <a:noFill/>
        </p:spPr>
        <p:txBody>
          <a:bodyPr wrap="none" rtlCol="0">
            <a:spAutoFit/>
          </a:bodyPr>
          <a:lstStyle/>
          <a:p>
            <a:r>
              <a:rPr lang="en-US"/>
              <a:t>Scope</a:t>
            </a:r>
          </a:p>
        </p:txBody>
      </p:sp>
      <p:sp>
        <p:nvSpPr>
          <p:cNvPr id="18" name="TextBox 17">
            <a:extLst>
              <a:ext uri="{FF2B5EF4-FFF2-40B4-BE49-F238E27FC236}">
                <a16:creationId xmlns:a16="http://schemas.microsoft.com/office/drawing/2014/main" id="{CD347684-FB4B-E411-A1D2-02AF292B19F9}"/>
              </a:ext>
            </a:extLst>
          </p:cNvPr>
          <p:cNvSpPr txBox="1"/>
          <p:nvPr/>
        </p:nvSpPr>
        <p:spPr>
          <a:xfrm>
            <a:off x="4314428" y="1067422"/>
            <a:ext cx="1813317" cy="369332"/>
          </a:xfrm>
          <a:prstGeom prst="rect">
            <a:avLst/>
          </a:prstGeom>
          <a:noFill/>
        </p:spPr>
        <p:txBody>
          <a:bodyPr wrap="none" rtlCol="0">
            <a:spAutoFit/>
          </a:bodyPr>
          <a:lstStyle/>
          <a:p>
            <a:r>
              <a:rPr lang="en-US"/>
              <a:t>Estimation Basis</a:t>
            </a:r>
          </a:p>
        </p:txBody>
      </p:sp>
      <p:sp>
        <p:nvSpPr>
          <p:cNvPr id="19" name="TextBox 18">
            <a:extLst>
              <a:ext uri="{FF2B5EF4-FFF2-40B4-BE49-F238E27FC236}">
                <a16:creationId xmlns:a16="http://schemas.microsoft.com/office/drawing/2014/main" id="{A76766A5-5575-6251-4E29-F67860C62017}"/>
              </a:ext>
            </a:extLst>
          </p:cNvPr>
          <p:cNvSpPr txBox="1"/>
          <p:nvPr/>
        </p:nvSpPr>
        <p:spPr>
          <a:xfrm>
            <a:off x="8280125" y="1067422"/>
            <a:ext cx="1125821" cy="369332"/>
          </a:xfrm>
          <a:prstGeom prst="rect">
            <a:avLst/>
          </a:prstGeom>
          <a:noFill/>
        </p:spPr>
        <p:txBody>
          <a:bodyPr wrap="none" rtlCol="0">
            <a:spAutoFit/>
          </a:bodyPr>
          <a:lstStyle/>
          <a:p>
            <a:r>
              <a:rPr lang="en-US"/>
              <a:t>Outcome</a:t>
            </a:r>
          </a:p>
        </p:txBody>
      </p:sp>
      <p:sp>
        <p:nvSpPr>
          <p:cNvPr id="21" name="TextBox 20">
            <a:extLst>
              <a:ext uri="{FF2B5EF4-FFF2-40B4-BE49-F238E27FC236}">
                <a16:creationId xmlns:a16="http://schemas.microsoft.com/office/drawing/2014/main" id="{4A480478-F190-4E63-8343-C879AF596250}"/>
              </a:ext>
            </a:extLst>
          </p:cNvPr>
          <p:cNvSpPr txBox="1"/>
          <p:nvPr/>
        </p:nvSpPr>
        <p:spPr>
          <a:xfrm>
            <a:off x="4247322" y="2751118"/>
            <a:ext cx="1372363" cy="369332"/>
          </a:xfrm>
          <a:prstGeom prst="rect">
            <a:avLst/>
          </a:prstGeom>
          <a:noFill/>
        </p:spPr>
        <p:txBody>
          <a:bodyPr wrap="none" rtlCol="0">
            <a:spAutoFit/>
          </a:bodyPr>
          <a:lstStyle/>
          <a:p>
            <a:r>
              <a:rPr lang="en-US"/>
              <a:t>Volumetrics</a:t>
            </a:r>
          </a:p>
        </p:txBody>
      </p:sp>
      <p:sp>
        <p:nvSpPr>
          <p:cNvPr id="22" name="Rectangle 21">
            <a:extLst>
              <a:ext uri="{FF2B5EF4-FFF2-40B4-BE49-F238E27FC236}">
                <a16:creationId xmlns:a16="http://schemas.microsoft.com/office/drawing/2014/main" id="{C5DAF829-ED23-17E0-AC0F-8A0281BC8C6A}"/>
              </a:ext>
            </a:extLst>
          </p:cNvPr>
          <p:cNvSpPr/>
          <p:nvPr/>
        </p:nvSpPr>
        <p:spPr>
          <a:xfrm>
            <a:off x="3886157" y="3120450"/>
            <a:ext cx="4234525" cy="3280350"/>
          </a:xfrm>
          <a:prstGeom prst="rect">
            <a:avLst/>
          </a:prstGeom>
        </p:spPr>
        <p:txBody>
          <a:bodyPr wrap="none" numCol="2" spcCol="180000">
            <a:noAutofit/>
          </a:bodyPr>
          <a:ls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85"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7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754"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339"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924" algn="l" defTabSz="609585" rtl="0" eaLnBrk="1" latinLnBrk="0" hangingPunct="1">
              <a:defRPr kern="1200">
                <a:solidFill>
                  <a:schemeClr val="tx1"/>
                </a:solidFill>
                <a:latin typeface="Arial" charset="0"/>
                <a:ea typeface="ＭＳ Ｐゴシック" charset="0"/>
                <a:cs typeface="ＭＳ Ｐゴシック" charset="0"/>
              </a:defRPr>
            </a:lvl6pPr>
            <a:lvl7pPr marL="3657509" algn="l" defTabSz="609585" rtl="0" eaLnBrk="1" latinLnBrk="0" hangingPunct="1">
              <a:defRPr kern="1200">
                <a:solidFill>
                  <a:schemeClr val="tx1"/>
                </a:solidFill>
                <a:latin typeface="Arial" charset="0"/>
                <a:ea typeface="ＭＳ Ｐゴシック" charset="0"/>
                <a:cs typeface="ＭＳ Ｐゴシック" charset="0"/>
              </a:defRPr>
            </a:lvl7pPr>
            <a:lvl8pPr marL="4267093" algn="l" defTabSz="609585" rtl="0" eaLnBrk="1" latinLnBrk="0" hangingPunct="1">
              <a:defRPr kern="1200">
                <a:solidFill>
                  <a:schemeClr val="tx1"/>
                </a:solidFill>
                <a:latin typeface="Arial" charset="0"/>
                <a:ea typeface="ＭＳ Ｐゴシック" charset="0"/>
                <a:cs typeface="ＭＳ Ｐゴシック" charset="0"/>
              </a:defRPr>
            </a:lvl8pPr>
            <a:lvl9pPr marL="4876678" algn="l" defTabSz="609585" rtl="0" eaLnBrk="1" latinLnBrk="0" hangingPunct="1">
              <a:defRPr kern="1200">
                <a:solidFill>
                  <a:schemeClr val="tx1"/>
                </a:solidFill>
                <a:latin typeface="Arial" charset="0"/>
                <a:ea typeface="ＭＳ Ｐゴシック" charset="0"/>
                <a:cs typeface="ＭＳ Ｐゴシック" charset="0"/>
              </a:defRPr>
            </a:lvl9pPr>
          </a:lstStyle>
          <a:p>
            <a:pPr marL="171450" indent="-171450">
              <a:spcAft>
                <a:spcPts val="600"/>
              </a:spcAft>
              <a:buFont typeface="Arial" panose="020B0604020202020204" pitchFamily="34" charset="0"/>
              <a:buChar char="•"/>
            </a:pPr>
            <a:r>
              <a:rPr lang="en-US" sz="900" dirty="0">
                <a:latin typeface="Segoe UI"/>
                <a:cs typeface="Segoe UI"/>
              </a:rPr>
              <a:t>Reference run volumetrics (basis of estimate):</a:t>
            </a:r>
          </a:p>
          <a:p>
            <a:pPr marL="171450" indent="-171450">
              <a:spcAft>
                <a:spcPts val="600"/>
              </a:spcAft>
              <a:buFont typeface="Arial" panose="020B0604020202020204" pitchFamily="34" charset="0"/>
              <a:buChar char="•"/>
            </a:pPr>
            <a:r>
              <a:rPr lang="en-US" sz="900" dirty="0">
                <a:latin typeface="Segoe UI"/>
                <a:cs typeface="Segoe UI"/>
              </a:rPr>
              <a:t>254,001 LOC · 1,731 files · 1,998 classes</a:t>
            </a:r>
          </a:p>
          <a:p>
            <a:pPr marL="171450" indent="-171450">
              <a:spcAft>
                <a:spcPts val="600"/>
              </a:spcAft>
              <a:buFont typeface="Arial" panose="020B0604020202020204" pitchFamily="34" charset="0"/>
              <a:buChar char="•"/>
            </a:pPr>
            <a:r>
              <a:rPr lang="en-US" sz="900" dirty="0">
                <a:latin typeface="Segoe UI"/>
                <a:cs typeface="Segoe UI"/>
              </a:rPr>
              <a:t>15,785 procedures/methods mapped</a:t>
            </a:r>
          </a:p>
          <a:p>
            <a:pPr marL="171450" indent="-171450">
              <a:spcAft>
                <a:spcPts val="600"/>
              </a:spcAft>
              <a:buFont typeface="Arial" panose="020B0604020202020204" pitchFamily="34" charset="0"/>
              <a:buChar char="•"/>
            </a:pPr>
            <a:r>
              <a:rPr lang="en-US" sz="900" dirty="0">
                <a:latin typeface="Segoe UI"/>
                <a:cs typeface="Segoe UI"/>
              </a:rPr>
              <a:t>436 business rules catalogued (of 561 candidates)</a:t>
            </a:r>
          </a:p>
          <a:p>
            <a:pPr marL="171450" indent="-171450">
              <a:spcAft>
                <a:spcPts val="600"/>
              </a:spcAft>
              <a:buFont typeface="Arial" panose="020B0604020202020204" pitchFamily="34" charset="0"/>
              <a:buChar char="•"/>
            </a:pPr>
            <a:r>
              <a:rPr lang="en-US" sz="900" dirty="0">
                <a:latin typeface="Segoe UI"/>
                <a:cs typeface="Segoe UI"/>
              </a:rPr>
              <a:t>10 bounded contexts · 2 god services</a:t>
            </a:r>
          </a:p>
          <a:p>
            <a:pPr marL="171450" indent="-171450">
              <a:spcAft>
                <a:spcPts val="600"/>
              </a:spcAft>
              <a:buFont typeface="Arial" panose="020B0604020202020204" pitchFamily="34" charset="0"/>
              <a:buChar char="•"/>
            </a:pPr>
            <a:r>
              <a:rPr lang="en-US" sz="900" dirty="0">
                <a:latin typeface="Segoe UI"/>
                <a:cs typeface="Segoe UI"/>
              </a:rPr>
              <a:t>8 external APIs · 16 plugins · ~80 tables</a:t>
            </a:r>
          </a:p>
          <a:p>
            <a:pPr marL="171450" indent="-171450">
              <a:spcAft>
                <a:spcPts val="600"/>
              </a:spcAft>
              <a:buFont typeface="Arial" panose="020B0604020202020204" pitchFamily="34" charset="0"/>
              <a:buChar char="•"/>
            </a:pPr>
            <a:r>
              <a:rPr lang="en-US" sz="900" dirty="0">
                <a:latin typeface="Segoe UI"/>
                <a:cs typeface="Segoe UI"/>
              </a:rPr>
              <a:t>394 tasks · 2,991 dependency edges · 15 waves</a:t>
            </a:r>
          </a:p>
          <a:p>
            <a:pPr marL="171450" indent="-171450">
              <a:spcAft>
                <a:spcPts val="600"/>
              </a:spcAft>
              <a:buFont typeface="Arial" panose="020B0604020202020204" pitchFamily="34" charset="0"/>
              <a:buChar char="•"/>
            </a:pPr>
            <a:r>
              <a:rPr lang="en-US" sz="900" dirty="0">
                <a:latin typeface="Segoe UI"/>
                <a:cs typeface="Segoe UI"/>
              </a:rPr>
              <a:t>232 artefacts / 82 MB delivered</a:t>
            </a:r>
          </a:p>
          <a:p>
            <a:pPr marL="171450" indent="-171450">
              <a:spcAft>
                <a:spcPts val="600"/>
              </a:spcAft>
              <a:buFont typeface="Arial" panose="020B0604020202020204" pitchFamily="34" charset="0"/>
              <a:buChar char="•"/>
            </a:pPr>
            <a:r>
              <a:rPr lang="en-US" sz="900" dirty="0">
                <a:latin typeface="Segoe UI"/>
                <a:cs typeface="Segoe UI"/>
              </a:rPr>
              <a:t>F0→F3S in ≈ 2 h 20 min of machine time</a:t>
            </a:r>
          </a:p>
          <a:p>
            <a:pPr marL="171450" indent="-171450">
              <a:spcAft>
                <a:spcPts val="600"/>
              </a:spcAft>
              <a:buFont typeface="Arial" panose="020B0604020202020204" pitchFamily="34" charset="0"/>
              <a:buChar char="•"/>
            </a:pPr>
            <a:r>
              <a:rPr lang="en-US" sz="900" dirty="0">
                <a:latin typeface="Segoe UI"/>
                <a:cs typeface="Segoe UI"/>
              </a:rPr>
              <a:t>Formal estimate: 3,323 h · 892 FP</a:t>
            </a:r>
          </a:p>
          <a:p>
            <a:pPr marL="171450" indent="-171450">
              <a:spcAft>
                <a:spcPts val="600"/>
              </a:spcAft>
              <a:buFont typeface="Arial" panose="020B0604020202020204" pitchFamily="34" charset="0"/>
              <a:buChar char="•"/>
            </a:pPr>
            <a:r>
              <a:rPr lang="en-US" sz="900" dirty="0">
                <a:latin typeface="Segoe UI"/>
                <a:cs typeface="Segoe UI"/>
              </a:rPr>
              <a:t>PoC assumes an application of comparable or smaller size; above 400 KLOC or 15+ BCs requires re-sizing.</a:t>
            </a:r>
          </a:p>
        </p:txBody>
      </p:sp>
    </p:spTree>
    <p:extLst>
      <p:ext uri="{BB962C8B-B14F-4D97-AF65-F5344CB8AC3E}">
        <p14:creationId xmlns:p14="http://schemas.microsoft.com/office/powerpoint/2010/main" val="316130843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B1138-E84E-9B62-E1C0-D877E55F8FFF}"/>
              </a:ext>
            </a:extLst>
          </p:cNvPr>
          <p:cNvSpPr>
            <a:spLocks noGrp="1"/>
          </p:cNvSpPr>
          <p:nvPr>
            <p:ph type="title"/>
          </p:nvPr>
        </p:nvSpPr>
        <p:spPr/>
        <p:txBody>
          <a:bodyPr/>
          <a:lstStyle/>
          <a:p>
            <a:r>
              <a:rPr lang="en-US"/>
              <a:t>High Level Schedule</a:t>
            </a:r>
          </a:p>
        </p:txBody>
      </p:sp>
      <p:sp>
        <p:nvSpPr>
          <p:cNvPr id="3" name="Text Placeholder 2">
            <a:extLst>
              <a:ext uri="{FF2B5EF4-FFF2-40B4-BE49-F238E27FC236}">
                <a16:creationId xmlns:a16="http://schemas.microsoft.com/office/drawing/2014/main" id="{92413943-E89C-62B8-4E7B-C242DC30E8C1}"/>
              </a:ext>
            </a:extLst>
          </p:cNvPr>
          <p:cNvSpPr>
            <a:spLocks noGrp="1"/>
          </p:cNvSpPr>
          <p:nvPr>
            <p:ph type="body" sz="quarter" idx="12"/>
          </p:nvPr>
        </p:nvSpPr>
        <p:spPr/>
        <p:txBody>
          <a:bodyPr/>
          <a:lstStyle/>
          <a:p>
            <a:r>
              <a:rPr lang="en-US"/>
              <a:t>Indicative timeline ONLY — 4-week fixed-scope PoC</a:t>
            </a:r>
          </a:p>
        </p:txBody>
      </p:sp>
      <p:graphicFrame>
        <p:nvGraphicFramePr>
          <p:cNvPr id="32" name="Table 31">
            <a:extLst>
              <a:ext uri="{FF2B5EF4-FFF2-40B4-BE49-F238E27FC236}">
                <a16:creationId xmlns:a16="http://schemas.microsoft.com/office/drawing/2014/main" id="{88BDAB23-82CF-446D-66CD-C71EA52F5AB4}"/>
              </a:ext>
            </a:extLst>
          </p:cNvPr>
          <p:cNvGraphicFramePr>
            <a:graphicFrameLocks noGrp="1"/>
          </p:cNvGraphicFramePr>
          <p:nvPr/>
        </p:nvGraphicFramePr>
        <p:xfrm>
          <a:off x="541900" y="2109995"/>
          <a:ext cx="10844784" cy="3946942"/>
        </p:xfrm>
        <a:graphic>
          <a:graphicData uri="http://schemas.openxmlformats.org/drawingml/2006/table">
            <a:tbl>
              <a:tblPr firstRow="1" bandRow="1">
                <a:tableStyleId>{073A0DAA-6AF3-43AB-8588-CEC1D06C72B9}</a:tableStyleId>
              </a:tblPr>
              <a:tblGrid>
                <a:gridCol w="2377440">
                  <a:extLst>
                    <a:ext uri="{9D8B030D-6E8A-4147-A177-3AD203B41FA5}">
                      <a16:colId xmlns:a16="http://schemas.microsoft.com/office/drawing/2014/main" val="3631347322"/>
                    </a:ext>
                  </a:extLst>
                </a:gridCol>
                <a:gridCol w="2116836">
                  <a:extLst>
                    <a:ext uri="{9D8B030D-6E8A-4147-A177-3AD203B41FA5}">
                      <a16:colId xmlns:a16="http://schemas.microsoft.com/office/drawing/2014/main" val="1558903175"/>
                    </a:ext>
                  </a:extLst>
                </a:gridCol>
                <a:gridCol w="2116836">
                  <a:extLst>
                    <a:ext uri="{9D8B030D-6E8A-4147-A177-3AD203B41FA5}">
                      <a16:colId xmlns:a16="http://schemas.microsoft.com/office/drawing/2014/main" val="626109664"/>
                    </a:ext>
                  </a:extLst>
                </a:gridCol>
                <a:gridCol w="2116836">
                  <a:extLst>
                    <a:ext uri="{9D8B030D-6E8A-4147-A177-3AD203B41FA5}">
                      <a16:colId xmlns:a16="http://schemas.microsoft.com/office/drawing/2014/main" val="3547638978"/>
                    </a:ext>
                  </a:extLst>
                </a:gridCol>
                <a:gridCol w="2116836">
                  <a:extLst>
                    <a:ext uri="{9D8B030D-6E8A-4147-A177-3AD203B41FA5}">
                      <a16:colId xmlns:a16="http://schemas.microsoft.com/office/drawing/2014/main" val="4183983851"/>
                    </a:ext>
                  </a:extLst>
                </a:gridCol>
              </a:tblGrid>
              <a:tr h="275647">
                <a:tc>
                  <a:txBody>
                    <a:bodyPr/>
                    <a:lstStyle/>
                    <a:p>
                      <a:pPr algn="ctr"/>
                      <a:endParaRPr lang="en-GB" sz="1000" b="1">
                        <a:solidFill>
                          <a:schemeClr val="bg1"/>
                        </a:solidFill>
                      </a:endParaRPr>
                    </a:p>
                  </a:txBody>
                  <a:tcPr marL="121920" marR="121920" marT="60960" marB="60960" anchor="ctr">
                    <a:solidFill>
                      <a:schemeClr val="tx1">
                        <a:lumMod val="60000"/>
                        <a:lumOff val="40000"/>
                      </a:schemeClr>
                    </a:solidFill>
                  </a:tcPr>
                </a:tc>
                <a:tc gridSpan="4">
                  <a:txBody>
                    <a:bodyPr/>
                    <a:lstStyle/>
                    <a:p>
                      <a:pPr marL="0" algn="ctr" rtl="0" eaLnBrk="1" latinLnBrk="0" hangingPunct="1"/>
                      <a:r>
                        <a:t>Month 1</a:t>
                      </a:r>
                      <a:endParaRPr lang="en-GB" sz="900" b="1" kern="1200">
                        <a:solidFill>
                          <a:schemeClr val="bg1"/>
                        </a:solidFill>
                        <a:latin typeface="+mn-lt"/>
                        <a:ea typeface="+mn-ea"/>
                        <a:cs typeface="+mn-cs"/>
                      </a:endParaRPr>
                    </a:p>
                  </a:txBody>
                  <a:tcPr marL="72000" marR="72000" marT="60960" marB="60960" anchor="ctr">
                    <a:solidFill>
                      <a:schemeClr val="tx1">
                        <a:lumMod val="60000"/>
                        <a:lumOff val="40000"/>
                      </a:schemeClr>
                    </a:solidFill>
                  </a:tcPr>
                </a:tc>
                <a:tc hMerge="1">
                  <a:txBody>
                    <a:bodyPr/>
                    <a:lstStyle/>
                    <a:p>
                      <a:pPr marL="0" algn="ctr" defTabSz="914400" rtl="0" eaLnBrk="1" latinLnBrk="0" hangingPunct="1"/>
                      <a:r>
                        <a:rPr lang="en-US" sz="900" b="1" kern="1200">
                          <a:solidFill>
                            <a:schemeClr val="bg1"/>
                          </a:solidFill>
                          <a:latin typeface="+mn-lt"/>
                          <a:ea typeface="+mn-ea"/>
                          <a:cs typeface="+mn-cs"/>
                        </a:rPr>
                        <a:t/>
                      </a:r>
                      <a:endParaRPr lang="en-GB" sz="900" b="1" kern="1200">
                        <a:solidFill>
                          <a:schemeClr val="bg1"/>
                        </a:solidFill>
                        <a:latin typeface="+mn-lt"/>
                        <a:ea typeface="+mn-ea"/>
                        <a:cs typeface="+mn-cs"/>
                      </a:endParaRPr>
                    </a:p>
                  </a:txBody>
                  <a:tcPr marL="72000" marR="72000" marT="60960" marB="60960" anchor="ctr">
                    <a:solidFill>
                      <a:schemeClr val="tx1">
                        <a:lumMod val="60000"/>
                        <a:lumOff val="40000"/>
                      </a:schemeClr>
                    </a:solidFill>
                  </a:tcPr>
                </a:tc>
                <a:tc hMerge="1">
                  <a:txBody>
                    <a:bodyPr/>
                    <a:lstStyle/>
                    <a:p>
                      <a:pPr marL="0" algn="ctr" rtl="0" eaLnBrk="1" latinLnBrk="0" hangingPunct="1"/>
                      <a:endParaRPr lang="en-GB" sz="900" b="1" kern="1200">
                        <a:solidFill>
                          <a:schemeClr val="bg1"/>
                        </a:solidFill>
                        <a:latin typeface="+mn-lt"/>
                        <a:ea typeface="+mn-ea"/>
                        <a:cs typeface="+mn-cs"/>
                      </a:endParaRPr>
                    </a:p>
                  </a:txBody>
                  <a:tcPr marL="72000" marR="72000" marT="60960" marB="60960" anchor="ctr">
                    <a:solidFill>
                      <a:schemeClr val="tx1">
                        <a:lumMod val="60000"/>
                        <a:lumOff val="40000"/>
                      </a:schemeClr>
                    </a:solidFill>
                  </a:tcPr>
                </a:tc>
                <a:tc hMerge="1">
                  <a:txBody>
                    <a:bodyPr/>
                    <a:lstStyle/>
                    <a:p>
                      <a:pPr marL="0" algn="ctr" rtl="0" eaLnBrk="1" latinLnBrk="0" hangingPunct="1"/>
                      <a:endParaRPr lang="en-GB" sz="900" b="1" kern="1200">
                        <a:solidFill>
                          <a:schemeClr val="bg1"/>
                        </a:solidFill>
                        <a:latin typeface="+mn-lt"/>
                        <a:ea typeface="+mn-ea"/>
                        <a:cs typeface="+mn-cs"/>
                      </a:endParaRPr>
                    </a:p>
                  </a:txBody>
                  <a:tcPr marL="72000" marR="72000" marT="60960" marB="60960" anchor="ctr">
                    <a:solidFill>
                      <a:schemeClr val="tx1">
                        <a:lumMod val="60000"/>
                        <a:lumOff val="40000"/>
                      </a:schemeClr>
                    </a:solidFill>
                  </a:tcPr>
                </a:tc>
                <a:extLst>
                  <a:ext uri="{0D108BD9-81ED-4DB2-BD59-A6C34878D82A}">
                    <a16:rowId xmlns:a16="http://schemas.microsoft.com/office/drawing/2014/main" val="4096646787"/>
                  </a:ext>
                </a:extLst>
              </a:tr>
              <a:tr h="275647">
                <a:tc>
                  <a:txBody>
                    <a:bodyPr/>
                    <a:lstStyle/>
                    <a:p>
                      <a:pPr algn="ctr"/>
                      <a:r>
                        <a:rPr lang="en-GB" sz="1000" b="1">
                          <a:solidFill>
                            <a:schemeClr val="bg1"/>
                          </a:solidFill>
                        </a:rPr>
                        <a:t>Activity</a:t>
                      </a:r>
                    </a:p>
                  </a:txBody>
                  <a:tcPr marL="121920" marR="121920" marT="60960" marB="60960" anchor="ctr">
                    <a:solidFill>
                      <a:schemeClr val="bg2">
                        <a:lumMod val="50000"/>
                      </a:schemeClr>
                    </a:solidFill>
                  </a:tcPr>
                </a:tc>
                <a:tc>
                  <a:txBody>
                    <a:bodyPr/>
                    <a:lstStyle/>
                    <a:p>
                      <a:pPr marL="0" algn="ctr" defTabSz="914400" rtl="0" eaLnBrk="1" latinLnBrk="0" hangingPunct="1"/>
                      <a:r>
                        <a:rPr lang="en-GB" sz="900" b="1" kern="1200">
                          <a:solidFill>
                            <a:schemeClr val="bg1"/>
                          </a:solidFill>
                          <a:latin typeface="+mn-lt"/>
                          <a:ea typeface="+mn-ea"/>
                          <a:cs typeface="+mn-cs"/>
                        </a:rPr>
                        <a:t>Week 1</a:t>
                      </a:r>
                    </a:p>
                  </a:txBody>
                  <a:tcPr marL="72000" marR="72000" marT="60960" marB="60960" anchor="ctr">
                    <a:solidFill>
                      <a:schemeClr val="bg2">
                        <a:lumMod val="75000"/>
                      </a:schemeClr>
                    </a:solidFill>
                  </a:tcPr>
                </a:tc>
                <a:tc>
                  <a:txBody>
                    <a:bodyPr/>
                    <a:lstStyle/>
                    <a:p>
                      <a:pPr marL="0" algn="ctr" defTabSz="914400" rtl="0" eaLnBrk="1" latinLnBrk="0" hangingPunct="1"/>
                      <a:r>
                        <a:rPr lang="en-GB" sz="900" b="1" kern="1200">
                          <a:solidFill>
                            <a:schemeClr val="bg1"/>
                          </a:solidFill>
                          <a:latin typeface="+mn-lt"/>
                          <a:ea typeface="+mn-ea"/>
                          <a:cs typeface="+mn-cs"/>
                        </a:rPr>
                        <a:t>Week 2</a:t>
                      </a:r>
                    </a:p>
                  </a:txBody>
                  <a:tcPr marL="72000" marR="72000" marT="60960" marB="60960" anchor="ctr">
                    <a:solidFill>
                      <a:schemeClr val="bg2">
                        <a:lumMod val="75000"/>
                      </a:schemeClr>
                    </a:solidFill>
                  </a:tcPr>
                </a:tc>
                <a:tc>
                  <a:txBody>
                    <a:bodyPr/>
                    <a:lstStyle/>
                    <a:p>
                      <a:pPr marL="0" algn="ctr" defTabSz="914400" rtl="0" eaLnBrk="1" latinLnBrk="0" hangingPunct="1"/>
                      <a:r>
                        <a:rPr lang="en-GB" sz="900" b="1" kern="1200">
                          <a:solidFill>
                            <a:schemeClr val="bg1"/>
                          </a:solidFill>
                          <a:latin typeface="+mn-lt"/>
                          <a:ea typeface="+mn-ea"/>
                          <a:cs typeface="+mn-cs"/>
                        </a:rPr>
                        <a:t>Week 3</a:t>
                      </a:r>
                    </a:p>
                  </a:txBody>
                  <a:tcPr marL="72000" marR="72000" marT="60960" marB="60960" anchor="ctr">
                    <a:solidFill>
                      <a:schemeClr val="bg2">
                        <a:lumMod val="75000"/>
                      </a:schemeClr>
                    </a:solidFill>
                  </a:tcPr>
                </a:tc>
                <a:tc>
                  <a:txBody>
                    <a:bodyPr/>
                    <a:lstStyle/>
                    <a:p>
                      <a:pPr marL="0" algn="ctr" defTabSz="914400" rtl="0" eaLnBrk="1" latinLnBrk="0" hangingPunct="1"/>
                      <a:r>
                        <a:rPr lang="en-GB" sz="900" b="1" kern="1200">
                          <a:solidFill>
                            <a:schemeClr val="bg1"/>
                          </a:solidFill>
                          <a:latin typeface="+mn-lt"/>
                          <a:ea typeface="+mn-ea"/>
                          <a:cs typeface="+mn-cs"/>
                        </a:rPr>
                        <a:t>Week 4</a:t>
                      </a:r>
                    </a:p>
                  </a:txBody>
                  <a:tcPr marL="72000" marR="72000" marT="60960" marB="60960" anchor="ctr">
                    <a:solidFill>
                      <a:schemeClr val="bg2">
                        <a:lumMod val="75000"/>
                      </a:schemeClr>
                    </a:solidFill>
                  </a:tcPr>
                </a:tc>
                <a:extLst>
                  <a:ext uri="{0D108BD9-81ED-4DB2-BD59-A6C34878D82A}">
                    <a16:rowId xmlns:a16="http://schemas.microsoft.com/office/drawing/2014/main" val="2273532895"/>
                  </a:ext>
                </a:extLst>
              </a:tr>
              <a:tr h="371116">
                <a:tc>
                  <a:txBody>
                    <a:bodyPr/>
                    <a:lstStyle/>
                    <a:p>
                      <a:pPr algn="l"/>
                      <a:r>
                        <a:rPr lang="en-GB" sz="1000" b="1">
                          <a:solidFill>
                            <a:schemeClr val="bg1"/>
                          </a:solidFill>
                        </a:rPr>
                        <a:t>Governance &amp; PMO</a:t>
                      </a: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240595015"/>
                  </a:ext>
                </a:extLst>
              </a:tr>
              <a:tr h="371116">
                <a:tc>
                  <a:txBody>
                    <a:bodyPr/>
                    <a:lstStyle/>
                    <a:p>
                      <a:pPr algn="l"/>
                      <a:r>
                        <a:rPr lang="en-US" sz="1000" b="1">
                          <a:solidFill>
                            <a:schemeClr val="bg1"/>
                          </a:solidFill>
                        </a:rPr>
                        <a:t>Mobilization</a:t>
                      </a:r>
                      <a:endParaRPr lang="en-GB" sz="1000" b="1">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608719029"/>
                  </a:ext>
                </a:extLst>
              </a:tr>
              <a:tr h="371116">
                <a:tc>
                  <a:txBody>
                    <a:bodyPr/>
                    <a:lstStyle/>
                    <a:p>
                      <a:pPr algn="l"/>
                      <a:r>
                        <a:rPr lang="en-US" sz="1000" b="1">
                          <a:solidFill>
                            <a:schemeClr val="bg1"/>
                          </a:solidFill>
                        </a:rPr>
                        <a:t>F0-F1 · AS-IS Diagnostic</a:t>
                      </a:r>
                      <a:endParaRPr lang="en-GB" sz="1000" b="1">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346967330"/>
                  </a:ext>
                </a:extLst>
              </a:tr>
              <a:tr h="371116">
                <a:tc>
                  <a:txBody>
                    <a:bodyPr/>
                    <a:lstStyle/>
                    <a:p>
                      <a:pPr algn="l"/>
                      <a:r>
                        <a:rPr lang="en-US" sz="1000" b="1">
                          <a:solidFill>
                            <a:schemeClr val="bg1"/>
                          </a:solidFill>
                        </a:rPr>
                        <a:t>F2 · TO-BE Architecture</a:t>
                      </a:r>
                      <a:endParaRPr lang="en-GB" sz="1000" b="1">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3700435102"/>
                  </a:ext>
                </a:extLst>
              </a:tr>
              <a:tr h="371116">
                <a:tc>
                  <a:txBody>
                    <a:bodyPr/>
                    <a:lstStyle/>
                    <a:p>
                      <a:pPr algn="l"/>
                      <a:r>
                        <a:rPr lang="en-US" sz="1000" b="1">
                          <a:solidFill>
                            <a:schemeClr val="bg1"/>
                          </a:solidFill>
                        </a:rPr>
                        <a:t>F3 · Prototype</a:t>
                      </a:r>
                      <a:endParaRPr lang="en-GB" sz="1000" b="1">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028593892"/>
                  </a:ext>
                </a:extLst>
              </a:tr>
              <a:tr h="371116">
                <a:tc>
                  <a:txBody>
                    <a:bodyPr/>
                    <a:lstStyle/>
                    <a:p>
                      <a:pPr algn="l"/>
                      <a:r>
                        <a:rPr lang="en-US" sz="1000" b="1">
                          <a:solidFill>
                            <a:schemeClr val="bg1"/>
                          </a:solidFill>
                        </a:rPr>
                        <a:t>F3S · SpecKit Backlog</a:t>
                      </a:r>
                      <a:endParaRPr lang="en-GB" sz="1000" b="1">
                        <a:solidFill>
                          <a:schemeClr val="bg1"/>
                        </a:solidFill>
                      </a:endParaRP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148625865"/>
                  </a:ext>
                </a:extLst>
              </a:tr>
              <a:tr h="371116">
                <a:tc>
                  <a:txBody>
                    <a:bodyPr/>
                    <a:lstStyle/>
                    <a:p>
                      <a:pPr algn="l"/>
                      <a:r>
                        <a:rPr lang="en-GB" sz="1000" b="1">
                          <a:solidFill>
                            <a:schemeClr val="bg1"/>
                          </a:solidFill>
                        </a:rPr>
                        <a:t>F4 · Codegen (pilot BC)</a:t>
                      </a: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674745138"/>
                  </a:ext>
                </a:extLst>
              </a:tr>
              <a:tr h="371116">
                <a:tc>
                  <a:txBody>
                    <a:bodyPr/>
                    <a:lstStyle/>
                    <a:p>
                      <a:pPr algn="l"/>
                      <a:r>
                        <a:rPr lang="en-GB" sz="1000" b="1">
                          <a:solidFill>
                            <a:schemeClr val="bg1"/>
                          </a:solidFill>
                        </a:rPr>
                        <a:t>F5-F6 · QA &amp; IaC</a:t>
                      </a:r>
                    </a:p>
                  </a:txBody>
                  <a:tcPr marL="121920" marR="121920" marT="60960" marB="60960" anchor="ctr">
                    <a:solidFill>
                      <a:schemeClr val="tx1">
                        <a:lumMod val="60000"/>
                        <a:lumOff val="40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tc>
                  <a:txBody>
                    <a:bodyPr/>
                    <a:lstStyle/>
                    <a:p>
                      <a:pPr algn="l"/>
                      <a:endParaRPr lang="en-GB" sz="1100"/>
                    </a:p>
                  </a:txBody>
                  <a:tcPr marL="72000" marR="72000" marT="60960" marB="60960">
                    <a:solidFill>
                      <a:schemeClr val="bg1">
                        <a:lumMod val="95000"/>
                      </a:schemeClr>
                    </a:solidFill>
                  </a:tcPr>
                </a:tc>
                <a:extLst>
                  <a:ext uri="{0D108BD9-81ED-4DB2-BD59-A6C34878D82A}">
                    <a16:rowId xmlns:a16="http://schemas.microsoft.com/office/drawing/2014/main" val="145046073"/>
                  </a:ext>
                </a:extLst>
              </a:tr>
              <a:tr h="371116">
                <a:tc>
                  <a:txBody>
                    <a:bodyPr/>
                    <a:lstStyle/>
                    <a:p>
                      <a:pPr lvl="0" algn="l">
                        <a:buNone/>
                      </a:pPr>
                      <a:r>
                        <a:rPr lang="en-GB" sz="1000" b="1">
                          <a:solidFill>
                            <a:schemeClr val="bg1"/>
                          </a:solidFill>
                        </a:rPr>
                        <a:t>F7 · Security &amp; Readout</a:t>
                      </a:r>
                    </a:p>
                  </a:txBody>
                  <a:tcPr marL="121920" marR="121920" marT="60959" marB="60959" anchor="ctr">
                    <a:solidFill>
                      <a:schemeClr val="tx1">
                        <a:lumMod val="60000"/>
                        <a:lumOff val="40000"/>
                      </a:schemeClr>
                    </a:solidFill>
                  </a:tcPr>
                </a:tc>
                <a:tc>
                  <a:txBody>
                    <a:bodyPr/>
                    <a:lstStyle/>
                    <a:p>
                      <a:pPr lvl="0" algn="l">
                        <a:buNone/>
                      </a:pPr>
                      <a:endParaRPr lang="en-GB" sz="1100"/>
                    </a:p>
                  </a:txBody>
                  <a:tcPr marL="72000" marR="72000" marT="60959" marB="60959">
                    <a:solidFill>
                      <a:schemeClr val="bg1">
                        <a:lumMod val="95000"/>
                      </a:schemeClr>
                    </a:solidFill>
                  </a:tcPr>
                </a:tc>
                <a:tc>
                  <a:txBody>
                    <a:bodyPr/>
                    <a:lstStyle/>
                    <a:p>
                      <a:pPr lvl="0" algn="l">
                        <a:buNone/>
                      </a:pPr>
                      <a:endParaRPr lang="en-GB" sz="1100"/>
                    </a:p>
                  </a:txBody>
                  <a:tcPr marL="72000" marR="72000" marT="60959" marB="60959">
                    <a:solidFill>
                      <a:schemeClr val="bg1">
                        <a:lumMod val="95000"/>
                      </a:schemeClr>
                    </a:solidFill>
                  </a:tcPr>
                </a:tc>
                <a:tc>
                  <a:txBody>
                    <a:bodyPr/>
                    <a:lstStyle/>
                    <a:p>
                      <a:pPr lvl="0" algn="l">
                        <a:buNone/>
                      </a:pPr>
                      <a:endParaRPr lang="en-GB" sz="1100"/>
                    </a:p>
                  </a:txBody>
                  <a:tcPr marL="72000" marR="72000" marT="60959" marB="60959">
                    <a:solidFill>
                      <a:schemeClr val="bg1">
                        <a:lumMod val="95000"/>
                      </a:schemeClr>
                    </a:solidFill>
                  </a:tcPr>
                </a:tc>
                <a:tc>
                  <a:txBody>
                    <a:bodyPr/>
                    <a:lstStyle/>
                    <a:p>
                      <a:pPr lvl="0" algn="l">
                        <a:buNone/>
                      </a:pPr>
                      <a:endParaRPr lang="en-GB" sz="1100"/>
                    </a:p>
                  </a:txBody>
                  <a:tcPr marL="72000" marR="72000" marT="60959" marB="60959">
                    <a:solidFill>
                      <a:schemeClr val="bg1">
                        <a:lumMod val="95000"/>
                      </a:schemeClr>
                    </a:solidFill>
                  </a:tcPr>
                </a:tc>
                <a:extLst>
                  <a:ext uri="{0D108BD9-81ED-4DB2-BD59-A6C34878D82A}">
                    <a16:rowId xmlns:a16="http://schemas.microsoft.com/office/drawing/2014/main" val="3381022898"/>
                  </a:ext>
                </a:extLst>
              </a:tr>
            </a:tbl>
          </a:graphicData>
        </a:graphic>
      </p:graphicFrame>
      <p:sp>
        <p:nvSpPr>
          <p:cNvPr id="37" name="Rectangle: Rounded Corners 9">
            <a:extLst>
              <a:ext uri="{FF2B5EF4-FFF2-40B4-BE49-F238E27FC236}">
                <a16:creationId xmlns:a16="http://schemas.microsoft.com/office/drawing/2014/main" id="{8689E6BB-F2E8-56C3-198D-232181B6C403}"/>
              </a:ext>
            </a:extLst>
          </p:cNvPr>
          <p:cNvSpPr/>
          <p:nvPr/>
        </p:nvSpPr>
        <p:spPr>
          <a:xfrm>
            <a:off x="10353293" y="5682777"/>
            <a:ext cx="1003553"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prstClr val="white"/>
                </a:solidFill>
                <a:latin typeface="Segoe UI Light" panose="020B0502040204020203" pitchFamily="34" charset="0"/>
                <a:cs typeface="Segoe UI Light" panose="020B0502040204020203" pitchFamily="34" charset="0"/>
              </a:rPr>
              <a:t>Report &amp; readout</a:t>
            </a: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38" name="Rectangle: Rounded Corners 10">
            <a:extLst>
              <a:ext uri="{FF2B5EF4-FFF2-40B4-BE49-F238E27FC236}">
                <a16:creationId xmlns:a16="http://schemas.microsoft.com/office/drawing/2014/main" id="{348F68C5-DB0F-E972-DA9B-A4716CFE3C70}"/>
              </a:ext>
            </a:extLst>
          </p:cNvPr>
          <p:cNvSpPr/>
          <p:nvPr/>
        </p:nvSpPr>
        <p:spPr>
          <a:xfrm>
            <a:off x="2944368" y="2721100"/>
            <a:ext cx="8412480" cy="256032"/>
          </a:xfrm>
          <a:prstGeom prst="roundRect">
            <a:avLst/>
          </a:prstGeom>
          <a:gradFill flip="none" rotWithShape="1">
            <a:gsLst>
              <a:gs pos="48000">
                <a:srgbClr val="7030A0"/>
              </a:gs>
              <a:gs pos="56000">
                <a:schemeClr val="tx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rPr>
              <a:t>Governance, weekly steering &amp; quality gates</a:t>
            </a:r>
          </a:p>
        </p:txBody>
      </p:sp>
      <p:sp>
        <p:nvSpPr>
          <p:cNvPr id="41" name="Rectangle: Rounded Corners 13">
            <a:extLst>
              <a:ext uri="{FF2B5EF4-FFF2-40B4-BE49-F238E27FC236}">
                <a16:creationId xmlns:a16="http://schemas.microsoft.com/office/drawing/2014/main" id="{7BEEE4C1-C776-0EE8-C0D4-792B7B754ED3}"/>
              </a:ext>
            </a:extLst>
          </p:cNvPr>
          <p:cNvSpPr/>
          <p:nvPr/>
        </p:nvSpPr>
        <p:spPr>
          <a:xfrm>
            <a:off x="6119622" y="3834448"/>
            <a:ext cx="2273655"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rPr>
              <a:t>TO-BE architecture, ADRs, OpenAPI</a:t>
            </a:r>
          </a:p>
        </p:txBody>
      </p:sp>
      <p:sp>
        <p:nvSpPr>
          <p:cNvPr id="43" name="Diamond 42">
            <a:extLst>
              <a:ext uri="{FF2B5EF4-FFF2-40B4-BE49-F238E27FC236}">
                <a16:creationId xmlns:a16="http://schemas.microsoft.com/office/drawing/2014/main" id="{E240005A-F077-675A-9CAD-0BD916C8AB69}"/>
              </a:ext>
            </a:extLst>
          </p:cNvPr>
          <p:cNvSpPr/>
          <p:nvPr/>
        </p:nvSpPr>
        <p:spPr>
          <a:xfrm>
            <a:off x="2867832" y="1819656"/>
            <a:ext cx="182880" cy="182880"/>
          </a:xfrm>
          <a:prstGeom prst="diamond">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45" name="Diamond 44">
            <a:extLst>
              <a:ext uri="{FF2B5EF4-FFF2-40B4-BE49-F238E27FC236}">
                <a16:creationId xmlns:a16="http://schemas.microsoft.com/office/drawing/2014/main" id="{7904916C-25F4-334F-4747-6FD82ECEF477}"/>
              </a:ext>
            </a:extLst>
          </p:cNvPr>
          <p:cNvSpPr/>
          <p:nvPr/>
        </p:nvSpPr>
        <p:spPr>
          <a:xfrm>
            <a:off x="7059168" y="1819656"/>
            <a:ext cx="182880" cy="182880"/>
          </a:xfrm>
          <a:prstGeom prst="diamon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46" name="Rectangle 45">
            <a:extLst>
              <a:ext uri="{FF2B5EF4-FFF2-40B4-BE49-F238E27FC236}">
                <a16:creationId xmlns:a16="http://schemas.microsoft.com/office/drawing/2014/main" id="{901B6DD1-CC83-D184-548A-6FE4B8516144}"/>
              </a:ext>
            </a:extLst>
          </p:cNvPr>
          <p:cNvSpPr/>
          <p:nvPr/>
        </p:nvSpPr>
        <p:spPr>
          <a:xfrm>
            <a:off x="8000085" y="1298448"/>
            <a:ext cx="841248" cy="47548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Segoe UI Light" panose="020B0502040204020203" pitchFamily="34" charset="0"/>
                <a:cs typeface="Segoe UI Light" panose="020B0502040204020203" pitchFamily="34" charset="0"/>
              </a:rPr>
              <a:t>F2 Readiness Gate &gt;=85%</a:t>
            </a:r>
            <a:endParaRPr lang="en-GB" sz="900">
              <a:latin typeface="Segoe UI Light" panose="020B0502040204020203" pitchFamily="34" charset="0"/>
              <a:cs typeface="Segoe UI Light" panose="020B0502040204020203" pitchFamily="34" charset="0"/>
            </a:endParaRPr>
          </a:p>
        </p:txBody>
      </p:sp>
      <p:sp>
        <p:nvSpPr>
          <p:cNvPr id="47" name="Rectangle 46">
            <a:extLst>
              <a:ext uri="{FF2B5EF4-FFF2-40B4-BE49-F238E27FC236}">
                <a16:creationId xmlns:a16="http://schemas.microsoft.com/office/drawing/2014/main" id="{573E1B8D-F2C7-F939-E953-41D1CB19B5D0}"/>
              </a:ext>
            </a:extLst>
          </p:cNvPr>
          <p:cNvSpPr/>
          <p:nvPr/>
        </p:nvSpPr>
        <p:spPr>
          <a:xfrm>
            <a:off x="10921319" y="1298448"/>
            <a:ext cx="841248" cy="47548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latin typeface="Segoe UI Light" panose="020B0502040204020203" pitchFamily="34" charset="0"/>
                <a:cs typeface="Segoe UI Light" panose="020B0502040204020203" pitchFamily="34" charset="0"/>
              </a:rPr>
              <a:t>Executive Readout</a:t>
            </a:r>
            <a:endParaRPr lang="en-GB" sz="800">
              <a:latin typeface="Segoe UI Light" panose="020B0502040204020203" pitchFamily="34" charset="0"/>
              <a:cs typeface="Segoe UI Light" panose="020B0502040204020203" pitchFamily="34" charset="0"/>
            </a:endParaRPr>
          </a:p>
        </p:txBody>
      </p:sp>
      <p:sp>
        <p:nvSpPr>
          <p:cNvPr id="7" name="Rectangle: Rounded Corners 11">
            <a:extLst>
              <a:ext uri="{FF2B5EF4-FFF2-40B4-BE49-F238E27FC236}">
                <a16:creationId xmlns:a16="http://schemas.microsoft.com/office/drawing/2014/main" id="{7E674DAB-F386-C598-61EA-90B3E37D4E5A}"/>
              </a:ext>
            </a:extLst>
          </p:cNvPr>
          <p:cNvSpPr/>
          <p:nvPr/>
        </p:nvSpPr>
        <p:spPr>
          <a:xfrm>
            <a:off x="7813090" y="4576679"/>
            <a:ext cx="2061972"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prstClr val="white"/>
                </a:solidFill>
                <a:latin typeface="Segoe UI Light" panose="020B0502040204020203" pitchFamily="34" charset="0"/>
                <a:cs typeface="Segoe UI Light" panose="020B0502040204020203" pitchFamily="34" charset="0"/>
              </a:rPr>
              <a:t>Specs, plans &amp; executable backlog</a:t>
            </a: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8" name="Rectangle: Rounded Corners 11">
            <a:extLst>
              <a:ext uri="{FF2B5EF4-FFF2-40B4-BE49-F238E27FC236}">
                <a16:creationId xmlns:a16="http://schemas.microsoft.com/office/drawing/2014/main" id="{8E471C5E-DAAD-70BD-71BB-AFA266A454A9}"/>
              </a:ext>
            </a:extLst>
          </p:cNvPr>
          <p:cNvSpPr/>
          <p:nvPr/>
        </p:nvSpPr>
        <p:spPr>
          <a:xfrm>
            <a:off x="9294876" y="4947795"/>
            <a:ext cx="2061972"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prstClr val="white"/>
                </a:solidFill>
                <a:latin typeface="Segoe UI Light" panose="020B0502040204020203" pitchFamily="34" charset="0"/>
                <a:cs typeface="Segoe UI Light" panose="020B0502040204020203" pitchFamily="34" charset="0"/>
              </a:rPr>
              <a:t>Codegen + build gate (pilot BC)</a:t>
            </a: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51" name="Diamond 50">
            <a:extLst>
              <a:ext uri="{FF2B5EF4-FFF2-40B4-BE49-F238E27FC236}">
                <a16:creationId xmlns:a16="http://schemas.microsoft.com/office/drawing/2014/main" id="{902FA4CD-4E45-2652-F6FB-1B857D903CF9}"/>
              </a:ext>
            </a:extLst>
          </p:cNvPr>
          <p:cNvSpPr/>
          <p:nvPr/>
        </p:nvSpPr>
        <p:spPr>
          <a:xfrm>
            <a:off x="8329269" y="1819656"/>
            <a:ext cx="182880" cy="182880"/>
          </a:xfrm>
          <a:prstGeom prst="diamond">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17" name="Diamond 16">
            <a:extLst>
              <a:ext uri="{FF2B5EF4-FFF2-40B4-BE49-F238E27FC236}">
                <a16:creationId xmlns:a16="http://schemas.microsoft.com/office/drawing/2014/main" id="{4C009108-B6EC-6FA5-D374-1617185E51AC}"/>
              </a:ext>
            </a:extLst>
          </p:cNvPr>
          <p:cNvSpPr/>
          <p:nvPr/>
        </p:nvSpPr>
        <p:spPr>
          <a:xfrm>
            <a:off x="9811054" y="1819656"/>
            <a:ext cx="182880" cy="182880"/>
          </a:xfrm>
          <a:prstGeom prst="diamond">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27" name="Diamond 26">
            <a:extLst>
              <a:ext uri="{FF2B5EF4-FFF2-40B4-BE49-F238E27FC236}">
                <a16:creationId xmlns:a16="http://schemas.microsoft.com/office/drawing/2014/main" id="{A8ECF818-7E11-33EB-7EBB-11CDAA424C14}"/>
              </a:ext>
            </a:extLst>
          </p:cNvPr>
          <p:cNvSpPr/>
          <p:nvPr/>
        </p:nvSpPr>
        <p:spPr>
          <a:xfrm>
            <a:off x="11250503" y="1819656"/>
            <a:ext cx="182880" cy="182880"/>
          </a:xfrm>
          <a:prstGeom prst="diamond">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60" name="Rectangle: Rounded Corners 9">
            <a:extLst>
              <a:ext uri="{FF2B5EF4-FFF2-40B4-BE49-F238E27FC236}">
                <a16:creationId xmlns:a16="http://schemas.microsoft.com/office/drawing/2014/main" id="{2E5DB48B-0425-5CE1-4238-935EACF3CCA9}"/>
              </a:ext>
            </a:extLst>
          </p:cNvPr>
          <p:cNvSpPr/>
          <p:nvPr/>
        </p:nvSpPr>
        <p:spPr>
          <a:xfrm>
            <a:off x="9929926" y="5318911"/>
            <a:ext cx="1426921" cy="256032"/>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solidFill>
                  <a:prstClr val="white"/>
                </a:solidFill>
                <a:latin typeface="Segoe UI Light" panose="020B0502040204020203" pitchFamily="34" charset="0"/>
                <a:cs typeface="Segoe UI Light" panose="020B0502040204020203" pitchFamily="34" charset="0"/>
              </a:rPr>
              <a:t>Test plan, IaC &amp; evidence</a:t>
            </a:r>
            <a:endPar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sp>
        <p:nvSpPr>
          <p:cNvPr id="5" name="Rectangle: Rounded Corners 11">
            <a:extLst>
              <a:ext uri="{FF2B5EF4-FFF2-40B4-BE49-F238E27FC236}">
                <a16:creationId xmlns:a16="http://schemas.microsoft.com/office/drawing/2014/main" id="{3DF6E4B5-0075-2138-5B80-1300E78B7D14}"/>
              </a:ext>
            </a:extLst>
          </p:cNvPr>
          <p:cNvSpPr/>
          <p:nvPr/>
        </p:nvSpPr>
        <p:spPr>
          <a:xfrm>
            <a:off x="7389723" y="4205564"/>
            <a:ext cx="1003553"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auto">
              <a:spcBef>
                <a:spcPts val="0"/>
              </a:spcBef>
              <a:spcAft>
                <a:spcPts val="0"/>
              </a:spcAft>
              <a:defRPr/>
            </a:pPr>
            <a:r>
              <a:rPr lang="en-US" sz="900">
                <a:solidFill>
                  <a:prstClr val="white"/>
                </a:solidFill>
                <a:latin typeface="Segoe UI Light"/>
                <a:cs typeface="Segoe UI Light"/>
              </a:rPr>
              <a:t>Navigable prototype</a:t>
            </a:r>
            <a:endParaRPr lang="en-US"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endParaRPr>
          </a:p>
        </p:txBody>
      </p:sp>
      <p:graphicFrame>
        <p:nvGraphicFramePr>
          <p:cNvPr id="24" name="Table 6">
            <a:extLst>
              <a:ext uri="{FF2B5EF4-FFF2-40B4-BE49-F238E27FC236}">
                <a16:creationId xmlns:a16="http://schemas.microsoft.com/office/drawing/2014/main" id="{5E52B69E-88A7-BAD0-6EAC-E5072C5BFBB3}"/>
              </a:ext>
            </a:extLst>
          </p:cNvPr>
          <p:cNvGraphicFramePr>
            <a:graphicFrameLocks noGrp="1"/>
          </p:cNvGraphicFramePr>
          <p:nvPr/>
        </p:nvGraphicFramePr>
        <p:xfrm>
          <a:off x="10065301" y="149717"/>
          <a:ext cx="1946552" cy="1078675"/>
        </p:xfrm>
        <a:graphic>
          <a:graphicData uri="http://schemas.openxmlformats.org/drawingml/2006/table">
            <a:tbl>
              <a:tblPr firstRow="1" bandRow="1">
                <a:tableStyleId>{2D5ABB26-0587-4C30-8999-92F81FD0307C}</a:tableStyleId>
              </a:tblPr>
              <a:tblGrid>
                <a:gridCol w="356616">
                  <a:extLst>
                    <a:ext uri="{9D8B030D-6E8A-4147-A177-3AD203B41FA5}">
                      <a16:colId xmlns:a16="http://schemas.microsoft.com/office/drawing/2014/main" val="935709086"/>
                    </a:ext>
                  </a:extLst>
                </a:gridCol>
                <a:gridCol w="1589936">
                  <a:extLst>
                    <a:ext uri="{9D8B030D-6E8A-4147-A177-3AD203B41FA5}">
                      <a16:colId xmlns:a16="http://schemas.microsoft.com/office/drawing/2014/main" val="3370777087"/>
                    </a:ext>
                  </a:extLst>
                </a:gridCol>
              </a:tblGrid>
              <a:tr h="210883">
                <a:tc>
                  <a:txBody>
                    <a:bodyPr/>
                    <a:lstStyle/>
                    <a:p>
                      <a:endParaRPr lang="en-GB" sz="800"/>
                    </a:p>
                  </a:txBody>
                  <a:tcPr marL="36000" marR="36000" marT="36000" marB="36000">
                    <a:solidFill>
                      <a:schemeClr val="tx2"/>
                    </a:solidFill>
                  </a:tcPr>
                </a:tc>
                <a:tc>
                  <a:txBody>
                    <a:bodyPr/>
                    <a:lstStyle/>
                    <a:p>
                      <a:r>
                        <a:rPr lang="en-GB" sz="800"/>
                        <a:t>Avanade activity</a:t>
                      </a:r>
                    </a:p>
                  </a:txBody>
                  <a:tcPr marL="36000" marR="36000" marT="36000" marB="36000"/>
                </a:tc>
                <a:extLst>
                  <a:ext uri="{0D108BD9-81ED-4DB2-BD59-A6C34878D82A}">
                    <a16:rowId xmlns:a16="http://schemas.microsoft.com/office/drawing/2014/main" val="3787237740"/>
                  </a:ext>
                </a:extLst>
              </a:tr>
              <a:tr h="210883">
                <a:tc>
                  <a:txBody>
                    <a:bodyPr/>
                    <a:lstStyle/>
                    <a:p>
                      <a:endParaRPr lang="en-GB" sz="800"/>
                    </a:p>
                  </a:txBody>
                  <a:tcPr marL="36000" marR="36000" marT="36000" marB="36000">
                    <a:solidFill>
                      <a:srgbClr val="7030A0"/>
                    </a:solidFill>
                  </a:tcPr>
                </a:tc>
                <a:tc>
                  <a:txBody>
                    <a:bodyPr/>
                    <a:lstStyle/>
                    <a:p>
                      <a:r>
                        <a:rPr lang="en-GB" sz="800"/>
                        <a:t>ABC Bank activity</a:t>
                      </a:r>
                    </a:p>
                  </a:txBody>
                  <a:tcPr marL="36000" marR="36000" marT="36000" marB="36000"/>
                </a:tc>
                <a:extLst>
                  <a:ext uri="{0D108BD9-81ED-4DB2-BD59-A6C34878D82A}">
                    <a16:rowId xmlns:a16="http://schemas.microsoft.com/office/drawing/2014/main" val="3389252791"/>
                  </a:ext>
                </a:extLst>
              </a:tr>
              <a:tr h="210883">
                <a:tc>
                  <a:txBody>
                    <a:bodyPr/>
                    <a:lstStyle/>
                    <a:p>
                      <a:endParaRPr lang="en-GB" sz="800"/>
                    </a:p>
                  </a:txBody>
                  <a:tcPr marL="36000" marR="36000" marT="36000" marB="36000"/>
                </a:tc>
                <a:tc>
                  <a:txBody>
                    <a:bodyPr/>
                    <a:lstStyle/>
                    <a:p>
                      <a:r>
                        <a:rPr lang="en-GB" sz="800"/>
                        <a:t>Quality gate</a:t>
                      </a:r>
                    </a:p>
                  </a:txBody>
                  <a:tcPr marL="36000" marR="36000" marT="36000" marB="36000"/>
                </a:tc>
                <a:extLst>
                  <a:ext uri="{0D108BD9-81ED-4DB2-BD59-A6C34878D82A}">
                    <a16:rowId xmlns:a16="http://schemas.microsoft.com/office/drawing/2014/main" val="2071856756"/>
                  </a:ext>
                </a:extLst>
              </a:tr>
              <a:tr h="210883">
                <a:tc>
                  <a:txBody>
                    <a:bodyPr/>
                    <a:lstStyle/>
                    <a:p>
                      <a:endParaRPr lang="en-GB" sz="800"/>
                    </a:p>
                  </a:txBody>
                  <a:tcPr marL="36000" marR="36000" marT="36000" marB="36000"/>
                </a:tc>
                <a:tc>
                  <a:txBody>
                    <a:bodyPr/>
                    <a:lstStyle/>
                    <a:p>
                      <a:r>
                        <a:rPr lang="en-GB" sz="800"/>
                        <a:t>Work Product</a:t>
                      </a:r>
                    </a:p>
                  </a:txBody>
                  <a:tcPr marL="36000" marR="36000" marT="36000" marB="36000"/>
                </a:tc>
                <a:extLst>
                  <a:ext uri="{0D108BD9-81ED-4DB2-BD59-A6C34878D82A}">
                    <a16:rowId xmlns:a16="http://schemas.microsoft.com/office/drawing/2014/main" val="301481095"/>
                  </a:ext>
                </a:extLst>
              </a:tr>
              <a:tr h="235143">
                <a:tc>
                  <a:txBody>
                    <a:bodyPr/>
                    <a:lstStyle/>
                    <a:p>
                      <a:endParaRPr lang="en-GB" sz="800"/>
                    </a:p>
                  </a:txBody>
                  <a:tcPr marL="36000" marR="36000" marT="36000" marB="36000"/>
                </a:tc>
                <a:tc>
                  <a:txBody>
                    <a:bodyPr/>
                    <a:lstStyle/>
                    <a:p>
                      <a:r>
                        <a:rPr lang="en-GB" sz="800"/>
                        <a:t>Deliverable</a:t>
                      </a:r>
                    </a:p>
                  </a:txBody>
                  <a:tcPr marL="36000" marR="36000" marT="36000" marB="36000"/>
                </a:tc>
                <a:extLst>
                  <a:ext uri="{0D108BD9-81ED-4DB2-BD59-A6C34878D82A}">
                    <a16:rowId xmlns:a16="http://schemas.microsoft.com/office/drawing/2014/main" val="1186744219"/>
                  </a:ext>
                </a:extLst>
              </a:tr>
            </a:tbl>
          </a:graphicData>
        </a:graphic>
      </p:graphicFrame>
      <p:sp>
        <p:nvSpPr>
          <p:cNvPr id="15" name="Rectangle 14">
            <a:extLst>
              <a:ext uri="{FF2B5EF4-FFF2-40B4-BE49-F238E27FC236}">
                <a16:creationId xmlns:a16="http://schemas.microsoft.com/office/drawing/2014/main" id="{508666CA-CD39-954E-B184-1D9213E6A611}"/>
              </a:ext>
            </a:extLst>
          </p:cNvPr>
          <p:cNvSpPr/>
          <p:nvPr/>
        </p:nvSpPr>
        <p:spPr>
          <a:xfrm>
            <a:off x="9481870" y="1298448"/>
            <a:ext cx="841248" cy="475488"/>
          </a:xfrm>
          <a:prstGeom prst="rect">
            <a:avLst/>
          </a:prstGeom>
          <a:solidFill>
            <a:schemeClr val="bg2">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latin typeface="Segoe UI Light" panose="020B0502040204020203" pitchFamily="34" charset="0"/>
                <a:cs typeface="Segoe UI Light" panose="020B0502040204020203" pitchFamily="34" charset="0"/>
              </a:rPr>
              <a:t>F3S Exit Gate 100%</a:t>
            </a:r>
          </a:p>
        </p:txBody>
      </p:sp>
      <p:sp>
        <p:nvSpPr>
          <p:cNvPr id="23" name="Rectangle 22">
            <a:extLst>
              <a:ext uri="{FF2B5EF4-FFF2-40B4-BE49-F238E27FC236}">
                <a16:creationId xmlns:a16="http://schemas.microsoft.com/office/drawing/2014/main" id="{481C42ED-65E9-0CE2-B423-EA093F0AD5A6}"/>
              </a:ext>
            </a:extLst>
          </p:cNvPr>
          <p:cNvSpPr/>
          <p:nvPr/>
        </p:nvSpPr>
        <p:spPr>
          <a:xfrm>
            <a:off x="2538648" y="1298448"/>
            <a:ext cx="841248" cy="47548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Segoe UI Light" panose="020B0502040204020203" pitchFamily="34" charset="0"/>
                <a:cs typeface="Segoe UI Light" panose="020B0502040204020203" pitchFamily="34" charset="0"/>
              </a:rPr>
              <a:t>Kickoff</a:t>
            </a:r>
            <a:endParaRPr lang="en-GB" sz="900">
              <a:latin typeface="Segoe UI Light" panose="020B0502040204020203" pitchFamily="34" charset="0"/>
              <a:cs typeface="Segoe UI Light" panose="020B0502040204020203" pitchFamily="34" charset="0"/>
            </a:endParaRPr>
          </a:p>
        </p:txBody>
      </p:sp>
      <p:sp>
        <p:nvSpPr>
          <p:cNvPr id="61" name="Rectangle: Rounded Corners 13">
            <a:extLst>
              <a:ext uri="{FF2B5EF4-FFF2-40B4-BE49-F238E27FC236}">
                <a16:creationId xmlns:a16="http://schemas.microsoft.com/office/drawing/2014/main" id="{60FEAC5D-31D6-9EE1-ADF8-B23F21A6B171}"/>
              </a:ext>
            </a:extLst>
          </p:cNvPr>
          <p:cNvSpPr/>
          <p:nvPr/>
        </p:nvSpPr>
        <p:spPr>
          <a:xfrm>
            <a:off x="2944368" y="3092216"/>
            <a:ext cx="2061972" cy="256032"/>
          </a:xfrm>
          <a:prstGeom prst="roundRect">
            <a:avLst/>
          </a:prstGeom>
          <a:solidFill>
            <a:schemeClr val="tx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chemeClr val="tx1"/>
                </a:solidFill>
                <a:effectLst/>
                <a:uLnTx/>
                <a:uFillTx/>
                <a:latin typeface="Segoe UI Light" panose="020B0502040204020203" pitchFamily="34" charset="0"/>
                <a:cs typeface="Segoe UI Light" panose="020B0502040204020203" pitchFamily="34" charset="0"/>
              </a:rPr>
              <a:t>Mobilization &amp; AI environment setup</a:t>
            </a:r>
          </a:p>
        </p:txBody>
      </p:sp>
      <p:sp>
        <p:nvSpPr>
          <p:cNvPr id="4" name="Rectangle: Rounded Corners 13">
            <a:extLst>
              <a:ext uri="{FF2B5EF4-FFF2-40B4-BE49-F238E27FC236}">
                <a16:creationId xmlns:a16="http://schemas.microsoft.com/office/drawing/2014/main" id="{244AFAD1-344A-259C-80F0-5A43A963BA9B}"/>
              </a:ext>
            </a:extLst>
          </p:cNvPr>
          <p:cNvSpPr/>
          <p:nvPr/>
        </p:nvSpPr>
        <p:spPr>
          <a:xfrm>
            <a:off x="3791102" y="3463332"/>
            <a:ext cx="3332073" cy="2560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Segoe UI Light" panose="020B0502040204020203" pitchFamily="34" charset="0"/>
                <a:cs typeface="Segoe UI Light" panose="020B0502040204020203" pitchFamily="34" charset="0"/>
              </a:rPr>
              <a:t>AST extraction + AS-IS diagnostic</a:t>
            </a:r>
          </a:p>
        </p:txBody>
      </p:sp>
      <p:sp>
        <p:nvSpPr>
          <p:cNvPr id="40" name="Rectangle 39">
            <a:extLst>
              <a:ext uri="{FF2B5EF4-FFF2-40B4-BE49-F238E27FC236}">
                <a16:creationId xmlns:a16="http://schemas.microsoft.com/office/drawing/2014/main" id="{5FCA6F5C-7971-D6F4-FED8-A5D8A6D263D5}"/>
              </a:ext>
            </a:extLst>
          </p:cNvPr>
          <p:cNvSpPr/>
          <p:nvPr/>
        </p:nvSpPr>
        <p:spPr>
          <a:xfrm>
            <a:off x="6729984" y="1298448"/>
            <a:ext cx="841248" cy="475488"/>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a:latin typeface="Segoe UI Light" panose="020B0502040204020203" pitchFamily="34" charset="0"/>
                <a:cs typeface="Segoe UI Light" panose="020B0502040204020203" pitchFamily="34" charset="0"/>
              </a:rPr>
              <a:t>F1 Security Gate</a:t>
            </a:r>
            <a:endParaRPr lang="en-GB" sz="90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120811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58D48A-E3E9-A341-0B95-9ED9FEC95F34}"/>
              </a:ext>
            </a:extLst>
          </p:cNvPr>
          <p:cNvSpPr>
            <a:spLocks noGrp="1"/>
          </p:cNvSpPr>
          <p:nvPr>
            <p:ph idx="1"/>
          </p:nvPr>
        </p:nvSpPr>
        <p:spPr/>
        <p:txBody>
          <a:bodyPr numCol="2" spcCol="180000"/>
          <a:lstStyle/>
          <a:p>
            <a:pPr marL="342900" indent="-342900">
              <a:buFont typeface="Arial" panose="020B0604020202020204" pitchFamily="34" charset="0"/>
              <a:buChar char="•"/>
            </a:pPr>
            <a:r>
              <a:rPr lang="en-US" sz="1600"/>
              <a:t>Mass code generation of the full backlog — F4 is limited to ONE pilot bounded context</a:t>
            </a:r>
          </a:p>
          <a:p>
            <a:pPr marL="342900" indent="-342900">
              <a:buFont typeface="Arial" panose="020B0604020202020204" pitchFamily="34" charset="0"/>
              <a:buChar char="•"/>
            </a:pPr>
            <a:r>
              <a:rPr lang="en-US" sz="1600"/>
              <a:t>Code generation for Java/Spring Boot, Python/FastAPI, Go/Gin or NestJS (not GA in the platform)</a:t>
            </a:r>
          </a:p>
          <a:p>
            <a:pPr marL="342900" indent="-342900">
              <a:buFont typeface="Arial" panose="020B0604020202020204" pitchFamily="34" charset="0"/>
              <a:buChar char="•"/>
            </a:pPr>
            <a:r>
              <a:rPr lang="en-US" sz="1600"/>
              <a:t>Production cutover, go-live or decommissioning of the legacy application</a:t>
            </a:r>
          </a:p>
          <a:p>
            <a:pPr marL="342900" indent="-342900">
              <a:buFont typeface="Arial" panose="020B0604020202020204" pitchFamily="34" charset="0"/>
              <a:buChar char="•"/>
            </a:pPr>
            <a:r>
              <a:rPr lang="en-US" sz="1600"/>
              <a:t>Real data migration, data purge, archiving or sanitization of any kind</a:t>
            </a:r>
          </a:p>
          <a:p>
            <a:pPr marL="342900" indent="-342900">
              <a:buFont typeface="Arial" panose="020B0604020202020204" pitchFamily="34" charset="0"/>
              <a:buChar char="•"/>
            </a:pPr>
            <a:r>
              <a:rPr lang="en-US" sz="1600"/>
              <a:t>Execution of the bank's corporate SAST/DAST scans and penetration testing (the PoC produces the scope, checklist and remediation backlog)</a:t>
            </a:r>
          </a:p>
          <a:p>
            <a:pPr marL="342900" indent="-342900">
              <a:buFont typeface="Arial" panose="020B0604020202020204" pitchFamily="34" charset="0"/>
              <a:buChar char="•"/>
            </a:pPr>
            <a:r>
              <a:rPr lang="en-US" sz="1600"/>
              <a:t>Replacement of the bank's homologation, change-management or release-approval processes</a:t>
            </a:r>
          </a:p>
          <a:p>
            <a:pPr marL="342900" indent="-342900">
              <a:buFont typeface="Arial" panose="020B0604020202020204" pitchFamily="34" charset="0"/>
              <a:buChar char="•"/>
            </a:pPr>
            <a:r>
              <a:rPr lang="en-US" sz="1600"/>
              <a:t>Remediation of vulnerabilities found in the legacy application</a:t>
            </a:r>
          </a:p>
          <a:p>
            <a:pPr marL="342900" indent="-342900">
              <a:buFont typeface="Arial" panose="020B0604020202020204" pitchFamily="34" charset="0"/>
              <a:buChar char="•"/>
            </a:pPr>
            <a:r>
              <a:rPr lang="en-US" sz="1600"/>
              <a:t>Refactoring or maintenance of the legacy code base</a:t>
            </a:r>
          </a:p>
          <a:p>
            <a:pPr marL="342900" indent="-342900">
              <a:buFont typeface="Arial" panose="020B0604020202020204" pitchFamily="34" charset="0"/>
              <a:buChar char="•"/>
            </a:pPr>
            <a:r>
              <a:rPr lang="en-US" sz="1600"/>
              <a:t>Licensing acquisition or procurement (Azure, Microsoft, third-party tooling)</a:t>
            </a:r>
          </a:p>
          <a:p>
            <a:pPr marL="342900" indent="-342900">
              <a:buFont typeface="Arial" panose="020B0604020202020204" pitchFamily="34" charset="0"/>
              <a:buChar char="•"/>
            </a:pPr>
            <a:r>
              <a:rPr lang="en-US" sz="1600"/>
              <a:t>Provisioning or management of production environments</a:t>
            </a:r>
          </a:p>
          <a:p>
            <a:pPr marL="342900" indent="-342900">
              <a:buFont typeface="Arial" panose="020B0604020202020204" pitchFamily="34" charset="0"/>
              <a:buChar char="•"/>
            </a:pPr>
            <a:r>
              <a:rPr lang="en-US" sz="1600"/>
              <a:t>Integration with core banking systems, payment rails or external providers</a:t>
            </a:r>
          </a:p>
          <a:p>
            <a:pPr marL="342900" indent="-342900">
              <a:buFont typeface="Arial" panose="020B0604020202020204" pitchFamily="34" charset="0"/>
              <a:buChar char="•"/>
            </a:pPr>
            <a:r>
              <a:rPr lang="en-US" sz="1600"/>
              <a:t>UAT execution with business users; end-user training, communications or change management</a:t>
            </a:r>
          </a:p>
          <a:p>
            <a:pPr marL="342900" indent="-342900">
              <a:buFont typeface="Arial" panose="020B0604020202020204" pitchFamily="34" charset="0"/>
              <a:buChar char="•"/>
            </a:pPr>
            <a:r>
              <a:rPr lang="en-US" sz="1600">
                <a:solidFill>
                  <a:schemeClr val="dk1"/>
                </a:solidFill>
              </a:rPr>
              <a:t>Business process redesign, target operating model or organizational design</a:t>
            </a:r>
          </a:p>
          <a:p>
            <a:pPr marL="342900" indent="-342900">
              <a:buFont typeface="Arial" panose="020B0604020202020204" pitchFamily="34" charset="0"/>
              <a:buChar char="•"/>
            </a:pPr>
            <a:r>
              <a:rPr lang="en-US" sz="1600">
                <a:solidFill>
                  <a:schemeClr val="dk1"/>
                </a:solidFill>
              </a:rPr>
              <a:t>Level 1 / Level 2 support, hypercare or post-PoC application support</a:t>
            </a:r>
          </a:p>
          <a:p>
            <a:pPr marL="342900" indent="-342900">
              <a:buFont typeface="Arial" panose="020B0604020202020204" pitchFamily="34" charset="0"/>
              <a:buChar char="•"/>
            </a:pPr>
            <a:r>
              <a:rPr lang="en-US" sz="1600">
                <a:solidFill>
                  <a:schemeClr val="dk1"/>
                </a:solidFill>
              </a:rPr>
              <a:t>Formal business sign-off of the business-rule catalogue; any performance or SLA commitment for the generated code; modernization of applications other than the selected pilot</a:t>
            </a:r>
          </a:p>
        </p:txBody>
      </p:sp>
      <p:sp>
        <p:nvSpPr>
          <p:cNvPr id="3" name="Title 2">
            <a:extLst>
              <a:ext uri="{FF2B5EF4-FFF2-40B4-BE49-F238E27FC236}">
                <a16:creationId xmlns:a16="http://schemas.microsoft.com/office/drawing/2014/main" id="{D2534F90-62BB-9AB7-C969-BD9FC0A17332}"/>
              </a:ext>
            </a:extLst>
          </p:cNvPr>
          <p:cNvSpPr>
            <a:spLocks noGrp="1"/>
          </p:cNvSpPr>
          <p:nvPr>
            <p:ph type="title"/>
          </p:nvPr>
        </p:nvSpPr>
        <p:spPr/>
        <p:txBody>
          <a:bodyPr/>
          <a:lstStyle/>
          <a:p>
            <a:r>
              <a:rPr lang="en-US"/>
              <a:t>Out of Scope for Brazil Engineering Hub</a:t>
            </a:r>
          </a:p>
        </p:txBody>
      </p:sp>
      <p:sp>
        <p:nvSpPr>
          <p:cNvPr id="4" name="Slide Number Placeholder 3">
            <a:extLst>
              <a:ext uri="{FF2B5EF4-FFF2-40B4-BE49-F238E27FC236}">
                <a16:creationId xmlns:a16="http://schemas.microsoft.com/office/drawing/2014/main" id="{CEB7EBF0-4DBC-4972-E40F-A7BF5E48601B}"/>
              </a:ext>
            </a:extLst>
          </p:cNvPr>
          <p:cNvSpPr>
            <a:spLocks noGrp="1"/>
          </p:cNvSpPr>
          <p:nvPr>
            <p:ph type="sldNum" sz="quarter" idx="10"/>
          </p:nvPr>
        </p:nvSpPr>
        <p:spPr/>
        <p:txBody>
          <a:bodyPr/>
          <a:lstStyle/>
          <a:p>
            <a:endParaRPr lang="en-US"/>
          </a:p>
        </p:txBody>
      </p:sp>
    </p:spTree>
    <p:extLst>
      <p:ext uri="{BB962C8B-B14F-4D97-AF65-F5344CB8AC3E}">
        <p14:creationId xmlns:p14="http://schemas.microsoft.com/office/powerpoint/2010/main" val="2316157058"/>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2C7B0-54ED-EB6F-1AA4-7817EC93E5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CEC753-B20A-CEBB-7F27-32921B65C044}"/>
              </a:ext>
            </a:extLst>
          </p:cNvPr>
          <p:cNvSpPr>
            <a:spLocks noGrp="1"/>
          </p:cNvSpPr>
          <p:nvPr>
            <p:ph type="title"/>
          </p:nvPr>
        </p:nvSpPr>
        <p:spPr>
          <a:xfrm>
            <a:off x="691376" y="202037"/>
            <a:ext cx="10783229" cy="687854"/>
          </a:xfrm>
        </p:spPr>
        <p:txBody>
          <a:bodyPr/>
          <a:lstStyle/>
          <a:p>
            <a:r>
              <a:rPr lang="en-US"/>
              <a:t>BEH Staffing</a:t>
            </a:r>
          </a:p>
        </p:txBody>
      </p:sp>
      <p:sp>
        <p:nvSpPr>
          <p:cNvPr id="4" name="Slide Number Placeholder 3">
            <a:extLst>
              <a:ext uri="{FF2B5EF4-FFF2-40B4-BE49-F238E27FC236}">
                <a16:creationId xmlns:a16="http://schemas.microsoft.com/office/drawing/2014/main" id="{59ABA8C9-6CFC-264F-2D3E-2ED88FD4E87B}"/>
              </a:ext>
            </a:extLst>
          </p:cNvPr>
          <p:cNvSpPr>
            <a:spLocks noGrp="1"/>
          </p:cNvSpPr>
          <p:nvPr>
            <p:ph type="sldNum" sz="quarter" idx="10"/>
          </p:nvPr>
        </p:nvSpPr>
        <p:spPr/>
        <p:txBody>
          <a:bodyPr/>
          <a:lstStyle/>
          <a:p>
            <a:fld id="{0EE23A24-5E29-4F5A-B780-9568AE9A51DD}" type="slidenum">
              <a:rPr lang="en-US" smtClean="0"/>
              <a:pPr/>
              <a:t>8</a:t>
            </a:fld>
            <a:endParaRPr lang="en-US"/>
          </a:p>
        </p:txBody>
      </p:sp>
      <p:graphicFrame>
        <p:nvGraphicFramePr>
          <p:cNvPr id="7" name="Table 6">
            <a:extLst>
              <a:ext uri="{FF2B5EF4-FFF2-40B4-BE49-F238E27FC236}">
                <a16:creationId xmlns:a16="http://schemas.microsoft.com/office/drawing/2014/main" id="{2CB60F78-601C-3189-BD93-CC4FC5A6628F}"/>
              </a:ext>
            </a:extLst>
          </p:cNvPr>
          <p:cNvGraphicFramePr>
            <a:graphicFrameLocks noGrp="1"/>
          </p:cNvGraphicFramePr>
          <p:nvPr>
            <p:extLst>
              <p:ext uri="{D42A27DB-BD31-4B8C-83A1-F6EECF244321}">
                <p14:modId xmlns:p14="http://schemas.microsoft.com/office/powerpoint/2010/main" val="3539102954"/>
              </p:ext>
            </p:extLst>
          </p:nvPr>
        </p:nvGraphicFramePr>
        <p:xfrm>
          <a:off x="695325" y="1234440"/>
          <a:ext cx="10790237" cy="2517336"/>
        </p:xfrm>
        <a:graphic>
          <a:graphicData uri="http://schemas.openxmlformats.org/drawingml/2006/table">
            <a:tbl>
              <a:tblPr/>
              <a:tblGrid>
                <a:gridCol w="1397297">
                  <a:extLst>
                    <a:ext uri="{9D8B030D-6E8A-4147-A177-3AD203B41FA5}">
                      <a16:colId xmlns:a16="http://schemas.microsoft.com/office/drawing/2014/main" val="3863372768"/>
                    </a:ext>
                  </a:extLst>
                </a:gridCol>
                <a:gridCol w="3485480">
                  <a:extLst>
                    <a:ext uri="{9D8B030D-6E8A-4147-A177-3AD203B41FA5}">
                      <a16:colId xmlns:a16="http://schemas.microsoft.com/office/drawing/2014/main" val="3929019091"/>
                    </a:ext>
                  </a:extLst>
                </a:gridCol>
                <a:gridCol w="1746621">
                  <a:extLst>
                    <a:ext uri="{9D8B030D-6E8A-4147-A177-3AD203B41FA5}">
                      <a16:colId xmlns:a16="http://schemas.microsoft.com/office/drawing/2014/main" val="3684648447"/>
                    </a:ext>
                  </a:extLst>
                </a:gridCol>
                <a:gridCol w="1280856">
                  <a:extLst>
                    <a:ext uri="{9D8B030D-6E8A-4147-A177-3AD203B41FA5}">
                      <a16:colId xmlns:a16="http://schemas.microsoft.com/office/drawing/2014/main" val="3501771912"/>
                    </a:ext>
                  </a:extLst>
                </a:gridCol>
                <a:gridCol w="496816">
                  <a:extLst>
                    <a:ext uri="{9D8B030D-6E8A-4147-A177-3AD203B41FA5}">
                      <a16:colId xmlns:a16="http://schemas.microsoft.com/office/drawing/2014/main" val="2505464406"/>
                    </a:ext>
                  </a:extLst>
                </a:gridCol>
                <a:gridCol w="644309">
                  <a:extLst>
                    <a:ext uri="{9D8B030D-6E8A-4147-A177-3AD203B41FA5}">
                      <a16:colId xmlns:a16="http://schemas.microsoft.com/office/drawing/2014/main" val="2155345516"/>
                    </a:ext>
                  </a:extLst>
                </a:gridCol>
                <a:gridCol w="496816">
                  <a:extLst>
                    <a:ext uri="{9D8B030D-6E8A-4147-A177-3AD203B41FA5}">
                      <a16:colId xmlns:a16="http://schemas.microsoft.com/office/drawing/2014/main" val="125176961"/>
                    </a:ext>
                  </a:extLst>
                </a:gridCol>
                <a:gridCol w="644309">
                  <a:extLst>
                    <a:ext uri="{9D8B030D-6E8A-4147-A177-3AD203B41FA5}">
                      <a16:colId xmlns:a16="http://schemas.microsoft.com/office/drawing/2014/main" val="1416080105"/>
                    </a:ext>
                  </a:extLst>
                </a:gridCol>
                <a:gridCol w="597733">
                  <a:extLst>
                    <a:ext uri="{9D8B030D-6E8A-4147-A177-3AD203B41FA5}">
                      <a16:colId xmlns:a16="http://schemas.microsoft.com/office/drawing/2014/main" val="1180812155"/>
                    </a:ext>
                  </a:extLst>
                </a:gridCol>
              </a:tblGrid>
              <a:tr h="167595">
                <a:tc gridSpan="9">
                  <a:txBody>
                    <a:bodyPr/>
                    <a:lstStyle/>
                    <a:p>
                      <a:pPr algn="ctr" fontAlgn="ctr">
                        <a:buNone/>
                      </a:pPr>
                      <a:r>
                        <a:rPr lang="en-US" sz="1000" b="1" i="0" u="none" strike="noStrike">
                          <a:solidFill>
                            <a:srgbClr val="FFFFFF"/>
                          </a:solidFill>
                          <a:effectLst/>
                          <a:latin typeface="Calibri" panose="020F0502020204030204" pitchFamily="34" charset="0"/>
                        </a:rPr>
                        <a:t>Project Staffing — 4-week PoC</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58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65531637"/>
                  </a:ext>
                </a:extLst>
              </a:tr>
              <a:tr h="155181">
                <a:tc>
                  <a:txBody>
                    <a:bodyPr/>
                    <a:lstStyle/>
                    <a:p>
                      <a:pPr algn="ctr" fontAlgn="ctr">
                        <a:buNone/>
                      </a:pPr>
                      <a:r>
                        <a:rPr lang="en-US" sz="900" b="1" i="0" u="none" strike="noStrike">
                          <a:solidFill>
                            <a:srgbClr val="000000"/>
                          </a:solidFill>
                          <a:effectLst/>
                          <a:latin typeface="Calibri" panose="020F0502020204030204" pitchFamily="34" charset="0"/>
                        </a:rPr>
                        <a:t>Team</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Role Description</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Project Assigned Role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Level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Location</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Rate Card</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Bill Code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Time Basis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1" i="0" u="none" strike="noStrike">
                          <a:solidFill>
                            <a:srgbClr val="000000"/>
                          </a:solidFill>
                          <a:effectLst/>
                          <a:latin typeface="Calibri" panose="020F0502020204030204" pitchFamily="34" charset="0"/>
                        </a:rPr>
                        <a:t>Total Hours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566363"/>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Governance 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PM</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Project / Program 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64</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10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1283609"/>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01 - AVA Fabric</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Pipeline / esteira lead</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Architect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64</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160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2256465"/>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01 - AVA Fabric</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Platform engineer (runner, gates)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Associate 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7517802"/>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02 - AS-IS (F0-F1)</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Legacy analyst (.NET / Delphi / VB)</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Team Lead / Consultant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53</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87663851"/>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03 - TO-BE (F2-F3S)</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TO-BE architect / SpecKit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Architect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Team Lead / Consultant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53</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1080955"/>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04 - Codegen (F4)</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Senior .NET developer (build gate)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Team Lead / Consultant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53</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2246568"/>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04 - Codegen (F4)</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Angular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Application Developer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Senior Analyst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38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10358764"/>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05 - QA (F5)</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QA engineer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Test Engineer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Senior Analyst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38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85223066"/>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06 - DevOps (F6)</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DevOps / IaC (Terraform)</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Infrastructure Cloud Engineer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Senior Analyst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38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7212670"/>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07 - Security (F7)</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Security &amp; compliance (LGPD / OWASP)</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Security Consulting Practitioner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Associate Manager</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Client DO ST</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58</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20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60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44244"/>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AVA Fabric Factory</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Pipeline execution — 110 AI agents, 9 phases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AVA Fabric Factory</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Shared Service - Onshore</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Brazil</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40 hrs/week</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160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56225091"/>
                  </a:ext>
                </a:extLst>
              </a:tr>
              <a:tr h="182880">
                <a:tc>
                  <a:txBody>
                    <a:bodyPr/>
                    <a:lstStyle/>
                    <a:p>
                      <a:pPr algn="ctr" fontAlgn="ctr">
                        <a:buNone/>
                      </a:pPr>
                      <a:r>
                        <a:rPr lang="en-US" sz="900" b="0" i="0" u="none" strike="noStrike">
                          <a:solidFill>
                            <a:srgbClr val="FF5800"/>
                          </a:solidFill>
                          <a:effectLst/>
                          <a:latin typeface="Calibri" panose="020F0502020204030204" pitchFamily="34" charset="0"/>
                        </a:rPr>
                        <a:t>TOTAL</a:t>
                      </a:r>
                    </a:p>
                  </a:txBody>
                  <a:tcPr marL="6207" marR="6207" marT="6207"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11 roles · 4 weeks</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900" b="0" i="0" u="none" strike="noStrike">
                          <a:solidFill>
                            <a:srgbClr val="FF5800"/>
                          </a:solidFill>
                          <a:effectLst/>
                          <a:latin typeface="Calibri" panose="020F0502020204030204" pitchFamily="34" charset="0"/>
                        </a:rPr>
                        <a:t>800</a:t>
                      </a:r>
                    </a:p>
                  </a:txBody>
                  <a:tcPr marL="6207" marR="6207" marT="62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4976037"/>
                  </a:ext>
                </a:extLst>
              </a:tr>
            </a:tbl>
          </a:graphicData>
        </a:graphic>
      </p:graphicFrame>
    </p:spTree>
    <p:extLst>
      <p:ext uri="{BB962C8B-B14F-4D97-AF65-F5344CB8AC3E}">
        <p14:creationId xmlns:p14="http://schemas.microsoft.com/office/powerpoint/2010/main" val="12543696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Rounded Rectangle 126">
            <a:extLst>
              <a:ext uri="{FF2B5EF4-FFF2-40B4-BE49-F238E27FC236}">
                <a16:creationId xmlns:a16="http://schemas.microsoft.com/office/drawing/2014/main" id="{7D0B884C-2F04-7E02-73AD-938276FEDD68}"/>
              </a:ext>
            </a:extLst>
          </p:cNvPr>
          <p:cNvSpPr/>
          <p:nvPr/>
        </p:nvSpPr>
        <p:spPr>
          <a:xfrm>
            <a:off x="799117" y="2674637"/>
            <a:ext cx="10038736" cy="3728119"/>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123" name="Rounded Rectangle 122">
            <a:extLst>
              <a:ext uri="{FF2B5EF4-FFF2-40B4-BE49-F238E27FC236}">
                <a16:creationId xmlns:a16="http://schemas.microsoft.com/office/drawing/2014/main" id="{AB4C4BF9-ED1D-2CC9-54F1-9EBA39A0605E}"/>
              </a:ext>
            </a:extLst>
          </p:cNvPr>
          <p:cNvSpPr/>
          <p:nvPr/>
        </p:nvSpPr>
        <p:spPr>
          <a:xfrm>
            <a:off x="806245" y="1595306"/>
            <a:ext cx="10038736" cy="1044115"/>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122" name="Rounded Rectangle 121">
            <a:extLst>
              <a:ext uri="{FF2B5EF4-FFF2-40B4-BE49-F238E27FC236}">
                <a16:creationId xmlns:a16="http://schemas.microsoft.com/office/drawing/2014/main" id="{BFB10095-A6F1-BB53-08FA-505D90DB939E}"/>
              </a:ext>
            </a:extLst>
          </p:cNvPr>
          <p:cNvSpPr/>
          <p:nvPr/>
        </p:nvSpPr>
        <p:spPr>
          <a:xfrm>
            <a:off x="806246" y="816769"/>
            <a:ext cx="10038736" cy="700071"/>
          </a:xfrm>
          <a:prstGeom prst="roundRect">
            <a:avLst>
              <a:gd name="adj" fmla="val 5892"/>
            </a:avLst>
          </a:prstGeom>
          <a:solidFill>
            <a:schemeClr val="bg1">
              <a:lumMod val="95000"/>
            </a:schemeClr>
          </a:solidFill>
          <a:ln w="9525" cap="flat" cmpd="sng" algn="ctr">
            <a:solidFill>
              <a:schemeClr val="bg2"/>
            </a:solidFill>
            <a:prstDash val="solid"/>
          </a:ln>
          <a:effectLst/>
        </p:spPr>
        <p:txBody>
          <a:bodyPr lIns="274320" rIns="36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altLang="ja-JP" sz="900" u="none" strike="noStrike" kern="0" cap="none" spc="0" normalizeH="0" baseline="0" noProof="0">
              <a:ln>
                <a:noFill/>
              </a:ln>
              <a:solidFill>
                <a:srgbClr val="333333"/>
              </a:solidFill>
              <a:effectLst/>
              <a:uLnTx/>
              <a:uFillTx/>
              <a:latin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id="{8A9E583F-59AC-D0FC-44B9-AC030D05973D}"/>
              </a:ext>
            </a:extLst>
          </p:cNvPr>
          <p:cNvSpPr>
            <a:spLocks noGrp="1"/>
          </p:cNvSpPr>
          <p:nvPr>
            <p:ph type="title"/>
          </p:nvPr>
        </p:nvSpPr>
        <p:spPr>
          <a:xfrm>
            <a:off x="470793" y="199292"/>
            <a:ext cx="11200711" cy="987692"/>
          </a:xfrm>
          <a:prstGeom prst="rect">
            <a:avLst/>
          </a:prstGeom>
        </p:spPr>
        <p:txBody>
          <a:bodyPr/>
          <a:lstStyle/>
          <a:p>
            <a:r>
              <a:rPr lang="en-ZA"/>
              <a:t>Project Organization</a:t>
            </a:r>
            <a:endParaRPr lang="en-US"/>
          </a:p>
        </p:txBody>
      </p:sp>
      <p:sp>
        <p:nvSpPr>
          <p:cNvPr id="3" name="Title 54">
            <a:extLst>
              <a:ext uri="{FF2B5EF4-FFF2-40B4-BE49-F238E27FC236}">
                <a16:creationId xmlns:a16="http://schemas.microsoft.com/office/drawing/2014/main" id="{BA551802-B966-D852-5ABC-9CC3747A9936}"/>
              </a:ext>
            </a:extLst>
          </p:cNvPr>
          <p:cNvSpPr txBox="1">
            <a:spLocks/>
          </p:cNvSpPr>
          <p:nvPr/>
        </p:nvSpPr>
        <p:spPr>
          <a:xfrm>
            <a:off x="371832" y="474580"/>
            <a:ext cx="11284993" cy="597159"/>
          </a:xfrm>
        </p:spPr>
        <p:txBody>
          <a:bodyPr/>
          <a:lstStyle>
            <a:defPPr>
              <a:defRPr lang="en-US"/>
            </a:defPPr>
            <a:lvl1pPr marL="0" algn="l" defTabSz="1219170" rtl="0" eaLnBrk="1" latinLnBrk="0" hangingPunct="1">
              <a:lnSpc>
                <a:spcPct val="120000"/>
              </a:lnSpc>
              <a:spcBef>
                <a:spcPts val="267"/>
              </a:spcBef>
              <a:spcAft>
                <a:spcPts val="267"/>
              </a:spcAft>
              <a:buNone/>
              <a:defRPr sz="2667" kern="1200" baseline="0">
                <a:solidFill>
                  <a:schemeClr val="bg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rgbClr val="595959"/>
              </a:solidFill>
              <a:latin typeface="Segoe UI Black"/>
            </a:endParaRPr>
          </a:p>
        </p:txBody>
      </p:sp>
      <p:sp>
        <p:nvSpPr>
          <p:cNvPr id="15" name="Rectangle: Rounded Corners 53">
            <a:extLst>
              <a:ext uri="{FF2B5EF4-FFF2-40B4-BE49-F238E27FC236}">
                <a16:creationId xmlns:a16="http://schemas.microsoft.com/office/drawing/2014/main" id="{FE53CC52-1133-FB59-0767-5D471D3C71DF}"/>
              </a:ext>
            </a:extLst>
          </p:cNvPr>
          <p:cNvSpPr/>
          <p:nvPr/>
        </p:nvSpPr>
        <p:spPr>
          <a:xfrm>
            <a:off x="10938716" y="4871657"/>
            <a:ext cx="989631" cy="388237"/>
          </a:xfrm>
          <a:prstGeom prst="roundRect">
            <a:avLst/>
          </a:prstGeom>
          <a:solidFill>
            <a:srgbClr val="0070C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ABC Bank</a:t>
            </a:r>
          </a:p>
        </p:txBody>
      </p:sp>
      <p:sp>
        <p:nvSpPr>
          <p:cNvPr id="16" name="Rectangle: Rounded Corners 54">
            <a:extLst>
              <a:ext uri="{FF2B5EF4-FFF2-40B4-BE49-F238E27FC236}">
                <a16:creationId xmlns:a16="http://schemas.microsoft.com/office/drawing/2014/main" id="{07BF1B75-8126-B5F6-8A72-A0DC63C0CDF5}"/>
              </a:ext>
            </a:extLst>
          </p:cNvPr>
          <p:cNvSpPr/>
          <p:nvPr/>
        </p:nvSpPr>
        <p:spPr>
          <a:xfrm>
            <a:off x="10938715" y="5351109"/>
            <a:ext cx="989631" cy="388237"/>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srgbClr val="FFFFFF"/>
                </a:solidFill>
                <a:effectLst/>
                <a:uLnTx/>
                <a:uFillTx/>
                <a:latin typeface="Segoe UI" panose="020B0502040204020203" pitchFamily="34" charset="0"/>
                <a:cs typeface="Segoe UI" panose="020B0502040204020203" pitchFamily="34" charset="0"/>
              </a:rPr>
              <a:t>Avanade</a:t>
            </a:r>
          </a:p>
        </p:txBody>
      </p:sp>
      <p:sp>
        <p:nvSpPr>
          <p:cNvPr id="24" name="AutoShape 79">
            <a:extLst>
              <a:ext uri="{FF2B5EF4-FFF2-40B4-BE49-F238E27FC236}">
                <a16:creationId xmlns:a16="http://schemas.microsoft.com/office/drawing/2014/main" id="{47F0D75E-E8D2-692A-BDBD-49C1C6FF15DA}"/>
              </a:ext>
            </a:extLst>
          </p:cNvPr>
          <p:cNvSpPr>
            <a:spLocks noChangeArrowheads="1"/>
          </p:cNvSpPr>
          <p:nvPr/>
        </p:nvSpPr>
        <p:spPr bwMode="auto">
          <a:xfrm>
            <a:off x="2964741" y="1732718"/>
            <a:ext cx="1658956" cy="337940"/>
          </a:xfrm>
          <a:prstGeom prst="roundRect">
            <a:avLst>
              <a:gd name="adj" fmla="val 16667"/>
            </a:avLst>
          </a:prstGeom>
          <a:solidFill>
            <a:schemeClr val="accent4"/>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Project Manager</a:t>
            </a:r>
          </a:p>
        </p:txBody>
      </p:sp>
      <p:sp>
        <p:nvSpPr>
          <p:cNvPr id="25" name="Rectangle: Rounded Corners 65">
            <a:extLst>
              <a:ext uri="{FF2B5EF4-FFF2-40B4-BE49-F238E27FC236}">
                <a16:creationId xmlns:a16="http://schemas.microsoft.com/office/drawing/2014/main" id="{3421EF99-EADD-504D-45D3-F0727FA4B2D7}"/>
              </a:ext>
            </a:extLst>
          </p:cNvPr>
          <p:cNvSpPr>
            <a:spLocks/>
          </p:cNvSpPr>
          <p:nvPr/>
        </p:nvSpPr>
        <p:spPr>
          <a:xfrm>
            <a:off x="9055530" y="2926674"/>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Enterprise Architect</a:t>
            </a:r>
          </a:p>
        </p:txBody>
      </p:sp>
      <p:sp>
        <p:nvSpPr>
          <p:cNvPr id="26" name="Rectangle: Rounded Corners 66">
            <a:extLst>
              <a:ext uri="{FF2B5EF4-FFF2-40B4-BE49-F238E27FC236}">
                <a16:creationId xmlns:a16="http://schemas.microsoft.com/office/drawing/2014/main" id="{8DAF5143-A53D-C5A9-BDA6-EBDB3EA8C5A2}"/>
              </a:ext>
            </a:extLst>
          </p:cNvPr>
          <p:cNvSpPr>
            <a:spLocks/>
          </p:cNvSpPr>
          <p:nvPr/>
        </p:nvSpPr>
        <p:spPr>
          <a:xfrm>
            <a:off x="9055530" y="3220271"/>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srgbClr val="FFFFFF"/>
                </a:solidFill>
                <a:latin typeface="Segoe UI" panose="020B0502040204020203" pitchFamily="34" charset="0"/>
                <a:ea typeface="ＭＳ Ｐゴシック"/>
                <a:cs typeface="Segoe UI" panose="020B0502040204020203" pitchFamily="34" charset="0"/>
              </a:rPr>
              <a:t>CISO / DPO</a:t>
            </a:r>
          </a:p>
        </p:txBody>
      </p:sp>
      <p:sp>
        <p:nvSpPr>
          <p:cNvPr id="28" name="AutoShape 79">
            <a:extLst>
              <a:ext uri="{FF2B5EF4-FFF2-40B4-BE49-F238E27FC236}">
                <a16:creationId xmlns:a16="http://schemas.microsoft.com/office/drawing/2014/main" id="{E4282B70-347A-7DAF-FE99-A4A206A159E9}"/>
              </a:ext>
            </a:extLst>
          </p:cNvPr>
          <p:cNvSpPr>
            <a:spLocks noChangeArrowheads="1"/>
          </p:cNvSpPr>
          <p:nvPr/>
        </p:nvSpPr>
        <p:spPr bwMode="auto">
          <a:xfrm>
            <a:off x="5639138" y="1042087"/>
            <a:ext cx="1430010"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Executive Sponsor</a:t>
            </a:r>
          </a:p>
        </p:txBody>
      </p:sp>
      <p:sp>
        <p:nvSpPr>
          <p:cNvPr id="30" name="Rectangle: Rounded Corners 71">
            <a:extLst>
              <a:ext uri="{FF2B5EF4-FFF2-40B4-BE49-F238E27FC236}">
                <a16:creationId xmlns:a16="http://schemas.microsoft.com/office/drawing/2014/main" id="{A5324514-20B3-DE74-0FFF-CE93EDE0DB78}"/>
              </a:ext>
            </a:extLst>
          </p:cNvPr>
          <p:cNvSpPr>
            <a:spLocks/>
          </p:cNvSpPr>
          <p:nvPr/>
        </p:nvSpPr>
        <p:spPr>
          <a:xfrm>
            <a:off x="4109994" y="3082844"/>
            <a:ext cx="2784558" cy="298042"/>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Codegen Lead (F4-F5)</a:t>
            </a:r>
          </a:p>
        </p:txBody>
      </p:sp>
      <p:cxnSp>
        <p:nvCxnSpPr>
          <p:cNvPr id="31" name="Straight Connector 30">
            <a:extLst>
              <a:ext uri="{FF2B5EF4-FFF2-40B4-BE49-F238E27FC236}">
                <a16:creationId xmlns:a16="http://schemas.microsoft.com/office/drawing/2014/main" id="{A866F361-CB8A-B7DA-6CD3-68AE96B05EBE}"/>
              </a:ext>
            </a:extLst>
          </p:cNvPr>
          <p:cNvCxnSpPr>
            <a:cxnSpLocks/>
          </p:cNvCxnSpPr>
          <p:nvPr/>
        </p:nvCxnSpPr>
        <p:spPr>
          <a:xfrm>
            <a:off x="8681654" y="3499022"/>
            <a:ext cx="0" cy="0"/>
          </a:xfrm>
          <a:prstGeom prst="line">
            <a:avLst/>
          </a:prstGeom>
          <a:noFill/>
          <a:ln w="9525" cap="flat" cmpd="sng" algn="ctr">
            <a:solidFill>
              <a:srgbClr val="890078">
                <a:shade val="95000"/>
                <a:satMod val="105000"/>
              </a:srgbClr>
            </a:solidFill>
            <a:prstDash val="solid"/>
          </a:ln>
          <a:effectLst/>
        </p:spPr>
      </p:cxnSp>
      <p:sp>
        <p:nvSpPr>
          <p:cNvPr id="32" name="Rectangle: Rounded Corners 79">
            <a:extLst>
              <a:ext uri="{FF2B5EF4-FFF2-40B4-BE49-F238E27FC236}">
                <a16:creationId xmlns:a16="http://schemas.microsoft.com/office/drawing/2014/main" id="{35E0FB1D-CB5B-10E4-07E1-F92C65B294A2}"/>
              </a:ext>
            </a:extLst>
          </p:cNvPr>
          <p:cNvSpPr>
            <a:spLocks/>
          </p:cNvSpPr>
          <p:nvPr/>
        </p:nvSpPr>
        <p:spPr>
          <a:xfrm>
            <a:off x="9055530" y="3503097"/>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Business SMEs (rules)</a:t>
            </a:r>
          </a:p>
        </p:txBody>
      </p:sp>
      <p:sp>
        <p:nvSpPr>
          <p:cNvPr id="33" name="Rectangle: Rounded Corners 80">
            <a:extLst>
              <a:ext uri="{FF2B5EF4-FFF2-40B4-BE49-F238E27FC236}">
                <a16:creationId xmlns:a16="http://schemas.microsoft.com/office/drawing/2014/main" id="{DEBACA4D-11BE-9A86-4939-A1D59144F067}"/>
              </a:ext>
            </a:extLst>
          </p:cNvPr>
          <p:cNvSpPr>
            <a:spLocks/>
          </p:cNvSpPr>
          <p:nvPr/>
        </p:nvSpPr>
        <p:spPr>
          <a:xfrm>
            <a:off x="9055530" y="3785923"/>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Squad Tech Leads</a:t>
            </a:r>
          </a:p>
        </p:txBody>
      </p:sp>
      <p:sp>
        <p:nvSpPr>
          <p:cNvPr id="34" name="TextBox 82">
            <a:extLst>
              <a:ext uri="{FF2B5EF4-FFF2-40B4-BE49-F238E27FC236}">
                <a16:creationId xmlns:a16="http://schemas.microsoft.com/office/drawing/2014/main" id="{FFCA7144-F65C-7DC1-1B29-886816FD9A09}"/>
              </a:ext>
            </a:extLst>
          </p:cNvPr>
          <p:cNvSpPr txBox="1"/>
          <p:nvPr/>
        </p:nvSpPr>
        <p:spPr>
          <a:xfrm>
            <a:off x="11155085" y="4534661"/>
            <a:ext cx="501740" cy="184666"/>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Legend</a:t>
            </a:r>
          </a:p>
        </p:txBody>
      </p:sp>
      <p:sp>
        <p:nvSpPr>
          <p:cNvPr id="37" name="AutoShape 79">
            <a:extLst>
              <a:ext uri="{FF2B5EF4-FFF2-40B4-BE49-F238E27FC236}">
                <a16:creationId xmlns:a16="http://schemas.microsoft.com/office/drawing/2014/main" id="{361A2087-B234-072C-37E7-26F9CDC21CC2}"/>
              </a:ext>
            </a:extLst>
          </p:cNvPr>
          <p:cNvSpPr>
            <a:spLocks noChangeArrowheads="1"/>
          </p:cNvSpPr>
          <p:nvPr/>
        </p:nvSpPr>
        <p:spPr bwMode="auto">
          <a:xfrm>
            <a:off x="8935214" y="1028413"/>
            <a:ext cx="1658956" cy="348840"/>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IT Sponsor (ABC Bank)</a:t>
            </a:r>
          </a:p>
        </p:txBody>
      </p:sp>
      <p:sp>
        <p:nvSpPr>
          <p:cNvPr id="38" name="AutoShape 79">
            <a:extLst>
              <a:ext uri="{FF2B5EF4-FFF2-40B4-BE49-F238E27FC236}">
                <a16:creationId xmlns:a16="http://schemas.microsoft.com/office/drawing/2014/main" id="{12BD1974-9A89-B715-91FD-5916745ADD1B}"/>
              </a:ext>
            </a:extLst>
          </p:cNvPr>
          <p:cNvSpPr>
            <a:spLocks noChangeArrowheads="1"/>
          </p:cNvSpPr>
          <p:nvPr/>
        </p:nvSpPr>
        <p:spPr bwMode="auto">
          <a:xfrm>
            <a:off x="7165986" y="1028412"/>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srgbClr val="FFFFFF"/>
                </a:solidFill>
                <a:latin typeface="Segoe UI" panose="020B0502040204020203" pitchFamily="34" charset="0"/>
                <a:ea typeface="ＭＳ Ｐゴシック"/>
                <a:cs typeface="Segoe UI" panose="020B0502040204020203" pitchFamily="34" charset="0"/>
              </a:rPr>
              <a:t>Executive Sponsor (ABC Bank)</a:t>
            </a:r>
            <a:endParaRPr lang="en-GB" altLang="ja-JP" sz="1000">
              <a:solidFill>
                <a:srgbClr val="FFFFFF"/>
              </a:solidFill>
              <a:latin typeface="Segoe UI" panose="020B0502040204020203" pitchFamily="34" charset="0"/>
              <a:ea typeface="ＭＳ Ｐゴシック" charset="0"/>
              <a:cs typeface="Segoe UI" panose="020B0502040204020203" pitchFamily="34" charset="0"/>
            </a:endParaRPr>
          </a:p>
        </p:txBody>
      </p:sp>
      <p:sp>
        <p:nvSpPr>
          <p:cNvPr id="39" name="AutoShape 79">
            <a:extLst>
              <a:ext uri="{FF2B5EF4-FFF2-40B4-BE49-F238E27FC236}">
                <a16:creationId xmlns:a16="http://schemas.microsoft.com/office/drawing/2014/main" id="{6F7729DD-F6FA-20BC-A8D5-4EEFD331186B}"/>
              </a:ext>
            </a:extLst>
          </p:cNvPr>
          <p:cNvSpPr>
            <a:spLocks noChangeArrowheads="1"/>
          </p:cNvSpPr>
          <p:nvPr/>
        </p:nvSpPr>
        <p:spPr bwMode="auto">
          <a:xfrm>
            <a:off x="6690434" y="1735415"/>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Program Lead (ABC Bank)</a:t>
            </a:r>
          </a:p>
        </p:txBody>
      </p:sp>
      <p:sp>
        <p:nvSpPr>
          <p:cNvPr id="40" name="AutoShape 79">
            <a:extLst>
              <a:ext uri="{FF2B5EF4-FFF2-40B4-BE49-F238E27FC236}">
                <a16:creationId xmlns:a16="http://schemas.microsoft.com/office/drawing/2014/main" id="{65A8A4EE-764B-B16D-4685-F0726D90B19A}"/>
              </a:ext>
            </a:extLst>
          </p:cNvPr>
          <p:cNvSpPr>
            <a:spLocks noChangeArrowheads="1"/>
          </p:cNvSpPr>
          <p:nvPr/>
        </p:nvSpPr>
        <p:spPr bwMode="auto">
          <a:xfrm>
            <a:off x="8423582" y="1742868"/>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altLang="ja-JP" sz="1000">
                <a:solidFill>
                  <a:prstClr val="white"/>
                </a:solidFill>
                <a:latin typeface="Segoe UI" panose="020B0502040204020203" pitchFamily="34" charset="0"/>
                <a:ea typeface="ＭＳ Ｐゴシック" charset="0"/>
                <a:cs typeface="Segoe UI" panose="020B0502040204020203" pitchFamily="34" charset="0"/>
              </a:rPr>
              <a:t>Project Manager (ABC Bank)</a:t>
            </a:r>
          </a:p>
        </p:txBody>
      </p:sp>
      <p:sp>
        <p:nvSpPr>
          <p:cNvPr id="42" name="Rectangle: Rounded Corners 91">
            <a:extLst>
              <a:ext uri="{FF2B5EF4-FFF2-40B4-BE49-F238E27FC236}">
                <a16:creationId xmlns:a16="http://schemas.microsoft.com/office/drawing/2014/main" id="{F3A440E1-ABE4-4FA3-53E3-4A43C2E62322}"/>
              </a:ext>
            </a:extLst>
          </p:cNvPr>
          <p:cNvSpPr>
            <a:spLocks/>
          </p:cNvSpPr>
          <p:nvPr/>
        </p:nvSpPr>
        <p:spPr>
          <a:xfrm>
            <a:off x="9059906" y="4101593"/>
            <a:ext cx="1746270" cy="240627"/>
          </a:xfrm>
          <a:prstGeom prst="roundRect">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000">
                <a:solidFill>
                  <a:prstClr val="white"/>
                </a:solidFill>
                <a:latin typeface="Segoe UI" panose="020B0502040204020203" pitchFamily="34" charset="0"/>
                <a:ea typeface="ＭＳ Ｐゴシック" charset="0"/>
                <a:cs typeface="Segoe UI" panose="020B0502040204020203" pitchFamily="34" charset="0"/>
              </a:rPr>
              <a:t>IT - Infrastructure</a:t>
            </a:r>
          </a:p>
        </p:txBody>
      </p:sp>
      <p:sp>
        <p:nvSpPr>
          <p:cNvPr id="43" name="AutoShape 79">
            <a:extLst>
              <a:ext uri="{FF2B5EF4-FFF2-40B4-BE49-F238E27FC236}">
                <a16:creationId xmlns:a16="http://schemas.microsoft.com/office/drawing/2014/main" id="{19576D72-7B5F-8EA1-82A2-BDEE24F14C8B}"/>
              </a:ext>
            </a:extLst>
          </p:cNvPr>
          <p:cNvSpPr>
            <a:spLocks noChangeArrowheads="1"/>
          </p:cNvSpPr>
          <p:nvPr/>
        </p:nvSpPr>
        <p:spPr bwMode="auto">
          <a:xfrm>
            <a:off x="4758202" y="2164662"/>
            <a:ext cx="1658956" cy="343753"/>
          </a:xfrm>
          <a:prstGeom prst="roundRect">
            <a:avLst>
              <a:gd name="adj" fmla="val 16667"/>
            </a:avLst>
          </a:prstGeom>
          <a:solidFill>
            <a:schemeClr val="tx2"/>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AVA Fabric Solution Architect</a:t>
            </a:r>
          </a:p>
        </p:txBody>
      </p:sp>
      <p:sp>
        <p:nvSpPr>
          <p:cNvPr id="44" name="Rectangle: Rounded Corners 96">
            <a:extLst>
              <a:ext uri="{FF2B5EF4-FFF2-40B4-BE49-F238E27FC236}">
                <a16:creationId xmlns:a16="http://schemas.microsoft.com/office/drawing/2014/main" id="{3F6C2B3C-CB59-0CF3-2CDA-39907A391E21}"/>
              </a:ext>
            </a:extLst>
          </p:cNvPr>
          <p:cNvSpPr>
            <a:spLocks/>
          </p:cNvSpPr>
          <p:nvPr/>
        </p:nvSpPr>
        <p:spPr>
          <a:xfrm>
            <a:off x="2424628" y="3084822"/>
            <a:ext cx="1240505" cy="297319"/>
          </a:xfrm>
          <a:prstGeom prst="roundRect">
            <a:avLst/>
          </a:prstGeom>
          <a:solidFill>
            <a:schemeClr val="tx2"/>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Esteira Lead (F0-F3S)</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45" name="Rectangle: Rounded Corners 96">
            <a:extLst>
              <a:ext uri="{FF2B5EF4-FFF2-40B4-BE49-F238E27FC236}">
                <a16:creationId xmlns:a16="http://schemas.microsoft.com/office/drawing/2014/main" id="{4817B19E-CB9A-C08E-EA6C-247EA05791BE}"/>
              </a:ext>
            </a:extLst>
          </p:cNvPr>
          <p:cNvSpPr>
            <a:spLocks/>
          </p:cNvSpPr>
          <p:nvPr/>
        </p:nvSpPr>
        <p:spPr>
          <a:xfrm>
            <a:off x="7344676" y="3121969"/>
            <a:ext cx="1240505" cy="293103"/>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Security Lead (F1/F7)</a:t>
            </a:r>
          </a:p>
        </p:txBody>
      </p:sp>
      <p:sp>
        <p:nvSpPr>
          <p:cNvPr id="49" name="AutoShape 79">
            <a:extLst>
              <a:ext uri="{FF2B5EF4-FFF2-40B4-BE49-F238E27FC236}">
                <a16:creationId xmlns:a16="http://schemas.microsoft.com/office/drawing/2014/main" id="{EC1D0065-3650-3AC4-B7CC-5769CBE7AA54}"/>
              </a:ext>
            </a:extLst>
          </p:cNvPr>
          <p:cNvSpPr>
            <a:spLocks noChangeArrowheads="1"/>
          </p:cNvSpPr>
          <p:nvPr/>
        </p:nvSpPr>
        <p:spPr bwMode="auto">
          <a:xfrm>
            <a:off x="4758202" y="1730034"/>
            <a:ext cx="1658956"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dirty="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Delivery Lead</a:t>
            </a:r>
          </a:p>
        </p:txBody>
      </p:sp>
      <p:sp>
        <p:nvSpPr>
          <p:cNvPr id="86" name="AutoShape 79">
            <a:extLst>
              <a:ext uri="{FF2B5EF4-FFF2-40B4-BE49-F238E27FC236}">
                <a16:creationId xmlns:a16="http://schemas.microsoft.com/office/drawing/2014/main" id="{3BF5A8E7-FBCF-2610-55D8-B7C3CAB30133}"/>
              </a:ext>
            </a:extLst>
          </p:cNvPr>
          <p:cNvSpPr>
            <a:spLocks noChangeArrowheads="1"/>
          </p:cNvSpPr>
          <p:nvPr/>
        </p:nvSpPr>
        <p:spPr bwMode="auto">
          <a:xfrm>
            <a:off x="4111848" y="1046160"/>
            <a:ext cx="1430893" cy="343753"/>
          </a:xfrm>
          <a:prstGeom prst="roundRect">
            <a:avLst>
              <a:gd name="adj" fmla="val 16667"/>
            </a:avLst>
          </a:prstGeom>
          <a:solidFill>
            <a:srgbClr val="FF580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PDL</a:t>
            </a:r>
          </a:p>
        </p:txBody>
      </p:sp>
      <p:sp>
        <p:nvSpPr>
          <p:cNvPr id="89" name="Rectangle: Rounded Corners 96">
            <a:extLst>
              <a:ext uri="{FF2B5EF4-FFF2-40B4-BE49-F238E27FC236}">
                <a16:creationId xmlns:a16="http://schemas.microsoft.com/office/drawing/2014/main" id="{14E9F402-5861-C30E-8BF3-7A01BA8ED319}"/>
              </a:ext>
            </a:extLst>
          </p:cNvPr>
          <p:cNvSpPr>
            <a:spLocks/>
          </p:cNvSpPr>
          <p:nvPr/>
        </p:nvSpPr>
        <p:spPr>
          <a:xfrm>
            <a:off x="2424628" y="3502142"/>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Platform Engineer</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0" name="Rectangle: Rounded Corners 96">
            <a:extLst>
              <a:ext uri="{FF2B5EF4-FFF2-40B4-BE49-F238E27FC236}">
                <a16:creationId xmlns:a16="http://schemas.microsoft.com/office/drawing/2014/main" id="{22166A32-4EDF-D1E3-3884-8340A4DD2AD1}"/>
              </a:ext>
            </a:extLst>
          </p:cNvPr>
          <p:cNvSpPr>
            <a:spLocks/>
          </p:cNvSpPr>
          <p:nvPr/>
        </p:nvSpPr>
        <p:spPr>
          <a:xfrm>
            <a:off x="2430873" y="3880030"/>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Legacy Analyst (AS-IS)</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1" name="Rectangle: Rounded Corners 96">
            <a:extLst>
              <a:ext uri="{FF2B5EF4-FFF2-40B4-BE49-F238E27FC236}">
                <a16:creationId xmlns:a16="http://schemas.microsoft.com/office/drawing/2014/main" id="{F59D948A-26E9-4E1F-734F-4A033114BE20}"/>
              </a:ext>
            </a:extLst>
          </p:cNvPr>
          <p:cNvSpPr>
            <a:spLocks/>
          </p:cNvSpPr>
          <p:nvPr/>
        </p:nvSpPr>
        <p:spPr>
          <a:xfrm>
            <a:off x="2426506" y="4265993"/>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TO-BE Architect</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2" name="Rectangle: Rounded Corners 96">
            <a:extLst>
              <a:ext uri="{FF2B5EF4-FFF2-40B4-BE49-F238E27FC236}">
                <a16:creationId xmlns:a16="http://schemas.microsoft.com/office/drawing/2014/main" id="{A7D3BC38-2553-6553-76FE-310C300A8DD3}"/>
              </a:ext>
            </a:extLst>
          </p:cNvPr>
          <p:cNvSpPr>
            <a:spLocks/>
          </p:cNvSpPr>
          <p:nvPr/>
        </p:nvSpPr>
        <p:spPr>
          <a:xfrm>
            <a:off x="2426505" y="4651956"/>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SpecKit Analyst</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3" name="Rectangle: Rounded Corners 96">
            <a:extLst>
              <a:ext uri="{FF2B5EF4-FFF2-40B4-BE49-F238E27FC236}">
                <a16:creationId xmlns:a16="http://schemas.microsoft.com/office/drawing/2014/main" id="{89794092-E1EC-C859-054A-450F5016AFF6}"/>
              </a:ext>
            </a:extLst>
          </p:cNvPr>
          <p:cNvSpPr>
            <a:spLocks/>
          </p:cNvSpPr>
          <p:nvPr/>
        </p:nvSpPr>
        <p:spPr>
          <a:xfrm>
            <a:off x="4109995" y="3493537"/>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Senior .NET Developer</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4" name="Rectangle: Rounded Corners 96">
            <a:extLst>
              <a:ext uri="{FF2B5EF4-FFF2-40B4-BE49-F238E27FC236}">
                <a16:creationId xmlns:a16="http://schemas.microsoft.com/office/drawing/2014/main" id="{6030943B-5273-1132-737B-EA0D8510E42B}"/>
              </a:ext>
            </a:extLst>
          </p:cNvPr>
          <p:cNvSpPr>
            <a:spLocks/>
          </p:cNvSpPr>
          <p:nvPr/>
        </p:nvSpPr>
        <p:spPr>
          <a:xfrm>
            <a:off x="4109995" y="3880260"/>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lang="en-US" sz="1000" kern="0">
                <a:solidFill>
                  <a:prstClr val="white"/>
                </a:solidFill>
                <a:latin typeface="Segoe UI" panose="020B0502040204020203" pitchFamily="34" charset="0"/>
                <a:cs typeface="Segoe UI" panose="020B0502040204020203" pitchFamily="34" charset="0"/>
              </a:rPr>
              <a:t>Angular Developer</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5" name="Rectangle: Rounded Corners 96">
            <a:extLst>
              <a:ext uri="{FF2B5EF4-FFF2-40B4-BE49-F238E27FC236}">
                <a16:creationId xmlns:a16="http://schemas.microsoft.com/office/drawing/2014/main" id="{6A673318-3F1F-AF20-B2E9-DC87138063FC}"/>
              </a:ext>
            </a:extLst>
          </p:cNvPr>
          <p:cNvSpPr>
            <a:spLocks/>
          </p:cNvSpPr>
          <p:nvPr/>
        </p:nvSpPr>
        <p:spPr>
          <a:xfrm>
            <a:off x="4109995" y="4296377"/>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Build Gate Remediation</a:t>
            </a:r>
            <a:endPar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6" name="Rectangle: Rounded Corners 96">
            <a:extLst>
              <a:ext uri="{FF2B5EF4-FFF2-40B4-BE49-F238E27FC236}">
                <a16:creationId xmlns:a16="http://schemas.microsoft.com/office/drawing/2014/main" id="{15AEDCA5-220D-0EA7-DFBD-46735D43C373}"/>
              </a:ext>
            </a:extLst>
          </p:cNvPr>
          <p:cNvSpPr>
            <a:spLocks/>
          </p:cNvSpPr>
          <p:nvPr/>
        </p:nvSpPr>
        <p:spPr>
          <a:xfrm>
            <a:off x="4109995" y="4697789"/>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QA Engineer</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7" name="Rectangle: Rounded Corners 96">
            <a:extLst>
              <a:ext uri="{FF2B5EF4-FFF2-40B4-BE49-F238E27FC236}">
                <a16:creationId xmlns:a16="http://schemas.microsoft.com/office/drawing/2014/main" id="{2288E047-B206-0B6B-7EBE-3798ED671017}"/>
              </a:ext>
            </a:extLst>
          </p:cNvPr>
          <p:cNvSpPr>
            <a:spLocks/>
          </p:cNvSpPr>
          <p:nvPr/>
        </p:nvSpPr>
        <p:spPr>
          <a:xfrm>
            <a:off x="7344676" y="3491051"/>
            <a:ext cx="1240505"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Security Architect</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8" name="Rectangle: Rounded Corners 96">
            <a:extLst>
              <a:ext uri="{FF2B5EF4-FFF2-40B4-BE49-F238E27FC236}">
                <a16:creationId xmlns:a16="http://schemas.microsoft.com/office/drawing/2014/main" id="{05FA0722-FEBC-1311-B2A7-E229550565B2}"/>
              </a:ext>
            </a:extLst>
          </p:cNvPr>
          <p:cNvSpPr>
            <a:spLocks/>
          </p:cNvSpPr>
          <p:nvPr/>
        </p:nvSpPr>
        <p:spPr>
          <a:xfrm>
            <a:off x="7344676" y="3880030"/>
            <a:ext cx="1240505" cy="304644"/>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LGPD / Privacy SME</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9" name="Rectangle: Rounded Corners 96">
            <a:extLst>
              <a:ext uri="{FF2B5EF4-FFF2-40B4-BE49-F238E27FC236}">
                <a16:creationId xmlns:a16="http://schemas.microsoft.com/office/drawing/2014/main" id="{AC922DBD-4294-A7A7-99FF-E0B6D79D99D1}"/>
              </a:ext>
            </a:extLst>
          </p:cNvPr>
          <p:cNvSpPr>
            <a:spLocks/>
          </p:cNvSpPr>
          <p:nvPr/>
        </p:nvSpPr>
        <p:spPr>
          <a:xfrm>
            <a:off x="7344676" y="4295465"/>
            <a:ext cx="1240505" cy="293104"/>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OWASP / STRIDE SME</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0" name="Rectangle: Rounded Corners 96">
            <a:extLst>
              <a:ext uri="{FF2B5EF4-FFF2-40B4-BE49-F238E27FC236}">
                <a16:creationId xmlns:a16="http://schemas.microsoft.com/office/drawing/2014/main" id="{3F94AF44-A009-AC61-7A5B-2D13E1D66A16}"/>
              </a:ext>
            </a:extLst>
          </p:cNvPr>
          <p:cNvSpPr>
            <a:spLocks/>
          </p:cNvSpPr>
          <p:nvPr/>
        </p:nvSpPr>
        <p:spPr>
          <a:xfrm>
            <a:off x="7344676" y="4720318"/>
            <a:ext cx="1240505" cy="293104"/>
          </a:xfrm>
          <a:prstGeom prst="roundRect">
            <a:avLst/>
          </a:prstGeom>
          <a:solidFill>
            <a:schemeClr val="tx2"/>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Security Practitioner</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05" name="Rectangle: Rounded Corners 54">
            <a:extLst>
              <a:ext uri="{FF2B5EF4-FFF2-40B4-BE49-F238E27FC236}">
                <a16:creationId xmlns:a16="http://schemas.microsoft.com/office/drawing/2014/main" id="{1EFC4A26-401C-2C97-0B61-9EDFADAF12E6}"/>
              </a:ext>
            </a:extLst>
          </p:cNvPr>
          <p:cNvSpPr/>
          <p:nvPr/>
        </p:nvSpPr>
        <p:spPr>
          <a:xfrm>
            <a:off x="10938715" y="5834046"/>
            <a:ext cx="989631" cy="388237"/>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srgbClr val="FFFFFF"/>
                </a:solidFill>
                <a:effectLst/>
                <a:uLnTx/>
                <a:uFillTx/>
                <a:latin typeface="Segoe UI" panose="020B0502040204020203" pitchFamily="34" charset="0"/>
                <a:cs typeface="Segoe UI" panose="020B0502040204020203" pitchFamily="34" charset="0"/>
              </a:rPr>
              <a:t>Avanade | Brazil</a:t>
            </a:r>
          </a:p>
        </p:txBody>
      </p:sp>
      <p:sp>
        <p:nvSpPr>
          <p:cNvPr id="108" name="Rectangle: Rounded Corners 96">
            <a:extLst>
              <a:ext uri="{FF2B5EF4-FFF2-40B4-BE49-F238E27FC236}">
                <a16:creationId xmlns:a16="http://schemas.microsoft.com/office/drawing/2014/main" id="{4EDD871B-FC4A-FD2E-2A40-07CD978BD1EA}"/>
              </a:ext>
            </a:extLst>
          </p:cNvPr>
          <p:cNvSpPr>
            <a:spLocks/>
          </p:cNvSpPr>
          <p:nvPr/>
        </p:nvSpPr>
        <p:spPr>
          <a:xfrm>
            <a:off x="3882176" y="2764242"/>
            <a:ext cx="3158335" cy="3314442"/>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Codegen &amp; Quality</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109" name="Rectangle: Rounded Corners 96">
            <a:extLst>
              <a:ext uri="{FF2B5EF4-FFF2-40B4-BE49-F238E27FC236}">
                <a16:creationId xmlns:a16="http://schemas.microsoft.com/office/drawing/2014/main" id="{B7FBA014-918F-22C6-57FB-2C6010A91403}"/>
              </a:ext>
            </a:extLst>
          </p:cNvPr>
          <p:cNvSpPr>
            <a:spLocks/>
          </p:cNvSpPr>
          <p:nvPr/>
        </p:nvSpPr>
        <p:spPr>
          <a:xfrm>
            <a:off x="7148177" y="2771736"/>
            <a:ext cx="1614575" cy="3306948"/>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Security &amp; Compliance</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111" name="Rectangle: Rounded Corners 96">
            <a:extLst>
              <a:ext uri="{FF2B5EF4-FFF2-40B4-BE49-F238E27FC236}">
                <a16:creationId xmlns:a16="http://schemas.microsoft.com/office/drawing/2014/main" id="{B5647E9B-483B-4F18-7EE6-698AB269E3C7}"/>
              </a:ext>
            </a:extLst>
          </p:cNvPr>
          <p:cNvSpPr>
            <a:spLocks/>
          </p:cNvSpPr>
          <p:nvPr/>
        </p:nvSpPr>
        <p:spPr>
          <a:xfrm>
            <a:off x="2159747" y="2771736"/>
            <a:ext cx="1614575" cy="3306948"/>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AVA Fabric Engine</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116" name="Rectangle: Rounded Corners 96">
            <a:extLst>
              <a:ext uri="{FF2B5EF4-FFF2-40B4-BE49-F238E27FC236}">
                <a16:creationId xmlns:a16="http://schemas.microsoft.com/office/drawing/2014/main" id="{600C4B66-FFD7-6506-9016-4DFA1D7F60D9}"/>
              </a:ext>
            </a:extLst>
          </p:cNvPr>
          <p:cNvSpPr>
            <a:spLocks/>
          </p:cNvSpPr>
          <p:nvPr/>
        </p:nvSpPr>
        <p:spPr>
          <a:xfrm>
            <a:off x="5661863" y="3869933"/>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Code Review</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118" name="AutoShape 79">
            <a:extLst>
              <a:ext uri="{FF2B5EF4-FFF2-40B4-BE49-F238E27FC236}">
                <a16:creationId xmlns:a16="http://schemas.microsoft.com/office/drawing/2014/main" id="{694CCA1C-9B78-C7AB-5260-E097DC1310FD}"/>
              </a:ext>
            </a:extLst>
          </p:cNvPr>
          <p:cNvSpPr>
            <a:spLocks noChangeArrowheads="1"/>
          </p:cNvSpPr>
          <p:nvPr/>
        </p:nvSpPr>
        <p:spPr bwMode="auto">
          <a:xfrm>
            <a:off x="2554442" y="1040312"/>
            <a:ext cx="1431674" cy="343753"/>
          </a:xfrm>
          <a:prstGeom prst="roundRect">
            <a:avLst>
              <a:gd name="adj" fmla="val 16667"/>
            </a:avLst>
          </a:prstGeom>
          <a:solidFill>
            <a:schemeClr val="tx2"/>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QAD</a:t>
            </a:r>
          </a:p>
        </p:txBody>
      </p:sp>
      <p:sp>
        <p:nvSpPr>
          <p:cNvPr id="120" name="AutoShape 79">
            <a:extLst>
              <a:ext uri="{FF2B5EF4-FFF2-40B4-BE49-F238E27FC236}">
                <a16:creationId xmlns:a16="http://schemas.microsoft.com/office/drawing/2014/main" id="{B9086251-6427-0DCA-11E0-43F702A7B524}"/>
              </a:ext>
            </a:extLst>
          </p:cNvPr>
          <p:cNvSpPr>
            <a:spLocks noChangeArrowheads="1"/>
          </p:cNvSpPr>
          <p:nvPr/>
        </p:nvSpPr>
        <p:spPr bwMode="auto">
          <a:xfrm>
            <a:off x="2964741" y="2161864"/>
            <a:ext cx="1658956" cy="343753"/>
          </a:xfrm>
          <a:prstGeom prst="roundRect">
            <a:avLst>
              <a:gd name="adj" fmla="val 16667"/>
            </a:avLst>
          </a:prstGeom>
          <a:solidFill>
            <a:schemeClr val="accent4"/>
          </a:solidFill>
          <a:ln w="9525">
            <a:noFill/>
            <a:round/>
            <a:headEnd/>
            <a:tailEnd/>
          </a:ln>
        </p:spPr>
        <p:txBody>
          <a:bodyPr lIns="60350" tIns="30175" rIns="60350" bIns="301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ts val="132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BEH Delivery Management</a:t>
            </a:r>
          </a:p>
        </p:txBody>
      </p:sp>
      <p:sp>
        <p:nvSpPr>
          <p:cNvPr id="46" name="Rectangle: Rounded Corners 96">
            <a:extLst>
              <a:ext uri="{FF2B5EF4-FFF2-40B4-BE49-F238E27FC236}">
                <a16:creationId xmlns:a16="http://schemas.microsoft.com/office/drawing/2014/main" id="{483BF169-1D19-C263-DF90-BDCEDD392252}"/>
              </a:ext>
            </a:extLst>
          </p:cNvPr>
          <p:cNvSpPr>
            <a:spLocks/>
          </p:cNvSpPr>
          <p:nvPr/>
        </p:nvSpPr>
        <p:spPr>
          <a:xfrm>
            <a:off x="2429641" y="5463921"/>
            <a:ext cx="4434831" cy="383224"/>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dirty="0">
                <a:ln>
                  <a:noFill/>
                </a:ln>
                <a:solidFill>
                  <a:prstClr val="white"/>
                </a:solidFill>
                <a:effectLst/>
                <a:uLnTx/>
                <a:uFillTx/>
                <a:latin typeface="Segoe UI" panose="020B0502040204020203" pitchFamily="34" charset="0"/>
                <a:cs typeface="Segoe UI" panose="020B0502040204020203" pitchFamily="34" charset="0"/>
              </a:rPr>
              <a:t>AVA Fabric Factory  |  110 AI agents · 9 phases (F0-F8) · 6 quality gates</a:t>
            </a:r>
          </a:p>
        </p:txBody>
      </p:sp>
      <p:sp>
        <p:nvSpPr>
          <p:cNvPr id="124" name="TextBox 82">
            <a:extLst>
              <a:ext uri="{FF2B5EF4-FFF2-40B4-BE49-F238E27FC236}">
                <a16:creationId xmlns:a16="http://schemas.microsoft.com/office/drawing/2014/main" id="{7F3F505B-6535-F131-17BA-A9E6EE616D8C}"/>
              </a:ext>
            </a:extLst>
          </p:cNvPr>
          <p:cNvSpPr txBox="1"/>
          <p:nvPr/>
        </p:nvSpPr>
        <p:spPr>
          <a:xfrm>
            <a:off x="947599" y="2898178"/>
            <a:ext cx="944810" cy="184666"/>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Delivery Team</a:t>
            </a:r>
          </a:p>
        </p:txBody>
      </p:sp>
      <p:sp>
        <p:nvSpPr>
          <p:cNvPr id="125" name="TextBox 82">
            <a:extLst>
              <a:ext uri="{FF2B5EF4-FFF2-40B4-BE49-F238E27FC236}">
                <a16:creationId xmlns:a16="http://schemas.microsoft.com/office/drawing/2014/main" id="{A045F667-DA0C-310E-181E-BEA9D369F82B}"/>
              </a:ext>
            </a:extLst>
          </p:cNvPr>
          <p:cNvSpPr txBox="1"/>
          <p:nvPr/>
        </p:nvSpPr>
        <p:spPr>
          <a:xfrm>
            <a:off x="961508" y="2020551"/>
            <a:ext cx="1473480" cy="369332"/>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Project Management</a:t>
            </a:r>
          </a:p>
          <a:p>
            <a:pPr marL="0" lvl="1" fontAlgn="base">
              <a:spcBef>
                <a:spcPct val="0"/>
              </a:spcBef>
              <a:spcAft>
                <a:spcPct val="0"/>
              </a:spcAft>
              <a:defRPr/>
            </a:pPr>
            <a:r>
              <a:rPr lang="en-GB" sz="1200">
                <a:latin typeface="Segoe UI" panose="020B0502040204020203" pitchFamily="34" charset="0"/>
                <a:ea typeface="ＭＳ Ｐゴシック" charset="0"/>
                <a:cs typeface="Segoe UI" panose="020B0502040204020203" pitchFamily="34" charset="0"/>
              </a:rPr>
              <a:t>&amp; Technical Oversight</a:t>
            </a:r>
          </a:p>
        </p:txBody>
      </p:sp>
      <p:sp>
        <p:nvSpPr>
          <p:cNvPr id="126" name="TextBox 82">
            <a:extLst>
              <a:ext uri="{FF2B5EF4-FFF2-40B4-BE49-F238E27FC236}">
                <a16:creationId xmlns:a16="http://schemas.microsoft.com/office/drawing/2014/main" id="{281C5E52-C0F5-D15D-CFAF-B220C9D2622B}"/>
              </a:ext>
            </a:extLst>
          </p:cNvPr>
          <p:cNvSpPr txBox="1"/>
          <p:nvPr/>
        </p:nvSpPr>
        <p:spPr>
          <a:xfrm>
            <a:off x="947599" y="1041859"/>
            <a:ext cx="1350370" cy="369332"/>
          </a:xfrm>
          <a:prstGeom prst="rect">
            <a:avLst/>
          </a:prstGeom>
          <a:noFill/>
        </p:spPr>
        <p:txBody>
          <a:bodyPr wrap="non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fontAlgn="base">
              <a:spcBef>
                <a:spcPct val="0"/>
              </a:spcBef>
              <a:spcAft>
                <a:spcPct val="0"/>
              </a:spcAft>
              <a:defRPr/>
            </a:pPr>
            <a:r>
              <a:rPr lang="en-GB" sz="1200" dirty="0">
                <a:latin typeface="Segoe UI" panose="020B0502040204020203" pitchFamily="34" charset="0"/>
                <a:ea typeface="ＭＳ Ｐゴシック" charset="0"/>
                <a:cs typeface="Segoe UI" panose="020B0502040204020203" pitchFamily="34" charset="0"/>
              </a:rPr>
              <a:t>Program</a:t>
            </a:r>
          </a:p>
          <a:p>
            <a:pPr marL="0" lvl="1" fontAlgn="base">
              <a:spcBef>
                <a:spcPct val="0"/>
              </a:spcBef>
              <a:spcAft>
                <a:spcPct val="0"/>
              </a:spcAft>
              <a:defRPr/>
            </a:pPr>
            <a:r>
              <a:rPr lang="en-GB" sz="1200" dirty="0">
                <a:latin typeface="Segoe UI" panose="020B0502040204020203" pitchFamily="34" charset="0"/>
                <a:ea typeface="ＭＳ Ｐゴシック" charset="0"/>
                <a:cs typeface="Segoe UI" panose="020B0502040204020203" pitchFamily="34" charset="0"/>
              </a:rPr>
              <a:t>Steering Committee</a:t>
            </a:r>
          </a:p>
        </p:txBody>
      </p:sp>
      <p:sp>
        <p:nvSpPr>
          <p:cNvPr id="129" name="AutoShape 79">
            <a:extLst>
              <a:ext uri="{FF2B5EF4-FFF2-40B4-BE49-F238E27FC236}">
                <a16:creationId xmlns:a16="http://schemas.microsoft.com/office/drawing/2014/main" id="{B65A1E04-5A68-CD1F-6E89-2D1119626D06}"/>
              </a:ext>
            </a:extLst>
          </p:cNvPr>
          <p:cNvSpPr>
            <a:spLocks noChangeArrowheads="1"/>
          </p:cNvSpPr>
          <p:nvPr/>
        </p:nvSpPr>
        <p:spPr bwMode="auto">
          <a:xfrm>
            <a:off x="6686817" y="2170960"/>
            <a:ext cx="1658956" cy="343753"/>
          </a:xfrm>
          <a:prstGeom prst="roundRect">
            <a:avLst>
              <a:gd name="adj" fmla="val 16667"/>
            </a:avLst>
          </a:prstGeom>
          <a:solidFill>
            <a:srgbClr val="0070C0"/>
          </a:solidFill>
          <a:ln w="19050">
            <a:noFill/>
            <a:round/>
            <a:headEnd/>
            <a:tailEnd/>
          </a:ln>
        </p:spPr>
        <p:txBody>
          <a:bodyPr lIns="0" tIns="0" rIns="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altLang="ja-JP" sz="1000" u="none" strike="noStrike" kern="0" cap="none" spc="0" normalizeH="0" baseline="0" noProof="0">
                <a:ln>
                  <a:noFill/>
                </a:ln>
                <a:solidFill>
                  <a:prstClr val="white"/>
                </a:solidFill>
                <a:effectLst/>
                <a:uLnTx/>
                <a:uFillTx/>
                <a:latin typeface="Segoe UI" panose="020B0502040204020203" pitchFamily="34" charset="0"/>
                <a:ea typeface="ＭＳ Ｐゴシック" charset="0"/>
                <a:cs typeface="Segoe UI" panose="020B0502040204020203" pitchFamily="34" charset="0"/>
              </a:rPr>
              <a:t>Enterprise Architect (ABC Bank)</a:t>
            </a:r>
          </a:p>
        </p:txBody>
      </p:sp>
      <p:sp>
        <p:nvSpPr>
          <p:cNvPr id="4" name="Rectangle: Rounded Corners 96">
            <a:extLst>
              <a:ext uri="{FF2B5EF4-FFF2-40B4-BE49-F238E27FC236}">
                <a16:creationId xmlns:a16="http://schemas.microsoft.com/office/drawing/2014/main" id="{277AAAA6-D891-27E8-3153-2A21539CB509}"/>
              </a:ext>
            </a:extLst>
          </p:cNvPr>
          <p:cNvSpPr>
            <a:spLocks/>
          </p:cNvSpPr>
          <p:nvPr/>
        </p:nvSpPr>
        <p:spPr>
          <a:xfrm>
            <a:off x="9252029" y="4858433"/>
            <a:ext cx="1240505" cy="293103"/>
          </a:xfrm>
          <a:prstGeom prst="roundRect">
            <a:avLst/>
          </a:prstGeom>
          <a:solidFill>
            <a:srgbClr val="FF5800"/>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DevOps Engineer</a:t>
            </a:r>
          </a:p>
        </p:txBody>
      </p:sp>
      <p:sp>
        <p:nvSpPr>
          <p:cNvPr id="5" name="Rectangle: Rounded Corners 96">
            <a:extLst>
              <a:ext uri="{FF2B5EF4-FFF2-40B4-BE49-F238E27FC236}">
                <a16:creationId xmlns:a16="http://schemas.microsoft.com/office/drawing/2014/main" id="{1CE7146F-5602-6CB0-0E55-C2A1E7A992AB}"/>
              </a:ext>
            </a:extLst>
          </p:cNvPr>
          <p:cNvSpPr>
            <a:spLocks/>
          </p:cNvSpPr>
          <p:nvPr/>
        </p:nvSpPr>
        <p:spPr>
          <a:xfrm>
            <a:off x="9252029" y="5227515"/>
            <a:ext cx="1240505" cy="308410"/>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rPr>
              <a:t>IaC (Terraform)</a:t>
            </a:r>
            <a:endParaRPr kumimoji="0" lang="en-US" sz="800" u="none" strike="noStrike" kern="0" cap="none" spc="0" normalizeH="0" baseline="0" noProof="0">
              <a:ln>
                <a:noFill/>
              </a:ln>
              <a:solidFill>
                <a:prstClr val="white"/>
              </a:solidFill>
              <a:effectLst/>
              <a:uLnTx/>
              <a:uFillTx/>
              <a:latin typeface="Segoe UI" panose="020B0502040204020203" pitchFamily="34" charset="0"/>
              <a:cs typeface="Segoe UI" panose="020B0502040204020203" pitchFamily="34" charset="0"/>
            </a:endParaRPr>
          </a:p>
        </p:txBody>
      </p:sp>
      <p:sp>
        <p:nvSpPr>
          <p:cNvPr id="9" name="Rectangle: Rounded Corners 96">
            <a:extLst>
              <a:ext uri="{FF2B5EF4-FFF2-40B4-BE49-F238E27FC236}">
                <a16:creationId xmlns:a16="http://schemas.microsoft.com/office/drawing/2014/main" id="{E2E52C2E-A132-9B18-40F2-1B836819A0FD}"/>
              </a:ext>
            </a:extLst>
          </p:cNvPr>
          <p:cNvSpPr>
            <a:spLocks/>
          </p:cNvSpPr>
          <p:nvPr/>
        </p:nvSpPr>
        <p:spPr>
          <a:xfrm>
            <a:off x="9055530" y="4508200"/>
            <a:ext cx="1614575" cy="1570484"/>
          </a:xfrm>
          <a:prstGeom prst="roundRect">
            <a:avLst/>
          </a:prstGeom>
          <a:noFill/>
          <a:ln w="12700" cap="flat" cmpd="sng" algn="ctr">
            <a:solidFill>
              <a:schemeClr val="bg2">
                <a:lumMod val="75000"/>
              </a:schemeClr>
            </a:solidFill>
            <a:prstDash val="dash"/>
          </a:ln>
          <a:effectLst/>
        </p:spPr>
        <p:txBody>
          <a:bodyPr spcFirstLastPara="0" vert="horz" wrap="square" lIns="0" tIns="0" rIns="0" bIns="0" numCol="1" spcCol="127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355600" eaLnBrk="1" fontAlgn="auto" latinLnBrk="0" hangingPunct="1">
              <a:lnSpc>
                <a:spcPct val="90000"/>
              </a:lnSpc>
              <a:spcBef>
                <a:spcPct val="0"/>
              </a:spcBef>
              <a:spcAft>
                <a:spcPct val="35000"/>
              </a:spcAft>
              <a:buClrTx/>
              <a:buSzTx/>
              <a:buFontTx/>
              <a:buNone/>
              <a:tabLst/>
              <a:defRPr/>
            </a:pPr>
            <a:r>
              <a:rPr kumimoji="0" lang="en-US" sz="1000" u="none" strike="noStrike" kern="0" cap="none" spc="0" normalizeH="0" baseline="0" noProof="0">
                <a:ln>
                  <a:noFill/>
                </a:ln>
                <a:effectLst/>
                <a:uLnTx/>
                <a:uFillTx/>
                <a:latin typeface="Segoe UI" panose="020B0502040204020203" pitchFamily="34" charset="0"/>
                <a:cs typeface="Segoe UI" panose="020B0502040204020203" pitchFamily="34" charset="0"/>
              </a:rPr>
              <a:t>DevOps &amp; IaC</a:t>
            </a:r>
            <a:endParaRPr kumimoji="0" lang="en-US" sz="800" u="none" strike="noStrike" kern="0" cap="none" spc="0" normalizeH="0" baseline="0" noProof="0">
              <a:ln>
                <a:noFill/>
              </a:ln>
              <a:effectLst/>
              <a:uLnTx/>
              <a:uFillTx/>
              <a:latin typeface="Segoe UI" panose="020B0502040204020203" pitchFamily="34" charset="0"/>
              <a:cs typeface="Segoe UI" panose="020B0502040204020203" pitchFamily="34" charset="0"/>
            </a:endParaRPr>
          </a:p>
        </p:txBody>
      </p:sp>
      <p:sp>
        <p:nvSpPr>
          <p:cNvPr id="8" name="Rectangle: Rounded Corners 96">
            <a:extLst>
              <a:ext uri="{FF2B5EF4-FFF2-40B4-BE49-F238E27FC236}">
                <a16:creationId xmlns:a16="http://schemas.microsoft.com/office/drawing/2014/main" id="{D5B50AD6-AE63-D310-68E5-0E9C810D7D25}"/>
              </a:ext>
            </a:extLst>
          </p:cNvPr>
          <p:cNvSpPr>
            <a:spLocks/>
          </p:cNvSpPr>
          <p:nvPr/>
        </p:nvSpPr>
        <p:spPr>
          <a:xfrm>
            <a:off x="5654047" y="3474193"/>
            <a:ext cx="1240505" cy="297319"/>
          </a:xfrm>
          <a:prstGeom prst="roundRect">
            <a:avLst/>
          </a:prstGeom>
          <a:solidFill>
            <a:schemeClr val="accent4"/>
          </a:solidFill>
          <a:ln w="25400" cap="flat" cmpd="sng" algn="ctr">
            <a:noFill/>
            <a:prstDash val="solid"/>
          </a:ln>
          <a:effectLst/>
        </p:spPr>
        <p:txBody>
          <a:bodyPr spcFirstLastPara="0" vert="horz" wrap="square" lIns="0" tIns="0" rIns="0" bIns="0"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355600">
              <a:lnSpc>
                <a:spcPct val="90000"/>
              </a:lnSpc>
              <a:spcBef>
                <a:spcPct val="0"/>
              </a:spcBef>
              <a:spcAft>
                <a:spcPct val="35000"/>
              </a:spcAft>
              <a:defRPr/>
            </a:pPr>
            <a:r>
              <a:rPr lang="en-US" sz="1000" kern="0">
                <a:solidFill>
                  <a:prstClr val="white"/>
                </a:solidFill>
                <a:latin typeface="Segoe UI"/>
                <a:cs typeface="Segoe UI"/>
              </a:rPr>
              <a:t>Test Automation</a:t>
            </a:r>
            <a:endParaRPr kumimoji="0" lang="en-US" sz="800" u="none" strike="noStrike" kern="0" cap="none" spc="0" normalizeH="0" baseline="0" noProof="0">
              <a:ln>
                <a:noFill/>
              </a:ln>
              <a:solidFill>
                <a:prstClr val="white"/>
              </a:solidFill>
              <a:effectLst/>
              <a:uLnTx/>
              <a:uFillTx/>
              <a:latin typeface="Segoe UI"/>
              <a:cs typeface="Segoe UI"/>
            </a:endParaRPr>
          </a:p>
        </p:txBody>
      </p:sp>
    </p:spTree>
    <p:extLst>
      <p:ext uri="{BB962C8B-B14F-4D97-AF65-F5344CB8AC3E}">
        <p14:creationId xmlns:p14="http://schemas.microsoft.com/office/powerpoint/2010/main" val="327058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D5E2-EA96-9914-5AE1-3A4B759CD66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A4C21D03-F524-57F9-F426-777C421A9AF4}"/>
              </a:ext>
            </a:extLst>
          </p:cNvPr>
          <p:cNvGraphicFramePr>
            <a:graphicFrameLocks noGrp="1"/>
          </p:cNvGraphicFramePr>
          <p:nvPr/>
        </p:nvGraphicFramePr>
        <p:xfrm>
          <a:off x="411813" y="2330349"/>
          <a:ext cx="11209986" cy="2895600"/>
        </p:xfrm>
        <a:graphic>
          <a:graphicData uri="http://schemas.openxmlformats.org/drawingml/2006/table">
            <a:tbl>
              <a:tblPr firstRow="1" bandRow="1">
                <a:tableStyleId>{5C22544A-7EE6-4342-B048-85BDC9FD1C3A}</a:tableStyleId>
              </a:tblPr>
              <a:tblGrid>
                <a:gridCol w="4268342">
                  <a:extLst>
                    <a:ext uri="{9D8B030D-6E8A-4147-A177-3AD203B41FA5}">
                      <a16:colId xmlns:a16="http://schemas.microsoft.com/office/drawing/2014/main" val="100514645"/>
                    </a:ext>
                  </a:extLst>
                </a:gridCol>
                <a:gridCol w="3204982">
                  <a:extLst>
                    <a:ext uri="{9D8B030D-6E8A-4147-A177-3AD203B41FA5}">
                      <a16:colId xmlns:a16="http://schemas.microsoft.com/office/drawing/2014/main" val="3317341849"/>
                    </a:ext>
                  </a:extLst>
                </a:gridCol>
                <a:gridCol w="3736662">
                  <a:extLst>
                    <a:ext uri="{9D8B030D-6E8A-4147-A177-3AD203B41FA5}">
                      <a16:colId xmlns:a16="http://schemas.microsoft.com/office/drawing/2014/main" val="1156622351"/>
                    </a:ext>
                  </a:extLst>
                </a:gridCol>
              </a:tblGrid>
              <a:tr h="233465">
                <a:tc gridSpan="3">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100" b="1" i="0" u="none" strike="noStrike" kern="1200" cap="none" normalizeH="0" baseline="0">
                          <a:ln>
                            <a:noFill/>
                          </a:ln>
                          <a:solidFill>
                            <a:schemeClr val="bg1"/>
                          </a:solidFill>
                          <a:effectLst/>
                          <a:latin typeface="Graphik"/>
                          <a:ea typeface="+mn-ea"/>
                          <a:cs typeface="+mn-cs"/>
                        </a:rPr>
                        <a:t>Solution Scope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tc hMerge="1">
                  <a:txBody>
                    <a:bodyPr/>
                    <a:lstStyle/>
                    <a:p>
                      <a:pPr marL="0" marR="0" lvl="0" indent="0" algn="ctr" defTabSz="914400" rtl="0" eaLnBrk="0" fontAlgn="base" latinLnBrk="0" hangingPunct="0">
                        <a:lnSpc>
                          <a:spcPct val="100000"/>
                        </a:lnSpc>
                        <a:spcBef>
                          <a:spcPts val="300"/>
                        </a:spcBef>
                        <a:spcAft>
                          <a:spcPts val="0"/>
                        </a:spcAft>
                        <a:buClr>
                          <a:schemeClr val="tx1"/>
                        </a:buClr>
                        <a:buSzTx/>
                        <a:buFontTx/>
                        <a:buNone/>
                        <a:tabLst/>
                      </a:pPr>
                      <a:endParaRPr kumimoji="0" lang="en-US" sz="1600" b="1" i="0" u="none" strike="noStrike" kern="1200" cap="none" normalizeH="0" baseline="0">
                        <a:ln>
                          <a:noFill/>
                        </a:ln>
                        <a:solidFill>
                          <a:schemeClr val="bg1"/>
                        </a:solidFill>
                        <a:effectLst/>
                        <a:latin typeface="Graphik" panose="020B0503030202060203" pitchFamily="34" charset="0"/>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tc hMerge="1">
                  <a:txBody>
                    <a:bodyPr/>
                    <a:lstStyle/>
                    <a:p>
                      <a:pPr marL="0" marR="0" lvl="0" indent="0" algn="ctr" defTabSz="914400" rtl="0" eaLnBrk="0" fontAlgn="base" latinLnBrk="0" hangingPunct="0">
                        <a:lnSpc>
                          <a:spcPct val="100000"/>
                        </a:lnSpc>
                        <a:spcBef>
                          <a:spcPts val="300"/>
                        </a:spcBef>
                        <a:spcAft>
                          <a:spcPts val="0"/>
                        </a:spcAft>
                        <a:buClr>
                          <a:schemeClr val="tx1"/>
                        </a:buClr>
                        <a:buSzTx/>
                        <a:buFontTx/>
                        <a:buNone/>
                        <a:tabLst/>
                      </a:pPr>
                      <a:endParaRPr kumimoji="0" lang="en-US" sz="1600" b="1" i="0" u="none" strike="noStrike" kern="1200" cap="none" normalizeH="0" baseline="0">
                        <a:ln>
                          <a:noFill/>
                        </a:ln>
                        <a:solidFill>
                          <a:schemeClr val="bg1"/>
                        </a:solidFill>
                        <a:effectLst/>
                        <a:latin typeface="Graphik" panose="020B0503030202060203" pitchFamily="34" charset="0"/>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98835346"/>
                  </a:ext>
                </a:extLst>
              </a:tr>
              <a:tr h="224699">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a:ea typeface="+mn-ea"/>
                          <a:cs typeface="+mn-cs"/>
                        </a:rPr>
                        <a:t>Avanade Scope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a:ea typeface="+mn-ea"/>
                          <a:cs typeface="+mn-cs"/>
                        </a:rPr>
                        <a:t>Client Scope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a:ea typeface="+mn-ea"/>
                          <a:cs typeface="+mn-cs"/>
                        </a:rPr>
                        <a:t>Avanade Solution Deliverables / Outcomes</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558562553"/>
                  </a:ext>
                </a:extLst>
              </a:tr>
              <a:tr h="2076738">
                <a:tc>
                  <a:txBody>
                    <a:bodyPr/>
                    <a:lstStyle/>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mn-lt"/>
                          <a:ea typeface="+mn-ea"/>
                          <a:cs typeface="Segoe UI"/>
                        </a:rPr>
                        <a:t>Execute F0/F1 - AST extraction and AS-IS diagnostic of the pilot application</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mn-lt"/>
                          <a:ea typeface="+mn-ea"/>
                          <a:cs typeface="Segoe UI"/>
                        </a:rPr>
                        <a:t>Produce the business-rule catalogue with traceability to source code, plus the review pack</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mn-lt"/>
                          <a:ea typeface="+mn-ea"/>
                          <a:cs typeface="Segoe UI"/>
                        </a:rPr>
                        <a:t>Execute F2 - TO-BE architecture: C4, ADRs, OpenAPI per BC, wave model, coexistence strategy</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mn-lt"/>
                          <a:ea typeface="+mn-ea"/>
                          <a:cs typeface="Segoe UI"/>
                        </a:rPr>
                        <a:t>Produce the formal effort estimate (FP -&gt; SP -&gt; hours, overhead 15%, contingency 20%)</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mn-lt"/>
                          <a:ea typeface="+mn-ea"/>
                          <a:cs typeface="Segoe UI"/>
                        </a:rPr>
                        <a:t>Execute F3 and F3S - navigable prototype and executable backlog with acyclic dependency graph</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mn-lt"/>
                          <a:ea typeface="+mn-ea"/>
                          <a:cs typeface="Segoe UI"/>
                        </a:rPr>
                        <a:t>Execute F4 - assisted code generation for ONE pilot bounded context, with build-gate remediation</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mn-lt"/>
                          <a:ea typeface="+mn-ea"/>
                          <a:cs typeface="Segoe UI"/>
                        </a:rPr>
                        <a:t>Execute F5/F6/F7 - test plan, Terraform IaC and Security &amp; Compliance report for the pilot BC</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mn-lt"/>
                          <a:ea typeface="+mn-ea"/>
                          <a:cs typeface="Segoe UI"/>
                        </a:rPr>
                        <a:t>Run the 4 quality gates and deliver the executive readout with roadmap recommendation</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tc>
                  <a:txBody>
                    <a:bodyPr/>
                    <a:lstStyle/>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Segoe UI" panose="020B0502040204020203" pitchFamily="34" charset="0"/>
                          <a:ea typeface="+mn-ea"/>
                          <a:cs typeface="Segoe UI" panose="020B0502040204020203" pitchFamily="34" charset="0"/>
                        </a:rPr>
                        <a:t>Select the pilot application and the pilot bounded context</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Segoe UI" panose="020B0502040204020203" pitchFamily="34" charset="0"/>
                          <a:ea typeface="+mn-ea"/>
                          <a:cs typeface="Segoe UI" panose="020B0502040204020203" pitchFamily="34" charset="0"/>
                        </a:rPr>
                        <a:t>Grant read access to the legacy repository, data dictionary and database schema</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Segoe UI" panose="020B0502040204020203" pitchFamily="34" charset="0"/>
                          <a:ea typeface="+mn-ea"/>
                          <a:cs typeface="Segoe UI" panose="020B0502040204020203" pitchFamily="34" charset="0"/>
                        </a:rPr>
                        <a:t>Approve and homologate the AI model execution environment in Week 1</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Segoe UI" panose="020B0502040204020203" pitchFamily="34" charset="0"/>
                          <a:ea typeface="+mn-ea"/>
                          <a:cs typeface="Segoe UI" panose="020B0502040204020203" pitchFamily="34" charset="0"/>
                        </a:rPr>
                        <a:t>Provide 1 architect, 1 tech lead and 1 business analyst part-time for validation sessions</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Segoe UI" panose="020B0502040204020203" pitchFamily="34" charset="0"/>
                          <a:ea typeface="+mn-ea"/>
                          <a:cs typeface="Segoe UI" panose="020B0502040204020203" pitchFamily="34" charset="0"/>
                        </a:rPr>
                        <a:t>Provide the Azure subscription used for the pilot DEV environment</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Segoe UI" panose="020B0502040204020203" pitchFamily="34" charset="0"/>
                          <a:ea typeface="+mn-ea"/>
                          <a:cs typeface="Segoe UI" panose="020B0502040204020203" pitchFamily="34" charset="0"/>
                        </a:rPr>
                        <a:t>Validate the business-rule catalogue and the TO-BE architecture at the weekly gates</a:t>
                      </a:r>
                    </a:p>
                    <a:p>
                      <a:pPr marL="171450" marR="0" indent="-171450" algn="l" defTabSz="914400" rtl="0" eaLnBrk="0" fontAlgn="base" latinLnBrk="0" hangingPunct="0">
                        <a:lnSpc>
                          <a:spcPct val="100000"/>
                        </a:lnSpc>
                        <a:spcBef>
                          <a:spcPts val="300"/>
                        </a:spcBef>
                        <a:spcAft>
                          <a:spcPts val="0"/>
                        </a:spcAft>
                        <a:buClr>
                          <a:schemeClr val="tx1"/>
                        </a:buClr>
                        <a:buSzTx/>
                        <a:buFont typeface="Arial" panose="020B0604020202020204" pitchFamily="34" charset="0"/>
                        <a:buChar char="•"/>
                        <a:tabLst/>
                      </a:pPr>
                      <a:r>
                        <a:rPr lang="en-US" sz="850" kern="1200" b="0">
                          <a:solidFill>
                            <a:schemeClr val="tx1"/>
                          </a:solidFill>
                          <a:latin typeface="Segoe UI" panose="020B0502040204020203" pitchFamily="34" charset="0"/>
                          <a:ea typeface="+mn-ea"/>
                          <a:cs typeface="Segoe UI" panose="020B0502040204020203" pitchFamily="34" charset="0"/>
                        </a:rPr>
                        <a:t>Own change management, homologation, corporate SAST/DAST and any production decision</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tc>
                  <a:txBody>
                    <a:bodyPr/>
                    <a:lstStyle/>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AS-IS Master Report, inventory, complexity map, risk and gap registers</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Business-rule catalogue traceable to source + review pack for business validation</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TO-BE blueprint, 8 ADRs, C4 / ER / sequence diagrams, OpenAPI contracts per BC</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Effort calculator and AI estimation report (FP / SP / hours) for the full programme</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Wave model, migration plan, Gantt and coexistence matrix</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Navigable prototype + executable backlog with acceptance criteria and dependency graph</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Working modular source code and Terraform IaC for the pilot bounded context</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Test plan, test cases and functional traceability matrix + Security &amp; Compliance report with CISO / DPO sign-off lines</a:t>
                      </a:r>
                    </a:p>
                    <a:p>
                      <a:pPr marL="179070" indent="-179070" algn="l">
                        <a:lnSpc>
                          <a:spcPct val="100000"/>
                        </a:lnSpc>
                        <a:spcBef>
                          <a:spcPts val="200"/>
                        </a:spcBef>
                        <a:spcAft>
                          <a:spcPts val="200"/>
                        </a:spcAft>
                        <a:buClr>
                          <a:schemeClr val="tx1"/>
                        </a:buClr>
                        <a:buSzTx/>
                        <a:buFont typeface="Arial" panose="020B0604020202020204" pitchFamily="34" charset="0"/>
                        <a:buChar char="•"/>
                      </a:pPr>
                      <a:r>
                        <a:rPr lang="en-US" sz="850" b="0" i="0" kern="1200">
                          <a:solidFill>
                            <a:schemeClr val="tx1">
                              <a:lumMod val="50000"/>
                            </a:schemeClr>
                          </a:solidFill>
                          <a:latin typeface="Segoe UI Light"/>
                          <a:ea typeface="+mn-ea"/>
                          <a:cs typeface="Segoe UI Light"/>
                        </a:rPr>
                        <a:t>Executive readout: adherence report, measured assertiveness indices and roadmap</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63374619"/>
                  </a:ext>
                </a:extLst>
              </a:tr>
            </a:tbl>
          </a:graphicData>
        </a:graphic>
      </p:graphicFrame>
      <p:graphicFrame>
        <p:nvGraphicFramePr>
          <p:cNvPr id="4" name="Table 3">
            <a:extLst>
              <a:ext uri="{FF2B5EF4-FFF2-40B4-BE49-F238E27FC236}">
                <a16:creationId xmlns:a16="http://schemas.microsoft.com/office/drawing/2014/main" id="{D3ACA61F-A96B-A393-E525-BE3BF419E6C0}"/>
              </a:ext>
            </a:extLst>
          </p:cNvPr>
          <p:cNvGraphicFramePr>
            <a:graphicFrameLocks noGrp="1"/>
          </p:cNvGraphicFramePr>
          <p:nvPr/>
        </p:nvGraphicFramePr>
        <p:xfrm>
          <a:off x="411813" y="5225949"/>
          <a:ext cx="11259691" cy="1623060"/>
        </p:xfrm>
        <a:graphic>
          <a:graphicData uri="http://schemas.openxmlformats.org/drawingml/2006/table">
            <a:tbl>
              <a:tblPr firstRow="1" bandRow="1">
                <a:tableStyleId>{5C22544A-7EE6-4342-B048-85BDC9FD1C3A}</a:tableStyleId>
              </a:tblPr>
              <a:tblGrid>
                <a:gridCol w="11259691">
                  <a:extLst>
                    <a:ext uri="{9D8B030D-6E8A-4147-A177-3AD203B41FA5}">
                      <a16:colId xmlns:a16="http://schemas.microsoft.com/office/drawing/2014/main" val="100514645"/>
                    </a:ext>
                  </a:extLst>
                </a:gridCol>
              </a:tblGrid>
              <a:tr h="224534">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100" b="1" i="0" u="none" strike="noStrike" kern="1200" cap="none" normalizeH="0" baseline="0">
                          <a:ln>
                            <a:noFill/>
                          </a:ln>
                          <a:solidFill>
                            <a:schemeClr val="bg1"/>
                          </a:solidFill>
                          <a:effectLst/>
                          <a:latin typeface="Graphik" panose="020B0503030202060203" pitchFamily="34" charset="0"/>
                          <a:ea typeface="+mn-ea"/>
                          <a:cs typeface="+mn-cs"/>
                        </a:rPr>
                        <a:t>Out of Scope -- Key items that are outside the agreed Project Scope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98835346"/>
                  </a:ext>
                </a:extLst>
              </a:tr>
              <a:tr h="830776">
                <a:tc>
                  <a:txBody>
                    <a:bodyPr/>
                    <a:lstStyle/>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Mass code generation of the full backlog; F4 covers ONE pilot bounded context only</a:t>
                      </a:r>
                    </a:p>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Code generation for stacks other than .NET 8 + Angular (Java, Python, Go and NestJS are not GA)</a:t>
                      </a:r>
                    </a:p>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Production cutover, go-live, data migration or decommissioning of the legacy application</a:t>
                      </a:r>
                    </a:p>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Execution of corporate SAST/DAST and penetration testing; remediation of legacy vulnerabilities</a:t>
                      </a:r>
                    </a:p>
                    <a:p>
                      <a:pPr marL="171450" marR="0" indent="-171450" algn="l">
                        <a:lnSpc>
                          <a:spcPct val="100000"/>
                        </a:lnSpc>
                        <a:spcBef>
                          <a:spcPts val="300"/>
                        </a:spcBef>
                        <a:spcAft>
                          <a:spcPts val="0"/>
                        </a:spcAft>
                        <a:buFont typeface="Arial"/>
                        <a:buChar char="•"/>
                      </a:pPr>
                      <a:r>
                        <a:rPr lang="en-US" sz="900" b="0" i="0" u="none" strike="noStrike" kern="1200" cap="none" normalizeH="0" baseline="0" noProof="0">
                          <a:ln>
                            <a:noFill/>
                          </a:ln>
                          <a:solidFill>
                            <a:srgbClr val="000000"/>
                          </a:solidFill>
                          <a:effectLst/>
                          <a:latin typeface="Segoe UI Light"/>
                        </a:rPr>
                        <a:t>Any performance, SLA or capacity commitment for the generated code in production</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63374619"/>
                  </a:ext>
                </a:extLst>
              </a:tr>
            </a:tbl>
          </a:graphicData>
        </a:graphic>
      </p:graphicFrame>
      <p:graphicFrame>
        <p:nvGraphicFramePr>
          <p:cNvPr id="6" name="Table 5">
            <a:extLst>
              <a:ext uri="{FF2B5EF4-FFF2-40B4-BE49-F238E27FC236}">
                <a16:creationId xmlns:a16="http://schemas.microsoft.com/office/drawing/2014/main" id="{67C02A89-4DDF-FD32-0845-AEF9440F0A32}"/>
              </a:ext>
            </a:extLst>
          </p:cNvPr>
          <p:cNvGraphicFramePr>
            <a:graphicFrameLocks noGrp="1"/>
          </p:cNvGraphicFramePr>
          <p:nvPr/>
        </p:nvGraphicFramePr>
        <p:xfrm>
          <a:off x="411813" y="1044948"/>
          <a:ext cx="11209986" cy="1165860"/>
        </p:xfrm>
        <a:graphic>
          <a:graphicData uri="http://schemas.openxmlformats.org/drawingml/2006/table">
            <a:tbl>
              <a:tblPr firstRow="1" bandRow="1">
                <a:tableStyleId>{5C22544A-7EE6-4342-B048-85BDC9FD1C3A}</a:tableStyleId>
              </a:tblPr>
              <a:tblGrid>
                <a:gridCol w="3736662">
                  <a:extLst>
                    <a:ext uri="{9D8B030D-6E8A-4147-A177-3AD203B41FA5}">
                      <a16:colId xmlns:a16="http://schemas.microsoft.com/office/drawing/2014/main" val="100514645"/>
                    </a:ext>
                  </a:extLst>
                </a:gridCol>
                <a:gridCol w="7473324">
                  <a:extLst>
                    <a:ext uri="{9D8B030D-6E8A-4147-A177-3AD203B41FA5}">
                      <a16:colId xmlns:a16="http://schemas.microsoft.com/office/drawing/2014/main" val="3317341849"/>
                    </a:ext>
                  </a:extLst>
                </a:gridCol>
              </a:tblGrid>
              <a:tr h="224558">
                <a:tc gridSpan="2">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100" b="1" i="0" u="none" strike="noStrike" kern="1200" cap="none" normalizeH="0" baseline="0">
                          <a:ln>
                            <a:noFill/>
                          </a:ln>
                          <a:solidFill>
                            <a:schemeClr val="bg1"/>
                          </a:solidFill>
                          <a:effectLst/>
                          <a:latin typeface="Graphik" panose="020B0503030202060203" pitchFamily="34" charset="0"/>
                          <a:ea typeface="+mn-ea"/>
                          <a:cs typeface="+mn-cs"/>
                        </a:rPr>
                        <a:t>Solution Blueprint Summary</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tc hMerge="1">
                  <a:txBody>
                    <a:bodyPr/>
                    <a:lstStyle/>
                    <a:p>
                      <a:pPr marL="0" marR="0" lvl="0" indent="0" algn="ctr" defTabSz="914400" rtl="0" eaLnBrk="0" fontAlgn="base" latinLnBrk="0" hangingPunct="0">
                        <a:lnSpc>
                          <a:spcPct val="100000"/>
                        </a:lnSpc>
                        <a:spcBef>
                          <a:spcPts val="300"/>
                        </a:spcBef>
                        <a:spcAft>
                          <a:spcPts val="0"/>
                        </a:spcAft>
                        <a:buClr>
                          <a:schemeClr val="tx1"/>
                        </a:buClr>
                        <a:buSzTx/>
                        <a:buFontTx/>
                        <a:buNone/>
                        <a:tabLst/>
                      </a:pPr>
                      <a:endParaRPr kumimoji="0" lang="en-US" sz="1600" b="1" i="0" u="none" strike="noStrike" kern="1200" cap="none" normalizeH="0" baseline="0">
                        <a:ln>
                          <a:noFill/>
                        </a:ln>
                        <a:solidFill>
                          <a:schemeClr val="bg1"/>
                        </a:solidFill>
                        <a:effectLst/>
                        <a:latin typeface="Graphik" panose="020B0503030202060203" pitchFamily="34" charset="0"/>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98835346"/>
                  </a:ext>
                </a:extLst>
              </a:tr>
              <a:tr h="202102">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panose="020B0503030202060203" pitchFamily="34" charset="0"/>
                          <a:ea typeface="+mn-ea"/>
                          <a:cs typeface="+mn-cs"/>
                        </a:rPr>
                        <a:t>To-Be Solution Summary</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tc>
                  <a:txBody>
                    <a:bodyPr/>
                    <a:lstStyle/>
                    <a:p>
                      <a:pPr marL="0" marR="0" indent="0" algn="ctr" defTabSz="914400" rtl="0" eaLnBrk="0" fontAlgn="base" latinLnBrk="0" hangingPunct="0">
                        <a:lnSpc>
                          <a:spcPct val="100000"/>
                        </a:lnSpc>
                        <a:spcBef>
                          <a:spcPts val="300"/>
                        </a:spcBef>
                        <a:spcAft>
                          <a:spcPts val="0"/>
                        </a:spcAft>
                        <a:buClr>
                          <a:schemeClr val="tx1"/>
                        </a:buClr>
                        <a:buSzTx/>
                        <a:buFontTx/>
                        <a:buNone/>
                        <a:tabLst/>
                      </a:pPr>
                      <a:r>
                        <a:rPr kumimoji="0" lang="en-US" sz="1000" b="1" i="0" u="none" strike="noStrike" kern="1200" cap="none" normalizeH="0" baseline="0">
                          <a:ln>
                            <a:noFill/>
                          </a:ln>
                          <a:solidFill>
                            <a:schemeClr val="bg1"/>
                          </a:solidFill>
                          <a:effectLst/>
                          <a:latin typeface="Graphik" panose="020B0503030202060203" pitchFamily="34" charset="0"/>
                          <a:ea typeface="+mn-ea"/>
                          <a:cs typeface="+mn-cs"/>
                        </a:rPr>
                        <a:t>Key deviations from Standard solutions of this type/size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558562553"/>
                  </a:ext>
                </a:extLst>
              </a:tr>
              <a:tr h="533331">
                <a:tc>
                  <a:txBody>
                    <a:bodyPr/>
                    <a:lstStyle/>
                    <a:p>
                      <a:pPr marL="0" marR="0" indent="0" algn="l" defTabSz="914400" rtl="0" eaLnBrk="0" fontAlgn="base" latinLnBrk="0" hangingPunct="0">
                        <a:lnSpc>
                          <a:spcPct val="100000"/>
                        </a:lnSpc>
                        <a:spcBef>
                          <a:spcPts val="300"/>
                        </a:spcBef>
                        <a:spcAft>
                          <a:spcPts val="0"/>
                        </a:spcAft>
                        <a:buClr>
                          <a:schemeClr val="tx1"/>
                        </a:buClr>
                        <a:buSzTx/>
                        <a:buFontTx/>
                        <a:buNone/>
                        <a:tabLst/>
                        <a:defRPr/>
                      </a:pPr>
                      <a:r>
                        <a:rPr lang="en-ZA" sz="900" kern="1200" b="0">
                          <a:solidFill>
                            <a:schemeClr val="tx1"/>
                          </a:solidFill>
                          <a:latin typeface="Segoe UI" panose="020B0502040204020203" pitchFamily="34" charset="0"/>
                          <a:ea typeface="+mn-ea"/>
                          <a:cs typeface="Segoe UI" panose="020B0502040204020203" pitchFamily="34" charset="0"/>
                        </a:rPr>
                        <a:t>Run the AVA Fabric Agents pipeline (110 specialized AI agents, 9 phases F0-F8, 6 blocking quality gates) over one pilot banking application, producing an auditable modernization plan plus a working pilot bounded context on .NET 8 + Angular.</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tc>
                  <a:txBody>
                    <a:bodyPr/>
                    <a:lstStyle/>
                    <a:p>
                      <a:pPr marL="0" marR="0" indent="0" algn="l" defTabSz="914400" rtl="0" eaLnBrk="0" fontAlgn="base" latinLnBrk="0" hangingPunct="0">
                        <a:lnSpc>
                          <a:spcPct val="100000"/>
                        </a:lnSpc>
                        <a:spcBef>
                          <a:spcPts val="300"/>
                        </a:spcBef>
                        <a:spcAft>
                          <a:spcPts val="0"/>
                        </a:spcAft>
                        <a:buClr>
                          <a:schemeClr val="tx1"/>
                        </a:buClr>
                        <a:buSzTx/>
                        <a:buFontTx/>
                        <a:buNone/>
                        <a:tabLst/>
                      </a:pPr>
                      <a:r>
                        <a:rPr lang="en-US" sz="900" kern="1200" b="0">
                          <a:solidFill>
                            <a:schemeClr val="tx1"/>
                          </a:solidFill>
                          <a:latin typeface="Segoe UI" panose="020B0502040204020203" pitchFamily="34" charset="0"/>
                          <a:ea typeface="+mn-ea"/>
                          <a:cs typeface="Segoe UI" panose="020B0502040204020203" pitchFamily="34" charset="0"/>
                        </a:rPr>
                        <a:t>F0-F3S are GA and were executed end-to-end on a 254 KLOC reference code base. F4 (code generation) is Beta: in the reference run all planned files were written, but the build gate failed on first pass (NuGet Central Package Management conflict; Angular CLI missing in the host). Both root causes are configuration/environment level and are remediated before kickoff. F4 is nevertheless scoped as ASSISTED, with a senior developer on the build gate.</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63374619"/>
                  </a:ext>
                </a:extLst>
              </a:tr>
            </a:tbl>
          </a:graphicData>
        </a:graphic>
      </p:graphicFrame>
      <p:sp>
        <p:nvSpPr>
          <p:cNvPr id="3" name="Title 1">
            <a:extLst>
              <a:ext uri="{FF2B5EF4-FFF2-40B4-BE49-F238E27FC236}">
                <a16:creationId xmlns:a16="http://schemas.microsoft.com/office/drawing/2014/main" id="{A14271E8-CB63-E97B-9341-AFDC2F14657E}"/>
              </a:ext>
            </a:extLst>
          </p:cNvPr>
          <p:cNvSpPr txBox="1">
            <a:spLocks/>
          </p:cNvSpPr>
          <p:nvPr/>
        </p:nvSpPr>
        <p:spPr>
          <a:xfrm>
            <a:off x="0" y="260987"/>
            <a:ext cx="10271125" cy="632633"/>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3600" b="1" i="0" kern="1200">
                <a:solidFill>
                  <a:schemeClr val="tx1"/>
                </a:solidFill>
                <a:latin typeface="Segoe UI Semibold" panose="020B0502040204020203" pitchFamily="34" charset="0"/>
                <a:ea typeface="Segoe UI Semibold" panose="020B0502040204020203" pitchFamily="34" charset="0"/>
                <a:cs typeface="Segoe UI Semibold" panose="020B0502040204020203" pitchFamily="34" charset="0"/>
              </a:defRPr>
            </a:lvl1pPr>
          </a:lstStyle>
          <a:p>
            <a:r>
              <a:rPr lang="en-ZA">
                <a:latin typeface="Segoe UI Light" panose="020B0502040204020203" pitchFamily="34" charset="0"/>
                <a:cs typeface="Segoe UI Light" panose="020B0502040204020203" pitchFamily="34" charset="0"/>
              </a:rPr>
              <a:t>AVA Fabric Agents | Solution Scope</a:t>
            </a:r>
            <a:endParaRPr lang="en-US">
              <a:latin typeface="Segoe UI Light" panose="020B0502040204020203" pitchFamily="34" charset="0"/>
              <a:ea typeface="+mn-ea"/>
              <a:cs typeface="Segoe UI Light" panose="020B0502040204020203" pitchFamily="34" charset="0"/>
            </a:endParaRPr>
          </a:p>
        </p:txBody>
      </p:sp>
    </p:spTree>
    <p:extLst>
      <p:ext uri="{BB962C8B-B14F-4D97-AF65-F5344CB8AC3E}">
        <p14:creationId xmlns:p14="http://schemas.microsoft.com/office/powerpoint/2010/main" val="48283398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18092-7E79-4CE9-9F5D-E85EE6832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EFE76-5341-1E5A-4B01-3B07555F03A7}"/>
              </a:ext>
            </a:extLst>
          </p:cNvPr>
          <p:cNvSpPr>
            <a:spLocks noGrp="1"/>
          </p:cNvSpPr>
          <p:nvPr>
            <p:ph type="title" idx="4294967295"/>
          </p:nvPr>
        </p:nvSpPr>
        <p:spPr>
          <a:xfrm>
            <a:off x="594986" y="321501"/>
            <a:ext cx="11201400" cy="585259"/>
          </a:xfrm>
          <a:prstGeom prst="rect">
            <a:avLst/>
          </a:prstGeom>
        </p:spPr>
        <p:txBody>
          <a:bodyPr/>
          <a:lstStyle/>
          <a:p>
            <a:r>
              <a:rPr lang="en-ZA" sz="2800">
                <a:latin typeface="Segoe UI Light"/>
                <a:ea typeface="+mn-ea"/>
                <a:cs typeface="Segoe UI Light"/>
              </a:rPr>
              <a:t>AVA Fabric PoC | Cost &amp; Effort Rationale (Factory Delivery Model)</a:t>
            </a:r>
            <a:endParaRPr lang="en-US" sz="2800">
              <a:latin typeface="Segoe UI Light"/>
              <a:ea typeface="+mn-ea"/>
              <a:cs typeface="Segoe UI Light"/>
            </a:endParaRPr>
          </a:p>
        </p:txBody>
      </p:sp>
      <p:graphicFrame>
        <p:nvGraphicFramePr>
          <p:cNvPr id="5" name="Table 4">
            <a:extLst>
              <a:ext uri="{FF2B5EF4-FFF2-40B4-BE49-F238E27FC236}">
                <a16:creationId xmlns:a16="http://schemas.microsoft.com/office/drawing/2014/main" id="{4A62956F-0517-D1D0-9A97-947F5C19340C}"/>
              </a:ext>
            </a:extLst>
          </p:cNvPr>
          <p:cNvGraphicFramePr>
            <a:graphicFrameLocks noGrp="1"/>
          </p:cNvGraphicFramePr>
          <p:nvPr/>
        </p:nvGraphicFramePr>
        <p:xfrm>
          <a:off x="496186" y="845656"/>
          <a:ext cx="11576049" cy="5404104"/>
        </p:xfrm>
        <a:graphic>
          <a:graphicData uri="http://schemas.openxmlformats.org/drawingml/2006/table">
            <a:tbl>
              <a:tblPr firstRow="1" bandRow="1">
                <a:tableStyleId>{5C22544A-7EE6-4342-B048-85BDC9FD1C3A}</a:tableStyleId>
              </a:tblPr>
              <a:tblGrid>
                <a:gridCol w="5619750">
                  <a:extLst>
                    <a:ext uri="{9D8B030D-6E8A-4147-A177-3AD203B41FA5}">
                      <a16:colId xmlns:a16="http://schemas.microsoft.com/office/drawing/2014/main" val="100514645"/>
                    </a:ext>
                  </a:extLst>
                </a:gridCol>
                <a:gridCol w="5956299">
                  <a:extLst>
                    <a:ext uri="{9D8B030D-6E8A-4147-A177-3AD203B41FA5}">
                      <a16:colId xmlns:a16="http://schemas.microsoft.com/office/drawing/2014/main" val="1662750047"/>
                    </a:ext>
                  </a:extLst>
                </a:gridCol>
              </a:tblGrid>
              <a:tr h="566928">
                <a:tc gridSpan="2">
                  <a:txBody>
                    <a:bodyPr/>
                    <a:lstStyle/>
                    <a:p>
                      <a:pPr marL="0" marR="0" indent="0" algn="ctr" rtl="0" eaLnBrk="0" fontAlgn="base" latinLnBrk="0" hangingPunct="0">
                        <a:lnSpc>
                          <a:spcPct val="100000"/>
                        </a:lnSpc>
                        <a:spcBef>
                          <a:spcPts val="300"/>
                        </a:spcBef>
                        <a:spcAft>
                          <a:spcPts val="0"/>
                        </a:spcAft>
                        <a:buClr>
                          <a:schemeClr val="tx1"/>
                        </a:buClr>
                        <a:buSzTx/>
                        <a:buFontTx/>
                        <a:buNone/>
                      </a:pPr>
                      <a:r>
                        <a:rPr lang="en-US" sz="1100" b="1" i="0" u="none" strike="noStrike" kern="1200" cap="none" normalizeH="0" baseline="0">
                          <a:ln>
                            <a:noFill/>
                          </a:ln>
                          <a:solidFill>
                            <a:schemeClr val="bg1"/>
                          </a:solidFill>
                          <a:effectLst/>
                          <a:latin typeface="Graphik"/>
                          <a:ea typeface="+mn-ea"/>
                          <a:cs typeface="+mn-cs"/>
                        </a:rPr>
                        <a:t>PoC pricing rationale (4 weeks) - total price = People + Infrastructure + AI model consumption. Every volumetric driver below is measured on a real end-to-end pipeline run (254 KLOC / 394 tasks / 232 artefacts), not estimated by analogy.</a:t>
                      </a:r>
                      <a:br>
                        <a:rPr lang="en-US"/>
                      </a:br>
                      <a:endParaRPr kumimoji="0" lang="en-US" sz="1200" b="1" i="0" u="none" strike="noStrike" kern="1200" cap="none" normalizeH="0" baseline="0">
                        <a:ln>
                          <a:noFill/>
                        </a:ln>
                        <a:solidFill>
                          <a:schemeClr val="bg1"/>
                        </a:solidFill>
                        <a:effectLst/>
                        <a:latin typeface="Graphik"/>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tc hMerge="1">
                  <a:txBody>
                    <a:bodyPr/>
                    <a:lstStyle/>
                    <a:p>
                      <a:pPr marL="0" marR="0" lvl="0" indent="0" algn="ctr" defTabSz="914400" rtl="0" eaLnBrk="0" fontAlgn="base" latinLnBrk="0" hangingPunct="0">
                        <a:lnSpc>
                          <a:spcPct val="100000"/>
                        </a:lnSpc>
                        <a:spcBef>
                          <a:spcPts val="300"/>
                        </a:spcBef>
                        <a:spcAft>
                          <a:spcPts val="0"/>
                        </a:spcAft>
                        <a:buClr>
                          <a:schemeClr val="tx1"/>
                        </a:buClr>
                        <a:buSzTx/>
                        <a:buFontTx/>
                        <a:buNone/>
                        <a:tabLst/>
                      </a:pPr>
                      <a:endParaRPr kumimoji="0" lang="en-US" sz="1100" b="1" i="0" u="none" strike="noStrike" kern="1200" cap="none" normalizeH="0" baseline="0">
                        <a:ln>
                          <a:noFill/>
                        </a:ln>
                        <a:solidFill>
                          <a:schemeClr val="bg1"/>
                        </a:solidFill>
                        <a:effectLst/>
                        <a:latin typeface="Graphik" panose="020B0503030202060203" pitchFamily="34" charset="0"/>
                        <a:ea typeface="+mn-ea"/>
                        <a:cs typeface="+mn-cs"/>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solidFill>
                      <a:schemeClr val="tx2"/>
                    </a:solidFill>
                  </a:tcPr>
                </a:tc>
                <a:extLst>
                  <a:ext uri="{0D108BD9-81ED-4DB2-BD59-A6C34878D82A}">
                    <a16:rowId xmlns:a16="http://schemas.microsoft.com/office/drawing/2014/main" val="398835346"/>
                  </a:ext>
                </a:extLst>
              </a:tr>
              <a:tr h="3246120">
                <a:tc>
                  <a:txBody>
                    <a:bodyPr/>
                    <a:lstStyle/>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Cost build-up - what makes the price</a:t>
                      </a:r>
                    </a:p>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1) People - the dominant component</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800 billable hours across 11 roles over 4 weeks (see BEH Staffing), priced as SUM(hours x rate card per level); rate cards applied by the commercial team.</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640 h named roles (Client DO ST, bill codes 64/58/53/38) + 160 h AVA Fabric Factory pod (Shared Service - Onshore, blended rate).</a:t>
                      </a:r>
                    </a:p>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2) Infrastructure - Azure, 4 weeks, passed through at cost</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Pipeline runner VM (D8s v5, ~730 h): US$ 280   |   DEV environment for the pilot BC: US$ 65</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Shared services (ACR + Log Analytics): US$ 45   |   Artefact storage and egress: US$ 10</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PoC infrastructure total: approx. US$ 400. Full-programme reference: US$ 1,410 / month (DEV + STG + PROD + Shared).</a:t>
                      </a:r>
                    </a:p>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3) AI model consumption - measured, not estimated</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US$ 1.58 average per codegen task (239,619 input / 45-69k output tokens at US$ 3.00 per M input and US$ 15.00 per M output).</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F0-F3S (~45 agent executions): US$ 200-400   |   F4 on the pilot BC (~40 tasks): US$ 65   |   30% rerun buffer.</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PoC AI total: approx. US$ 600. Full 394-task migration: approx. US$ 800-1,100.</a:t>
                      </a:r>
                    </a:p>
                    <a:p>
                      <a:pPr marL="0" marR="0" indent="0" algn="l" rtl="0" eaLnBrk="1" latinLnBrk="0" hangingPunct="1">
                        <a:lnSpc>
                          <a:spcPct val="100000"/>
                        </a:lnSpc>
                        <a:spcBef>
                          <a:spcPts val="300"/>
                        </a:spcBef>
                        <a:spcAft>
                          <a:spcPts val="0"/>
                        </a:spcAft>
                        <a:buClr>
                          <a:srgbClr val="595959"/>
                        </a:buClr>
                        <a:buSzTx/>
                        <a:buNone/>
                      </a:pPr>
                      <a:r>
                        <a:rPr lang="en-US" sz="900" b="1" i="0" u="none" strike="noStrike" kern="1200" dirty="0">
                          <a:solidFill>
                            <a:schemeClr val="tx1"/>
                          </a:solidFill>
                          <a:latin typeface="Segoe UI"/>
                          <a:ea typeface="+mn-ea"/>
                          <a:cs typeface="Segoe UI"/>
                        </a:rPr>
                        <a:t>Price formula</a:t>
                      </a:r>
                    </a:p>
                    <a:p>
                      <a:pPr marL="0" marR="0" indent="0" algn="l" rtl="0" eaLnBrk="1" latinLnBrk="0" hangingPunct="1">
                        <a:lnSpc>
                          <a:spcPct val="100000"/>
                        </a:lnSpc>
                        <a:spcBef>
                          <a:spcPts val="300"/>
                        </a:spcBef>
                        <a:spcAft>
                          <a:spcPts val="0"/>
                        </a:spcAft>
                        <a:buClr>
                          <a:srgbClr val="595959"/>
                        </a:buClr>
                        <a:buSzTx/>
                        <a:buNone/>
                      </a:pPr>
                      <a:r>
                        <a:rPr lang="en-US" sz="900" b="0" i="0" u="none" strike="noStrike" kern="1200" dirty="0">
                          <a:solidFill>
                            <a:schemeClr val="tx1"/>
                          </a:solidFill>
                          <a:latin typeface="Segoe UI"/>
                          <a:ea typeface="+mn-ea"/>
                          <a:cs typeface="Segoe UI"/>
                        </a:rPr>
                        <a:t>Price = SUM(hours x rate card) + US$ 400 infrastructure + US$ 600 AI + 15% contingency. Infrastructure and AI together are under 1% of the PoC price - the price is driven by people, not by tokens.</a:t>
                      </a: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tc>
                  <a:txBody>
                    <a:bodyPr/>
                    <a:lstStyle/>
                    <a:p>
                      <a:pPr marL="0" marR="0" indent="0" algn="l">
                        <a:lnSpc>
                          <a:spcPct val="100000"/>
                        </a:lnSpc>
                        <a:spcBef>
                          <a:spcPts val="300"/>
                        </a:spcBef>
                        <a:spcAft>
                          <a:spcPts val="0"/>
                        </a:spcAft>
                        <a:buNone/>
                      </a:pPr>
                      <a:r>
                        <a:rPr lang="en-US" sz="900" b="1" i="0" u="none" strike="noStrike" kern="1200" noProof="0">
                          <a:solidFill>
                            <a:schemeClr val="tx1"/>
                          </a:solidFill>
                        </a:rPr>
                        <a:t>Calculation drivers and measured evidence</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Legacy code base size (KLOC / files) -&gt; F0-F1, linear. Reference: 254,001 LOC, 1,731 files, 1,998 classes, 15,785 procedures.</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Domain complexity (# bounded contexts) -&gt; F2-F3S. Reference: 10 BCs, 2 god services, 436 business rules.</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Backlog volume (# tasks / function points) -&gt; F4, linear per task. Reference: 394 tasks, 2,991 dependency edges, 892 FP, 1,606 SP.</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Security scope (security flags, SAST/DAST, pentest) -&gt; F1-security and F7.</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Target stacks (1 backend + 1 frontend vs multiple) -&gt; F4 complexity.</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Cloud and environments (Azure / AWS / GCP x dev / stg / prd) -&gt; F6 and infrastructure cost.</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Execution mode (Avanade tenant vs bank VPC / on-premise) -&gt; setup and compliance effort.</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1" i="0" u="none" strike="noStrike" kern="1200" noProof="0">
                          <a:solidFill>
                            <a:schemeClr val="tx1"/>
                          </a:solidFill>
                        </a:rPr>
                        <a:t>Measured throughput - basis for the 4-week timeline</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F0-F1 ~38 min | F2 ~29 min | F3 ~8 min | F3S ~60 min; F0-&gt;F3S complete in ~2 h 20 min of machine time.</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Human time is spent on validation and gate decisions, not on discovery - that is where the 4-week schedule comes from.</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1" i="0" u="none" strike="noStrike" kern="1200" noProof="0">
                          <a:solidFill>
                            <a:schemeClr val="tx1"/>
                          </a:solidFill>
                        </a:rPr>
                        <a:t>Value anchor</a:t>
                      </a:r>
                      <a:endParaRPr lang="en-US" sz="1200" b="1" i="0" u="none" strike="noStrike" kern="1200" noProof="0">
                        <a:solidFill>
                          <a:schemeClr val="tx1"/>
                        </a:solidFill>
                        <a:latin typeface="+mn-lt"/>
                        <a:ea typeface="+mn-ea"/>
                        <a:cs typeface="Segoe UI"/>
                      </a:endParaRPr>
                    </a:p>
                    <a:p>
                      <a:pPr marL="0" marR="0" indent="0" algn="l">
                        <a:lnSpc>
                          <a:spcPct val="100000"/>
                        </a:lnSpc>
                        <a:spcBef>
                          <a:spcPts val="300"/>
                        </a:spcBef>
                        <a:spcAft>
                          <a:spcPts val="0"/>
                        </a:spcAft>
                        <a:buNone/>
                      </a:pPr>
                      <a:r>
                        <a:rPr lang="en-US" sz="900" b="0" i="0" u="none" strike="noStrike" kern="1200" noProof="0">
                          <a:solidFill>
                            <a:schemeClr val="tx1"/>
                          </a:solidFill>
                        </a:rPr>
                        <a:t>The same pipeline produced a formal estimate of 3,323 h / 892 FP for the full TO-BE implementation. The PoC (800 h) buys the decision-grade plan for that programme plus a working pilot bounded context; traditional discovery of a 254 KLOC application takes 6-10 weeks of squad.</a:t>
                      </a:r>
                      <a:endParaRPr lang="en-US" sz="1200" b="1" i="0" u="none" strike="noStrike" kern="1200" noProof="0">
                        <a:solidFill>
                          <a:schemeClr val="tx1"/>
                        </a:solidFill>
                        <a:latin typeface="+mn-lt"/>
                        <a:ea typeface="+mn-ea"/>
                        <a:cs typeface="Segoe UI"/>
                      </a:endParaRPr>
                    </a:p>
                  </a:txBody>
                  <a:tcPr>
                    <a:lnL w="19050" cap="flat" cmpd="sng" algn="ctr">
                      <a:solidFill>
                        <a:schemeClr val="tx1">
                          <a:lumMod val="20000"/>
                          <a:lumOff val="80000"/>
                        </a:schemeClr>
                      </a:solidFill>
                      <a:prstDash val="solid"/>
                      <a:round/>
                      <a:headEnd type="none" w="med" len="med"/>
                      <a:tailEnd type="none" w="med" len="med"/>
                    </a:lnL>
                    <a:lnR w="19050" cap="flat" cmpd="sng" algn="ctr">
                      <a:solidFill>
                        <a:schemeClr val="tx1">
                          <a:lumMod val="20000"/>
                          <a:lumOff val="80000"/>
                        </a:schemeClr>
                      </a:solidFill>
                      <a:prstDash val="solid"/>
                      <a:round/>
                      <a:headEnd type="none" w="med" len="med"/>
                      <a:tailEnd type="none" w="med" len="med"/>
                    </a:lnR>
                    <a:lnT w="19050" cap="flat" cmpd="sng" algn="ctr">
                      <a:solidFill>
                        <a:schemeClr val="tx1">
                          <a:lumMod val="20000"/>
                          <a:lumOff val="80000"/>
                        </a:schemeClr>
                      </a:solidFill>
                      <a:prstDash val="solid"/>
                      <a:round/>
                      <a:headEnd type="none" w="med" len="med"/>
                      <a:tailEnd type="none" w="med" len="med"/>
                    </a:lnT>
                    <a:lnB w="19050" cap="flat" cmpd="sng" algn="ctr">
                      <a:solidFill>
                        <a:schemeClr val="tx1">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863374619"/>
                  </a:ext>
                </a:extLst>
              </a:tr>
              <a:tr h="1591056">
                <a:tc gridSpan="2">
                  <a:txBody>
                    <a:bodyPr/>
                    <a:lstStyle/>
                    <a:p>
                      <a:pPr algn="l">
                        <a:lnSpc>
                          <a:spcPct val="150000"/>
                        </a:lnSpc>
                        <a:spcBef>
                          <a:spcPts val="200"/>
                        </a:spcBef>
                        <a:spcAft>
                          <a:spcPts val="0"/>
                        </a:spcAft>
                        <a:buNone/>
                      </a:pPr>
                      <a:r>
                        <a:rPr lang="en-US" sz="800" b="1" i="0" u="none" strike="noStrike" kern="1200" noProof="0" dirty="0">
                          <a:solidFill>
                            <a:schemeClr val="tx1"/>
                          </a:solidFill>
                        </a:rPr>
                        <a:t>Governance, accountability and commercial conditions</a:t>
                      </a:r>
                      <a:endParaRPr lang="en-US" sz="1050" b="1" i="0" u="none" strike="noStrike" kern="1200" noProof="0" dirty="0">
                        <a:solidFill>
                          <a:srgbClr val="333333"/>
                        </a:solidFill>
                      </a:endParaRPr>
                    </a:p>
                    <a:p>
                      <a:pPr algn="l">
                        <a:lnSpc>
                          <a:spcPct val="150000"/>
                        </a:lnSpc>
                        <a:spcBef>
                          <a:spcPts val="200"/>
                        </a:spcBef>
                        <a:spcAft>
                          <a:spcPts val="0"/>
                        </a:spcAft>
                        <a:buNone/>
                      </a:pPr>
                      <a:r>
                        <a:rPr lang="en-US" sz="800" b="0" i="0" u="none" strike="noStrike" kern="1200" noProof="0" dirty="0">
                          <a:solidFill>
                            <a:schemeClr val="tx1"/>
                          </a:solidFill>
                        </a:rPr>
                        <a:t>Fixed price, gate-controlled: 4 quality gates (F1 Security, F2 Readiness &gt;= 85%, F3S SpecKit Exit 100%, Executive Readout). Gates are blocking, not advisory - the pipeline aborts rather than produce an invalid artefact. No gate, no invoice milestone.</a:t>
                      </a:r>
                      <a:endParaRPr lang="en-US" sz="1050" b="1" i="0" u="none" strike="noStrike" kern="1200" noProof="0" dirty="0">
                        <a:solidFill>
                          <a:srgbClr val="333333"/>
                        </a:solidFill>
                      </a:endParaRPr>
                    </a:p>
                    <a:p>
                      <a:pPr algn="l">
                        <a:lnSpc>
                          <a:spcPct val="150000"/>
                        </a:lnSpc>
                        <a:spcBef>
                          <a:spcPts val="200"/>
                        </a:spcBef>
                        <a:spcAft>
                          <a:spcPts val="0"/>
                        </a:spcAft>
                        <a:buNone/>
                      </a:pPr>
                      <a:r>
                        <a:rPr lang="en-US" sz="800" b="0" i="0" u="none" strike="noStrike" kern="1200" noProof="0" dirty="0">
                          <a:solidFill>
                            <a:schemeClr val="tx1"/>
                          </a:solidFill>
                        </a:rPr>
                        <a:t>Single point of accountability: the AVA Fabric Solution Architect owns plan, governance and sign-offs; the factory pod executes with standardized runbooks, artefact contracts per phase and evidence per task (trace_id, checksums, exit codes, timestamps). AI consumption is measured and immaterial (&lt;1% of price): billing follows delivered value, not model usage.</a:t>
                      </a:r>
                      <a:endParaRPr lang="en-US" sz="1050" b="1" i="0" u="none" strike="noStrike" kern="1200" noProof="0" dirty="0">
                        <a:solidFill>
                          <a:srgbClr val="333333"/>
                        </a:solidFill>
                      </a:endParaRPr>
                    </a:p>
                    <a:p>
                      <a:pPr algn="l">
                        <a:lnSpc>
                          <a:spcPct val="150000"/>
                        </a:lnSpc>
                        <a:spcBef>
                          <a:spcPts val="200"/>
                        </a:spcBef>
                        <a:spcAft>
                          <a:spcPts val="0"/>
                        </a:spcAft>
                        <a:buNone/>
                      </a:pPr>
                      <a:r>
                        <a:rPr lang="en-US" sz="800" b="0" i="0" u="none" strike="noStrike" kern="1200" noProof="0" dirty="0">
                          <a:solidFill>
                            <a:schemeClr val="tx1"/>
                          </a:solidFill>
                        </a:rPr>
                        <a:t>Assumptions: the AI model runs in a bank-approved environment; client source code is never used for model training; IP of generated artefacts belongs to ABC Bank; the platform version is frozen; the bank provides read access to the legacy repository and 1 architect + 1 tech lead + 1 business analyst part-time.</a:t>
                      </a:r>
                      <a:endParaRPr lang="en-US" sz="1050" b="1" i="0" u="none" strike="noStrike" kern="1200" noProof="0" dirty="0">
                        <a:solidFill>
                          <a:srgbClr val="333333"/>
                        </a:solidFill>
                      </a:endParaRPr>
                    </a:p>
                    <a:p>
                      <a:pPr algn="l">
                        <a:lnSpc>
                          <a:spcPct val="150000"/>
                        </a:lnSpc>
                        <a:spcBef>
                          <a:spcPts val="200"/>
                        </a:spcBef>
                        <a:spcAft>
                          <a:spcPts val="0"/>
                        </a:spcAft>
                        <a:buNone/>
                      </a:pPr>
                      <a:r>
                        <a:rPr lang="en-US" sz="800" b="0" i="0" u="none" strike="noStrike" kern="1200" noProof="0" dirty="0">
                          <a:solidFill>
                            <a:schemeClr val="tx1"/>
                          </a:solidFill>
                        </a:rPr>
                        <a:t>Contingency 15% covers one full phase re-run and build-gate remediation on the pilot bounded context - the known Beta risk of F4. Scale-up after the PoC is contracted at fixed price per wave, using the wave model and effort calculator produced by the pipeline itself.</a:t>
                      </a:r>
                      <a:endParaRPr lang="en-US" sz="1050" b="1" i="0" u="none" strike="noStrike" kern="1200" noProof="0" dirty="0">
                        <a:solidFill>
                          <a:srgbClr val="333333"/>
                        </a:solidFill>
                      </a:endParaRPr>
                    </a:p>
                  </a:txBody>
                  <a:tcPr>
                    <a:lnL w="19050">
                      <a:solidFill>
                        <a:schemeClr val="tx1">
                          <a:lumMod val="20000"/>
                          <a:lumOff val="80000"/>
                        </a:schemeClr>
                      </a:solidFill>
                    </a:lnL>
                    <a:lnR w="19050">
                      <a:solidFill>
                        <a:schemeClr val="tx1">
                          <a:lumMod val="20000"/>
                          <a:lumOff val="80000"/>
                        </a:schemeClr>
                      </a:solidFill>
                    </a:lnR>
                    <a:lnT w="19050">
                      <a:solidFill>
                        <a:schemeClr val="tx1">
                          <a:lumMod val="20000"/>
                          <a:lumOff val="80000"/>
                        </a:schemeClr>
                      </a:solidFill>
                    </a:lnT>
                    <a:lnB w="19050">
                      <a:solidFill>
                        <a:schemeClr val="tx1">
                          <a:lumMod val="20000"/>
                          <a:lumOff val="80000"/>
                        </a:schemeClr>
                      </a:solidFill>
                    </a:lnB>
                    <a:noFill/>
                  </a:tcPr>
                </a:tc>
                <a:tc hMerge="1">
                  <a:txBody>
                    <a:bodyPr/>
                    <a:lstStyle/>
                    <a:p>
                      <a:endParaRPr lang="en-US"/>
                    </a:p>
                  </a:txBody>
                  <a:tcPr>
                    <a:lnL w="19050">
                      <a:solidFill>
                        <a:schemeClr val="tx1">
                          <a:lumMod val="20000"/>
                          <a:lumOff val="80000"/>
                        </a:schemeClr>
                      </a:solidFill>
                    </a:lnL>
                    <a:lnR w="19050">
                      <a:solidFill>
                        <a:schemeClr val="tx1">
                          <a:lumMod val="20000"/>
                          <a:lumOff val="80000"/>
                        </a:schemeClr>
                      </a:solidFill>
                    </a:lnR>
                    <a:lnT w="19050">
                      <a:solidFill>
                        <a:schemeClr val="tx1">
                          <a:lumMod val="20000"/>
                          <a:lumOff val="80000"/>
                        </a:schemeClr>
                      </a:solidFill>
                    </a:lnT>
                    <a:lnB w="19050">
                      <a:solidFill>
                        <a:schemeClr val="tx1">
                          <a:lumMod val="20000"/>
                          <a:lumOff val="80000"/>
                        </a:schemeClr>
                      </a:solidFill>
                    </a:lnB>
                    <a:noFill/>
                  </a:tcPr>
                </a:tc>
                <a:extLst>
                  <a:ext uri="{0D108BD9-81ED-4DB2-BD59-A6C34878D82A}">
                    <a16:rowId xmlns:a16="http://schemas.microsoft.com/office/drawing/2014/main" val="2520157465"/>
                  </a:ext>
                </a:extLst>
              </a:tr>
            </a:tbl>
          </a:graphicData>
        </a:graphic>
      </p:graphicFrame>
    </p:spTree>
    <p:extLst>
      <p:ext uri="{BB962C8B-B14F-4D97-AF65-F5344CB8AC3E}">
        <p14:creationId xmlns:p14="http://schemas.microsoft.com/office/powerpoint/2010/main" val="3002821783"/>
      </p:ext>
    </p:extLst>
  </p:cSld>
  <p:clrMapOvr>
    <a:masterClrMapping/>
  </p:clrMapOvr>
  <p:transition>
    <p:fade/>
  </p:transition>
</p:sld>
</file>

<file path=ppt/theme/theme1.xml><?xml version="1.0" encoding="utf-8"?>
<a:theme xmlns:a="http://schemas.openxmlformats.org/drawingml/2006/main" name="Highly Confidential">
  <a:themeElements>
    <a:clrScheme name="Update Avanade">
      <a:dk1>
        <a:srgbClr val="333333"/>
      </a:dk1>
      <a:lt1>
        <a:sysClr val="window" lastClr="FFFFFF"/>
      </a:lt1>
      <a:dk2>
        <a:srgbClr val="FF5800"/>
      </a:dk2>
      <a:lt2>
        <a:srgbClr val="EDEDED"/>
      </a:lt2>
      <a:accent1>
        <a:srgbClr val="FF5800"/>
      </a:accent1>
      <a:accent2>
        <a:srgbClr val="CE056A"/>
      </a:accent2>
      <a:accent3>
        <a:srgbClr val="C80000"/>
      </a:accent3>
      <a:accent4>
        <a:srgbClr val="FFB414"/>
      </a:accent4>
      <a:accent5>
        <a:srgbClr val="4B912A"/>
      </a:accent5>
      <a:accent6>
        <a:srgbClr val="008C95"/>
      </a:accent6>
      <a:hlink>
        <a:srgbClr val="FF5800"/>
      </a:hlink>
      <a:folHlink>
        <a:srgbClr val="890078"/>
      </a:folHlink>
    </a:clrScheme>
    <a:fontScheme name="Custom 1">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1C210104-DC78-444B-929E-FBEF4DF41226}" vid="{86462BBF-5BEE-4EB2-A154-3428CBF3A2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1323E5ED6E9C64C86C82DE5762DCB03" ma:contentTypeVersion="13" ma:contentTypeDescription="Create a new document." ma:contentTypeScope="" ma:versionID="a6033bf9fc9ccd597a25ecc8903dbfd1">
  <xsd:schema xmlns:xsd="http://www.w3.org/2001/XMLSchema" xmlns:xs="http://www.w3.org/2001/XMLSchema" xmlns:p="http://schemas.microsoft.com/office/2006/metadata/properties" xmlns:ns2="8f5d4594-bfee-4375-af12-f6f3779fa86e" xmlns:ns3="2a5b8a9d-38f1-4897-b9e1-8e773f0955df" targetNamespace="http://schemas.microsoft.com/office/2006/metadata/properties" ma:root="true" ma:fieldsID="2c1b07612394dc5a5c5f475e46648000" ns2:_="" ns3:_="">
    <xsd:import namespace="8f5d4594-bfee-4375-af12-f6f3779fa86e"/>
    <xsd:import namespace="2a5b8a9d-38f1-4897-b9e1-8e773f0955d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5d4594-bfee-4375-af12-f6f3779fa8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217ff2e-1616-4146-8372-4640400776c3"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a5b8a9d-38f1-4897-b9e1-8e773f0955d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36f64eb-793b-4afe-8480-17d78506cd17}" ma:internalName="TaxCatchAll" ma:showField="CatchAllData" ma:web="2a5b8a9d-38f1-4897-b9e1-8e773f0955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a5b8a9d-38f1-4897-b9e1-8e773f0955df" xsi:nil="true"/>
    <lcf76f155ced4ddcb4097134ff3c332f xmlns="8f5d4594-bfee-4375-af12-f6f3779fa86e">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FFAFCD-D676-4B87-9554-BC2CA2D9822E}">
  <ds:schemaRefs>
    <ds:schemaRef ds:uri="2a5b8a9d-38f1-4897-b9e1-8e773f0955df"/>
    <ds:schemaRef ds:uri="8f5d4594-bfee-4375-af12-f6f3779fa86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7A03C18-8CA8-4E85-8FD3-26F080DC8A47}">
  <ds:schemaRefs>
    <ds:schemaRef ds:uri="http://schemas.microsoft.com/office/2006/metadata/properties"/>
    <ds:schemaRef ds:uri="http://schemas.openxmlformats.org/package/2006/metadata/core-properties"/>
    <ds:schemaRef ds:uri="http://purl.org/dc/elements/1.1/"/>
    <ds:schemaRef ds:uri="http://schemas.microsoft.com/office/2006/documentManagement/types"/>
    <ds:schemaRef ds:uri="http://www.w3.org/XML/1998/namespace"/>
    <ds:schemaRef ds:uri="http://purl.org/dc/terms/"/>
    <ds:schemaRef ds:uri="http://purl.org/dc/dcmitype/"/>
    <ds:schemaRef ds:uri="http://schemas.microsoft.com/office/infopath/2007/PartnerControls"/>
    <ds:schemaRef ds:uri="2a5b8a9d-38f1-4897-b9e1-8e773f0955df"/>
    <ds:schemaRef ds:uri="8f5d4594-bfee-4375-af12-f6f3779fa86e"/>
  </ds:schemaRefs>
</ds:datastoreItem>
</file>

<file path=customXml/itemProps3.xml><?xml version="1.0" encoding="utf-8"?>
<ds:datastoreItem xmlns:ds="http://schemas.openxmlformats.org/officeDocument/2006/customXml" ds:itemID="{A35BC5BD-2F86-406E-8953-9EE1A3C80074}">
  <ds:schemaRefs>
    <ds:schemaRef ds:uri="http://schemas.microsoft.com/sharepoint/v3/contenttype/forms"/>
  </ds:schemaRefs>
</ds:datastoreItem>
</file>

<file path=docMetadata/LabelInfo.xml><?xml version="1.0" encoding="utf-8"?>
<clbl:labelList xmlns:clbl="http://schemas.microsoft.com/office/2020/mipLabelMetadata">
  <clbl:label id="{5fae8262-b78e-4366-8929-a5d6aac95320}" enabled="1" method="Standard" siteId="{cf36141c-ddd7-45a7-b073-111f66d0b30c}" removed="0"/>
</clbl:labelList>
</file>

<file path=docProps/app.xml><?xml version="1.0" encoding="utf-8"?>
<Properties xmlns="http://schemas.openxmlformats.org/officeDocument/2006/extended-properties" xmlns:vt="http://schemas.openxmlformats.org/officeDocument/2006/docPropsVTypes">
  <Template>Light  Aurora PPT 2020</Template>
  <TotalTime>254</TotalTime>
  <Words>16908</Words>
  <Application>Microsoft Office PowerPoint</Application>
  <PresentationFormat>Widescreen</PresentationFormat>
  <Paragraphs>2583</Paragraphs>
  <Slides>40</Slides>
  <Notes>32</Notes>
  <HiddenSlides>3</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53" baseType="lpstr">
      <vt:lpstr>ＭＳ Ｐゴシック</vt:lpstr>
      <vt:lpstr>Arial</vt:lpstr>
      <vt:lpstr>Arial,Sans-Serif</vt:lpstr>
      <vt:lpstr>Calibri</vt:lpstr>
      <vt:lpstr>Courier New</vt:lpstr>
      <vt:lpstr>Graphik</vt:lpstr>
      <vt:lpstr>Segoe UI</vt:lpstr>
      <vt:lpstr>Segoe UI Black</vt:lpstr>
      <vt:lpstr>Segoe UI Light</vt:lpstr>
      <vt:lpstr>Segoe UI Semibold</vt:lpstr>
      <vt:lpstr>Segoe UI Variable Text</vt:lpstr>
      <vt:lpstr>Highly Confidential</vt:lpstr>
      <vt:lpstr>Worksheet</vt:lpstr>
      <vt:lpstr>Brazil Engineering Hub Solution Summary</vt:lpstr>
      <vt:lpstr>Version Control</vt:lpstr>
      <vt:lpstr>Conditions for Brazil Engineering Hub Staffing</vt:lpstr>
      <vt:lpstr>BEH Solution on a Page</vt:lpstr>
      <vt:lpstr>BEH - Solution on a Page</vt:lpstr>
      <vt:lpstr>High Level Schedule</vt:lpstr>
      <vt:lpstr>Out of Scope for Brazil Engineering Hub</vt:lpstr>
      <vt:lpstr>BEH Staffing</vt:lpstr>
      <vt:lpstr>BEH Staffing (by 03/24)</vt:lpstr>
      <vt:lpstr>Project Organization</vt:lpstr>
      <vt:lpstr>PowerPoint Presentation</vt:lpstr>
      <vt:lpstr>Azure Solution Scope (2/2) </vt:lpstr>
      <vt:lpstr>Azure Migration – Factory Estimation </vt:lpstr>
      <vt:lpstr>M365 Solution Scope (1/4)</vt:lpstr>
      <vt:lpstr>M365 Solution Scope (2/4) </vt:lpstr>
      <vt:lpstr>M365 Solution Scope (3/4) </vt:lpstr>
      <vt:lpstr>M365 Solution Scope (4/4)</vt:lpstr>
      <vt:lpstr>Microsoft 365 Migration – Factory Estimation </vt:lpstr>
      <vt:lpstr>Power Platform Scope (1/2)</vt:lpstr>
      <vt:lpstr>Power Platform Scope (2/2)</vt:lpstr>
      <vt:lpstr>Power Platform Migration | Cost &amp; Effort Update (Factory Delivery Model) </vt:lpstr>
      <vt:lpstr>Security Solution Scope </vt:lpstr>
      <vt:lpstr>Security Solution Scope (1/2) </vt:lpstr>
      <vt:lpstr>Security Solution Scope  (2/2) </vt:lpstr>
      <vt:lpstr>OCM Solution Scope</vt:lpstr>
      <vt:lpstr>OCM Out of Scope</vt:lpstr>
      <vt:lpstr>Deliverables 1/2</vt:lpstr>
      <vt:lpstr>Deliverables 2/2</vt:lpstr>
      <vt:lpstr>Work Products 1/2</vt:lpstr>
      <vt:lpstr>Work Products 2/2</vt:lpstr>
      <vt:lpstr>Key Risks</vt:lpstr>
      <vt:lpstr>Key Assumptions and Dependencies</vt:lpstr>
      <vt:lpstr>Key Assumptions and Dependencies (1/4)</vt:lpstr>
      <vt:lpstr>Key Assumptions and Dependencies (2/4)</vt:lpstr>
      <vt:lpstr>Key Assumptions and Dependencies (3/4)</vt:lpstr>
      <vt:lpstr>Key Assumptions and Dependencies (4/4)</vt:lpstr>
      <vt:lpstr>RACI (1/3)</vt:lpstr>
      <vt:lpstr>RACI (2/3)</vt:lpstr>
      <vt:lpstr>RACI (3/3)</vt:lpstr>
      <vt:lpstr>Classifications and Document Control Highly Confidential Data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SP051_Template_Global_Master</dc:title>
  <dc:subject/>
  <dc:creator>James Batty</dc:creator>
  <cp:keywords>SP051; Solution Plan Template; Solution Plan; SP Template; SP051 Solution Plan; SP51; SP 51 Template</cp:keywords>
  <dc:description/>
  <cp:lastModifiedBy>Rafael Dos Santos De Almeida</cp:lastModifiedBy>
  <cp:revision>2</cp:revision>
  <dcterms:created xsi:type="dcterms:W3CDTF">2020-04-03T10:03:33Z</dcterms:created>
  <dcterms:modified xsi:type="dcterms:W3CDTF">2026-08-21T21:59:53Z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6020b0-6d69-48c1-9bb5-c586c1062b70_Enabled">
    <vt:lpwstr>True</vt:lpwstr>
  </property>
  <property fmtid="{D5CDD505-2E9C-101B-9397-08002B2CF9AE}" pid="3" name="MSIP_Label_236020b0-6d69-48c1-9bb5-c586c1062b70_SiteId">
    <vt:lpwstr>cf36141c-ddd7-45a7-b073-111f66d0b30c</vt:lpwstr>
  </property>
  <property fmtid="{D5CDD505-2E9C-101B-9397-08002B2CF9AE}" pid="4" name="MSIP_Label_236020b0-6d69-48c1-9bb5-c586c1062b70_Owner">
    <vt:lpwstr>courteney.malon@avanade.com</vt:lpwstr>
  </property>
  <property fmtid="{D5CDD505-2E9C-101B-9397-08002B2CF9AE}" pid="5" name="MSIP_Label_236020b0-6d69-48c1-9bb5-c586c1062b70_SetDate">
    <vt:lpwstr>2018-12-20T17:57:52.8924816Z</vt:lpwstr>
  </property>
  <property fmtid="{D5CDD505-2E9C-101B-9397-08002B2CF9AE}" pid="6" name="MSIP_Label_236020b0-6d69-48c1-9bb5-c586c1062b70_Name">
    <vt:lpwstr>Confidential</vt:lpwstr>
  </property>
  <property fmtid="{D5CDD505-2E9C-101B-9397-08002B2CF9AE}" pid="7" name="MSIP_Label_236020b0-6d69-48c1-9bb5-c586c1062b70_Application">
    <vt:lpwstr>Microsoft Azure Information Protection</vt:lpwstr>
  </property>
  <property fmtid="{D5CDD505-2E9C-101B-9397-08002B2CF9AE}" pid="8" name="MSIP_Label_236020b0-6d69-48c1-9bb5-c586c1062b70_Extended_MSFT_Method">
    <vt:lpwstr>Automatic</vt:lpwstr>
  </property>
  <property fmtid="{D5CDD505-2E9C-101B-9397-08002B2CF9AE}" pid="9" name="MSIP_Label_5fae8262-b78e-4366-8929-a5d6aac95320_Enabled">
    <vt:lpwstr>True</vt:lpwstr>
  </property>
  <property fmtid="{D5CDD505-2E9C-101B-9397-08002B2CF9AE}" pid="10" name="MSIP_Label_5fae8262-b78e-4366-8929-a5d6aac95320_SiteId">
    <vt:lpwstr>cf36141c-ddd7-45a7-b073-111f66d0b30c</vt:lpwstr>
  </property>
  <property fmtid="{D5CDD505-2E9C-101B-9397-08002B2CF9AE}" pid="11" name="MSIP_Label_5fae8262-b78e-4366-8929-a5d6aac95320_Owner">
    <vt:lpwstr>courteney.malon@avanade.com</vt:lpwstr>
  </property>
  <property fmtid="{D5CDD505-2E9C-101B-9397-08002B2CF9AE}" pid="12" name="MSIP_Label_5fae8262-b78e-4366-8929-a5d6aac95320_SetDate">
    <vt:lpwstr>2018-12-20T17:57:52.8924816Z</vt:lpwstr>
  </property>
  <property fmtid="{D5CDD505-2E9C-101B-9397-08002B2CF9AE}" pid="13" name="MSIP_Label_5fae8262-b78e-4366-8929-a5d6aac95320_Name">
    <vt:lpwstr>Recipients Have Full Control</vt:lpwstr>
  </property>
  <property fmtid="{D5CDD505-2E9C-101B-9397-08002B2CF9AE}" pid="14" name="MSIP_Label_5fae8262-b78e-4366-8929-a5d6aac95320_Application">
    <vt:lpwstr>Microsoft Azure Information Protection</vt:lpwstr>
  </property>
  <property fmtid="{D5CDD505-2E9C-101B-9397-08002B2CF9AE}" pid="15" name="MSIP_Label_5fae8262-b78e-4366-8929-a5d6aac95320_Parent">
    <vt:lpwstr>236020b0-6d69-48c1-9bb5-c586c1062b70</vt:lpwstr>
  </property>
  <property fmtid="{D5CDD505-2E9C-101B-9397-08002B2CF9AE}" pid="16" name="MSIP_Label_5fae8262-b78e-4366-8929-a5d6aac95320_Extended_MSFT_Method">
    <vt:lpwstr>Automatic</vt:lpwstr>
  </property>
  <property fmtid="{D5CDD505-2E9C-101B-9397-08002B2CF9AE}" pid="17" name="Sensitivity">
    <vt:lpwstr>Confidential Recipients Have Full Control</vt:lpwstr>
  </property>
  <property fmtid="{D5CDD505-2E9C-101B-9397-08002B2CF9AE}" pid="18" name="ContentTypeId">
    <vt:lpwstr>0x010100F1323E5ED6E9C64C86C82DE5762DCB03</vt:lpwstr>
  </property>
  <property fmtid="{D5CDD505-2E9C-101B-9397-08002B2CF9AE}" pid="19" name="TaxKeyword">
    <vt:lpwstr>6097;#SP 51 Template|54bab825-0ffe-4296-8a10-dca896ccbea1;#6096;#Solution Plan Template|fe2b7d0f-8f28-42b4-b3ec-63447ad1a1cb;#6095;#SP Template|be0bda1e-9f2c-4bfc-8480-80f7069a852a;#6090;#SP051|8f6ddd9e-2785-40af-89e1-22b60871c60f;#6089;#SP51|c8458c0d-cbc0-4e3c-b11f-9f6741ccd0ed;#5203;#SP051 Solution Plan|1f69a0a2-7abf-165f-c16e-7fd915d55496;#7004;#Solution Plan|ead11ab2-cdf3-4dc9-a1b9-461957dea6f4</vt:lpwstr>
  </property>
  <property fmtid="{D5CDD505-2E9C-101B-9397-08002B2CF9AE}" pid="20" name="K_A_Industry">
    <vt:lpwstr/>
  </property>
  <property fmtid="{D5CDD505-2E9C-101B-9397-08002B2CF9AE}" pid="21" name="K_A_DocumentAcceptableUse">
    <vt:lpwstr>5480;#Internal Avanade and Accenture use only|099e54a0-b26b-4760-bf98-af5b6a08c180</vt:lpwstr>
  </property>
  <property fmtid="{D5CDD505-2E9C-101B-9397-08002B2CF9AE}" pid="22" name="K_A_Operating Group">
    <vt:lpwstr/>
  </property>
  <property fmtid="{D5CDD505-2E9C-101B-9397-08002B2CF9AE}" pid="23" name="K_A_Talent Community">
    <vt:lpwstr>5570;#Delivery Management|4411de5b-e590-4601-8941-77e834092b61</vt:lpwstr>
  </property>
  <property fmtid="{D5CDD505-2E9C-101B-9397-08002B2CF9AE}" pid="24" name="K_A_Offering">
    <vt:lpwstr/>
  </property>
  <property fmtid="{D5CDD505-2E9C-101B-9397-08002B2CF9AE}" pid="25" name="K_A_Market_Unit_Portfolio">
    <vt:lpwstr>3190;#N/A- Not Applicable|0e36607a-4796-4f4e-bde1-652abdf19e5c</vt:lpwstr>
  </property>
  <property fmtid="{D5CDD505-2E9C-101B-9397-08002B2CF9AE}" pid="26" name="K_A_Market Unit">
    <vt:lpwstr>8800;#Advisory|6ce414a0-eacf-4938-92fd-1cb6f94e4496;#8801;#Experiences|d8e86e57-5adb-463a-8b64-f092e11cc6a9;#6773;#Applications ＆ Infrastructure|2daebbe5-0761-485b-bad1-c964cf5692b4;#5460;#Business Applications|f3e4c50a-675f-47f8-b433-9cc2fd4e99a0;#6776;#Data ＆ AI|c104987d-814b-4041-ab25-f9435737dddc;#6769;#Modern Workplace|81c51834-f55e-42aa-a152-c12f23918f67;#8583;#Security|ad7f7afc-72cc-436e-ba64-e0806c09fd13</vt:lpwstr>
  </property>
  <property fmtid="{D5CDD505-2E9C-101B-9397-08002B2CF9AE}" pid="27" name="K_A_DigitalInnovation">
    <vt:lpwstr/>
  </property>
  <property fmtid="{D5CDD505-2E9C-101B-9397-08002B2CF9AE}" pid="28" name="d50dde5bb07149a3a1ac3fa50b63730e">
    <vt:lpwstr/>
  </property>
  <property fmtid="{D5CDD505-2E9C-101B-9397-08002B2CF9AE}" pid="29" name="i1b72d3e0121427caf4dcfceb8b8a873">
    <vt:lpwstr/>
  </property>
  <property fmtid="{D5CDD505-2E9C-101B-9397-08002B2CF9AE}" pid="30" name="K_A_Sub_Offerings">
    <vt:lpwstr/>
  </property>
  <property fmtid="{D5CDD505-2E9C-101B-9397-08002B2CF9AE}" pid="31" name="K_A_AMP_BusinessFunction">
    <vt:lpwstr/>
  </property>
  <property fmtid="{D5CDD505-2E9C-101B-9397-08002B2CF9AE}" pid="32" name="bb61b19362a04c4dabb125d63e0bde14">
    <vt:lpwstr/>
  </property>
  <property fmtid="{D5CDD505-2E9C-101B-9397-08002B2CF9AE}" pid="33" name="_docset_NoMedatataSyncRequired">
    <vt:lpwstr>False</vt:lpwstr>
  </property>
  <property fmtid="{D5CDD505-2E9C-101B-9397-08002B2CF9AE}" pid="34" name="MediaServiceImageTags">
    <vt:lpwstr/>
  </property>
  <property fmtid="{D5CDD505-2E9C-101B-9397-08002B2CF9AE}" pid="35" name="K_A_Operating_x0020_Group">
    <vt:lpwstr/>
  </property>
  <property fmtid="{D5CDD505-2E9C-101B-9397-08002B2CF9AE}" pid="36" name="K_A_Asset_x0020_Type">
    <vt:lpwstr>5741</vt:lpwstr>
  </property>
  <property fmtid="{D5CDD505-2E9C-101B-9397-08002B2CF9AE}" pid="37" name="K_A_Talent_x0020_Community">
    <vt:lpwstr>5570;#Delivery Management|4411de5b-e590-4601-8941-77e834092b61</vt:lpwstr>
  </property>
  <property fmtid="{D5CDD505-2E9C-101B-9397-08002B2CF9AE}" pid="38" name="K_A_Market_x0020_Unit">
    <vt:lpwstr>8800;#Advisory|6ce414a0-eacf-4938-92fd-1cb6f94e4496;#8801;#Experiences|d8e86e57-5adb-463a-8b64-f092e11cc6a9;#6773;#Applications ＆ Infrastructure|2daebbe5-0761-485b-bad1-c964cf5692b4;#5460;#Business Applications|f3e4c50a-675f-47f8-b433-9cc2fd4e99a0;#6776;#Data ＆ AI|c104987d-814b-4041-ab25-f9435737dddc;#6769;#Modern Workplace|81c51834-f55e-42aa-a152-c12f23918f67;#8583;#Security|ad7f7afc-72cc-436e-ba64-e0806c09fd13</vt:lpwstr>
  </property>
  <property fmtid="{D5CDD505-2E9C-101B-9397-08002B2CF9AE}" pid="39" name="K_A_Asset Type">
    <vt:lpwstr>5741</vt:lpwstr>
  </property>
</Properties>
</file>