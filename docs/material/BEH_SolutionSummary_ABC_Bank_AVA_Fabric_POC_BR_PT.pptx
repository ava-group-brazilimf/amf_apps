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7"/>
  </p:notesMasterIdLst>
  <p:handoutMasterIdLst>
    <p:handoutMasterId r:id="rId18"/>
  </p:handoutMasterIdLst>
  <p:sldIdLst>
    <p:sldId id="256" r:id="rId5"/>
    <p:sldId id="4113" r:id="rId6"/>
    <p:sldId id="2147483627" r:id="rId7"/>
    <p:sldId id="2147483468" r:id="rId8"/>
    <p:sldId id="259" r:id="rId9"/>
    <p:sldId id="2147480565" r:id="rId10"/>
    <p:sldId id="2147483637" r:id="rId11"/>
    <p:sldId id="2147483638" r:id="rId12"/>
    <p:sldId id="2147480536" r:id="rId13"/>
    <p:sldId id="2147483639" r:id="rId14"/>
    <p:sldId id="264" r:id="rId15"/>
    <p:sldId id="271" r:id="rId16"/>
    <p:sldId id="2147483640" r:id="rId26"/>
    <p:sldId id="2147483641" r:id="rId27"/>
    <p:sldId id="2147483642" r:id="rId28"/>
    <p:sldId id="2147483643" r:id="rId29"/>
    <p:sldId id="2147483644" r:id="rId30"/>
    <p:sldId id="2147483645" r:id="rId31"/>
    <p:sldId id="214748364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lution Plan Slides" id="{F825D7AB-8068-4ED0-99F5-FBBE4D741C5A}">
          <p14:sldIdLst>
            <p14:sldId id="256"/>
            <p14:sldId id="4113"/>
            <p14:sldId id="2147483627"/>
            <p14:sldId id="2147483468"/>
            <p14:sldId id="259"/>
            <p14:sldId id="2147480565"/>
            <p14:sldId id="2147483637"/>
            <p14:sldId id="2147483638"/>
            <p14:sldId id="2147480536"/>
            <p14:sldId id="2147483639"/>
            <p14:sldId id="264"/>
            <p14:sldId id="271"/>
          </p14:sldIdLst>
        </p14:section>
        <p14:section name="Graveyard" id="{01658332-AC9C-428A-B946-ACCBF962BEF2}">
          <p14:sldIdLst/>
        </p14:section>
      </p14:sectionLst>
    </p:ext>
    <p:ext uri="{EFAFB233-063F-42B5-8137-9DF3F51BA10A}">
      <p15:sldGuideLst xmlns:p15="http://schemas.microsoft.com/office/powerpoint/2012/main">
        <p15:guide id="1" orient="horz" pos="2496" userDrawn="1">
          <p15:clr>
            <a:srgbClr val="A4A3A4"/>
          </p15:clr>
        </p15:guide>
        <p15:guide id="2" pos="25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ECF10F-2D6D-85EE-8092-6648B2711D12}" name="Cristiano Rodrigues Matheus" initials="" userId="S::c.rodrigues.matheus@avanade.com::85ed863a-4c3c-4608-8d1b-15d2be2df509" providerId="AD"/>
  <p188:author id="{58966B21-3E1B-53E1-4524-8DC0C486A3DB}" name="Ana Paula Victor De Araujo" initials="AA" userId="S::ana.victor.de.araujo@avanade.com::d6a8521f-2784-475a-b797-e01c80a1e457" providerId="AD"/>
  <p188:author id="{BD0BB523-78C5-9EC7-F689-0308DFACFF6C}" name="Evan Kalman" initials="" userId="S::e.kalman@avanade.com::b63cc5b0-ecec-4561-95e1-28384d9da0f8" providerId="AD"/>
  <p188:author id="{E9834F31-E8B5-A5B1-0BC0-351B8E3BB974}" name="Jason Berg" initials="JB" userId="S::jason.m.berg@avanade.com::8f96afc9-ba25-40e2-bfc7-31eadbc53e9d" providerId="AD"/>
  <p188:author id="{6BA4FA39-83AE-8BD3-5631-AE9D14796855}" name="Michael Robertson" initials="MR" userId="S::michael.robertson@avanade.com::ff101142-114a-4f68-ac90-efd125b1dc34" providerId="AD"/>
  <p188:author id="{5B98AB46-5354-33B7-7C0A-DE8B9DE162EC}" name="Aashish Dhole" initials="AD" userId="S::aashish.dhole@avanade.com::8b64950b-367d-4293-820f-75b512065fb3" providerId="AD"/>
  <p188:author id="{0BB78D75-E1FA-E85A-8B72-D694A91BCA85}" name="Pedro Ivo Tavares" initials="PT" userId="S::pedro.ivo.a.tavares@avanade.com::1a62cdd4-4be4-4a29-bc13-02859f4243a2" providerId="AD"/>
  <p188:author id="{ACF64D89-8142-0299-1990-DEC93E68BE32}" name="Kevin Kelley" initials="KK" userId="S::kevin.kelley@avanade.com::88889b0a-0b6d-4bfa-92a7-8df47405e088" providerId="AD"/>
  <p188:author id="{1424E5B3-F6AB-1476-9091-8EE63B5A4040}" name="Rob Lewis" initials="RL" userId="S::rob.lewis@avanade.com::bc8455e3-04ea-46ad-bdc3-f070dea1a25f" providerId="AD"/>
  <p188:author id="{F0FA83B5-1D11-5307-3104-839BE1DABB48}" name="Trey Bynum" initials="TB" userId="S::trey.bynum@avanade.com::343d94a6-06e2-42fe-abbf-8cb86e38e98f" providerId="AD"/>
  <p188:author id="{077956B9-FC70-EB9F-EC4F-66DE0D56058B}" name="Chris Abernathy" initials="CA" userId="S::chris.abernathy@avanade.com::a5e2d885-4493-4bf9-9aa7-e4d45ea20a40" providerId="AD"/>
  <p188:author id="{0E6F94D8-AAA8-5969-58A4-A97972B0E33E}" name="Alexandre Liebold Peres Y Peres" initials="" userId="S::alexandre.l.peres@avanade.com::ededff73-151e-4baa-b4e0-c1d1869b7a4c" providerId="AD"/>
  <p188:author id="{E48B7DDF-C0C8-8A3E-92D4-E1FE0BF41E3A}" name="Joffre Bernal" initials="JB" userId="S::joffre.d.bernal@avanade.com::242002de-8479-4109-879a-03fb21bcb67b" providerId="AD"/>
  <p188:author id="{536B75EB-36DC-9038-0566-274F9B7529DA}" name="James Batty" initials="JB" userId="S::james.batty@avanade.com::e510bf52-999b-44c5-89f4-2ac66e74845b" providerId="AD"/>
  <p188:author id="{8B2AEFEF-F38A-F846-F96F-54E5A37D4950}" name="Alexander Russo" initials="AR" userId="S::alexander.p.russo@avanade.com::046b29d1-1e04-49c1-9d30-4ce0f565e2cd" providerId="AD"/>
  <p188:author id="{35D2D5F2-20DF-2BD5-D162-103BBB75E280}" name="Michael Madsen" initials="MM" userId="S::michael.madsen@avanade.com::5219eb16-8a75-4698-b1aa-7937fec828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F5800"/>
    <a:srgbClr val="E7E6E6"/>
    <a:srgbClr val="595959"/>
    <a:srgbClr val="008376"/>
    <a:srgbClr val="47800A"/>
    <a:srgbClr val="008C95"/>
    <a:srgbClr val="4B912A"/>
    <a:srgbClr val="FDFDFD"/>
    <a:srgbClr val="FC591F"/>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5705AB-D046-4FCA-9591-35451B51BE8D}" v="4" dt="2026-08-21T21:58:20.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03" autoAdjust="0"/>
    <p:restoredTop sz="94660"/>
  </p:normalViewPr>
  <p:slideViewPr>
    <p:cSldViewPr snapToGrid="0">
      <p:cViewPr>
        <p:scale>
          <a:sx n="100" d="100"/>
          <a:sy n="100" d="100"/>
        </p:scale>
        <p:origin x="282" y="-648"/>
      </p:cViewPr>
      <p:guideLst>
        <p:guide orient="horz" pos="2496"/>
        <p:guide pos="25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microsoft.com/office/2018/10/relationships/authors" Target="authors.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ael Dos Santos De Almeida" userId="7215804a-e06a-42f5-8ddd-df41c410ddf3" providerId="ADAL" clId="{8280FB3A-C1F5-40B0-8625-78C4C29EEC61}"/>
    <pc:docChg chg="undo custSel modSld">
      <pc:chgData name="Rafael Dos Santos De Almeida" userId="7215804a-e06a-42f5-8ddd-df41c410ddf3" providerId="ADAL" clId="{8280FB3A-C1F5-40B0-8625-78C4C29EEC61}" dt="2026-08-21T21:59:43.685" v="448" actId="20577"/>
      <pc:docMkLst>
        <pc:docMk/>
      </pc:docMkLst>
      <pc:sldChg chg="modSp mod">
        <pc:chgData name="Rafael Dos Santos De Almeida" userId="7215804a-e06a-42f5-8ddd-df41c410ddf3" providerId="ADAL" clId="{8280FB3A-C1F5-40B0-8625-78C4C29EEC61}" dt="2026-08-21T21:24:27.992" v="103" actId="20577"/>
        <pc:sldMkLst>
          <pc:docMk/>
          <pc:sldMk cId="3946388760" sldId="256"/>
        </pc:sldMkLst>
        <pc:spChg chg="mod">
          <ac:chgData name="Rafael Dos Santos De Almeida" userId="7215804a-e06a-42f5-8ddd-df41c410ddf3" providerId="ADAL" clId="{8280FB3A-C1F5-40B0-8625-78C4C29EEC61}" dt="2026-08-21T21:24:27.992" v="103" actId="20577"/>
          <ac:spMkLst>
            <pc:docMk/>
            <pc:sldMk cId="3946388760" sldId="256"/>
            <ac:spMk id="3" creationId="{C3B7BC3A-EA1E-9533-8C85-610AF02E1122}"/>
          </ac:spMkLst>
        </pc:spChg>
      </pc:sldChg>
      <pc:sldChg chg="modSp mod">
        <pc:chgData name="Rafael Dos Santos De Almeida" userId="7215804a-e06a-42f5-8ddd-df41c410ddf3" providerId="ADAL" clId="{8280FB3A-C1F5-40B0-8625-78C4C29EEC61}" dt="2026-08-21T21:42:54.457" v="226" actId="20577"/>
        <pc:sldMkLst>
          <pc:docMk/>
          <pc:sldMk cId="3690776620" sldId="4113"/>
        </pc:sldMkLst>
        <pc:graphicFrameChg chg="modGraphic">
          <ac:chgData name="Rafael Dos Santos De Almeida" userId="7215804a-e06a-42f5-8ddd-df41c410ddf3" providerId="ADAL" clId="{8280FB3A-C1F5-40B0-8625-78C4C29EEC61}" dt="2026-08-21T21:24:17.593" v="93" actId="20577"/>
          <ac:graphicFrameMkLst>
            <pc:docMk/>
            <pc:sldMk cId="3690776620" sldId="4113"/>
            <ac:graphicFrameMk id="13" creationId="{A14B1F44-28D1-45D4-AA52-9EE99FB1D4AC}"/>
          </ac:graphicFrameMkLst>
        </pc:graphicFrameChg>
        <pc:graphicFrameChg chg="mod modGraphic">
          <ac:chgData name="Rafael Dos Santos De Almeida" userId="7215804a-e06a-42f5-8ddd-df41c410ddf3" providerId="ADAL" clId="{8280FB3A-C1F5-40B0-8625-78C4C29EEC61}" dt="2026-08-21T21:42:54.457" v="226" actId="20577"/>
          <ac:graphicFrameMkLst>
            <pc:docMk/>
            <pc:sldMk cId="3690776620" sldId="4113"/>
            <ac:graphicFrameMk id="20" creationId="{7ADA6EEC-4556-45A5-A438-BC8874A2C37B}"/>
          </ac:graphicFrameMkLst>
        </pc:graphicFrameChg>
      </pc:sldChg>
      <pc:sldChg chg="modSp mod">
        <pc:chgData name="Rafael Dos Santos De Almeida" userId="7215804a-e06a-42f5-8ddd-df41c410ddf3" providerId="ADAL" clId="{8280FB3A-C1F5-40B0-8625-78C4C29EEC61}" dt="2026-08-21T21:59:43.685" v="448" actId="20577"/>
        <pc:sldMkLst>
          <pc:docMk/>
          <pc:sldMk cId="3161308439" sldId="2147483468"/>
        </pc:sldMkLst>
        <pc:spChg chg="mod">
          <ac:chgData name="Rafael Dos Santos De Almeida" userId="7215804a-e06a-42f5-8ddd-df41c410ddf3" providerId="ADAL" clId="{8280FB3A-C1F5-40B0-8625-78C4C29EEC61}" dt="2026-08-21T21:58:20.721" v="395"/>
          <ac:spMkLst>
            <pc:docMk/>
            <pc:sldMk cId="3161308439" sldId="2147483468"/>
            <ac:spMk id="11" creationId="{0909058C-6561-0720-BD51-46BE733F684F}"/>
          </ac:spMkLst>
        </pc:spChg>
        <pc:spChg chg="mod">
          <ac:chgData name="Rafael Dos Santos De Almeida" userId="7215804a-e06a-42f5-8ddd-df41c410ddf3" providerId="ADAL" clId="{8280FB3A-C1F5-40B0-8625-78C4C29EEC61}" dt="2026-08-21T21:59:43.685" v="448" actId="20577"/>
          <ac:spMkLst>
            <pc:docMk/>
            <pc:sldMk cId="3161308439" sldId="2147483468"/>
            <ac:spMk id="22" creationId="{C5DAF829-ED23-17E0-AC0F-8A0281BC8C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F67937-71EE-2E40-8930-C43612F7F1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ECB0E328-65A8-6B4F-9EF6-C5128DED21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BD4108-5533-5540-8846-3092E2C7CF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25F66B-C815-8849-811C-F1A4AB94F66D}" type="slidenum">
              <a:rPr lang="en-US" smtClean="0"/>
              <a:t>‹#›</a:t>
            </a:fld>
            <a:endParaRPr lang="en-US"/>
          </a:p>
        </p:txBody>
      </p:sp>
    </p:spTree>
    <p:extLst>
      <p:ext uri="{BB962C8B-B14F-4D97-AF65-F5344CB8AC3E}">
        <p14:creationId xmlns:p14="http://schemas.microsoft.com/office/powerpoint/2010/main" val="189391021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323134-CEB1-9C43-B6DE-74B10BFB1C0A}"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17A60-5211-564C-AE51-C5EE6D827C53}" type="slidenum">
              <a:rPr lang="en-US" smtClean="0"/>
              <a:t>‹#›</a:t>
            </a:fld>
            <a:endParaRPr lang="en-US"/>
          </a:p>
        </p:txBody>
      </p:sp>
    </p:spTree>
    <p:extLst>
      <p:ext uri="{BB962C8B-B14F-4D97-AF65-F5344CB8AC3E}">
        <p14:creationId xmlns:p14="http://schemas.microsoft.com/office/powerpoint/2010/main" val="185271736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759650-762C-9343-8990-0901C80FC791}" type="slidenum">
              <a:rPr kumimoji="0" lang="en-US" sz="1200" b="0" i="0" u="none" strike="noStrike" kern="1200" cap="none" spc="0" normalizeH="0" baseline="0" noProof="0" smtClean="0">
                <a:ln>
                  <a:noFill/>
                </a:ln>
                <a:solidFill>
                  <a:prstClr val="black"/>
                </a:solidFill>
                <a:effectLst/>
                <a:uLnTx/>
                <a:uFillTx/>
                <a:latin typeface="Arial"/>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a:ea typeface="ＭＳ Ｐゴシック" charset="0"/>
            </a:endParaRPr>
          </a:p>
        </p:txBody>
      </p:sp>
    </p:spTree>
    <p:extLst>
      <p:ext uri="{BB962C8B-B14F-4D97-AF65-F5344CB8AC3E}">
        <p14:creationId xmlns:p14="http://schemas.microsoft.com/office/powerpoint/2010/main" val="644543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Slide purpos</a:t>
            </a:r>
            <a:r>
              <a:rPr lang="en-US"/>
              <a:t>e:  To provide a history of the material changes made to the plan as well as link to critical solution files. </a:t>
            </a:r>
          </a:p>
          <a:p>
            <a:endParaRPr lang="en-US"/>
          </a:p>
          <a:p>
            <a:r>
              <a:rPr lang="en-US"/>
              <a:t>Notes: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ea typeface="+mn-ea"/>
                <a:cs typeface="+mn-cs"/>
              </a:rPr>
              <a:t>Do NOT delete this slide under any circumstances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ea typeface="+mn-ea"/>
                <a:cs typeface="+mn-cs"/>
              </a:rPr>
              <a:t>Populate all text formatted </a:t>
            </a:r>
            <a:r>
              <a:rPr kumimoji="0" lang="en-GB" sz="1200" b="0" i="0" u="none" strike="noStrike" kern="1200" cap="none" spc="0" normalizeH="0" baseline="0" noProof="0">
                <a:ln>
                  <a:noFill/>
                </a:ln>
                <a:solidFill>
                  <a:srgbClr val="FF0000"/>
                </a:solidFill>
                <a:effectLst/>
                <a:uLnTx/>
                <a:uFillTx/>
                <a:ea typeface="+mn-ea"/>
                <a:cs typeface="+mn-cs"/>
              </a:rPr>
              <a:t>&lt;like this&gt; </a:t>
            </a:r>
          </a:p>
          <a:p>
            <a:pPr marL="171450" lvl="0" indent="-171450">
              <a:buFont typeface="Arial" panose="020B0604020202020204" pitchFamily="34" charset="0"/>
              <a:buChar char="•"/>
            </a:pPr>
            <a:r>
              <a:rPr lang="en-GB" sz="1200">
                <a:solidFill>
                  <a:srgbClr val="000000"/>
                </a:solidFill>
              </a:rPr>
              <a:t>Note any Policy 110 escalations for non-Avanade countries or other non compliant T&amp;C that need approval.  Reference </a:t>
            </a:r>
            <a:r>
              <a:rPr lang="en-GB" sz="1200" b="1">
                <a:solidFill>
                  <a:schemeClr val="accent5"/>
                </a:solidFill>
                <a:hlinkClick r:id="" action="ppaction://noaction"/>
              </a:rPr>
              <a:t>Core Policies</a:t>
            </a:r>
            <a:r>
              <a:rPr lang="en-GB" sz="1200" b="1">
                <a:solidFill>
                  <a:schemeClr val="accent5"/>
                </a:solidFill>
              </a:rPr>
              <a:t> </a:t>
            </a:r>
            <a:r>
              <a:rPr lang="en-GB" sz="1200">
                <a:solidFill>
                  <a:srgbClr val="000000"/>
                </a:solidFill>
              </a:rPr>
              <a:t>guidance slide.</a:t>
            </a:r>
          </a:p>
          <a:p>
            <a:endParaRPr lang="en-US"/>
          </a:p>
        </p:txBody>
      </p:sp>
    </p:spTree>
    <p:extLst>
      <p:ext uri="{BB962C8B-B14F-4D97-AF65-F5344CB8AC3E}">
        <p14:creationId xmlns:p14="http://schemas.microsoft.com/office/powerpoint/2010/main" val="7215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Files and applications that may stop to work after the migrations should be fixed by Customer | (</a:t>
            </a:r>
            <a:r>
              <a:rPr lang="en-US" err="1"/>
              <a:t>HyperCare</a:t>
            </a:r>
            <a:r>
              <a:rPr lang="en-US"/>
              <a:t> team). (Assumption and Dependency  | Risk and mitigate)</a:t>
            </a:r>
          </a:p>
          <a:p>
            <a:endParaRPr lang="en-US"/>
          </a:p>
          <a:p>
            <a:r>
              <a:rPr lang="en-US"/>
              <a:t>After each migration wave any fail will be supported by Hypercare team. Files failed in one wave will be on next waves. (In Scope | Out of Scope)</a:t>
            </a:r>
          </a:p>
          <a:p>
            <a:endParaRPr lang="en-US"/>
          </a:p>
          <a:p>
            <a:r>
              <a:rPr lang="en-US"/>
              <a:t>The migration time is based on a 12GB/h sustained transfer rate that may reduce in accordance with files sizes and Egnyte transfer rate. The effective migration time will be verified by project team during assessment and planning </a:t>
            </a:r>
            <a:r>
              <a:rPr lang="en-US" err="1"/>
              <a:t>fases</a:t>
            </a:r>
            <a:r>
              <a:rPr lang="en-US"/>
              <a:t>. (Assumption and Dependency | Risk mitigate)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Como </a:t>
            </a:r>
            <a:r>
              <a:rPr lang="en-US" err="1"/>
              <a:t>será</a:t>
            </a:r>
            <a:r>
              <a:rPr lang="en-US"/>
              <a:t> o </a:t>
            </a:r>
            <a:r>
              <a:rPr lang="en-US" err="1"/>
              <a:t>processo</a:t>
            </a:r>
            <a:r>
              <a:rPr lang="en-US"/>
              <a:t> de </a:t>
            </a:r>
            <a:r>
              <a:rPr lang="en-US" err="1"/>
              <a:t>validação</a:t>
            </a:r>
            <a:r>
              <a:rPr lang="en-US"/>
              <a:t> de </a:t>
            </a:r>
            <a:r>
              <a:rPr lang="en-US" err="1"/>
              <a:t>cada</a:t>
            </a:r>
            <a:r>
              <a:rPr lang="en-US"/>
              <a:t> </a:t>
            </a:r>
            <a:r>
              <a:rPr lang="en-US" err="1"/>
              <a:t>onda</a:t>
            </a:r>
            <a:r>
              <a:rPr lang="en-US"/>
              <a:t>?</a:t>
            </a:r>
          </a:p>
          <a:p>
            <a:endParaRPr lang="en-US"/>
          </a:p>
          <a:p>
            <a:endParaRPr lang="en-US"/>
          </a:p>
        </p:txBody>
      </p:sp>
    </p:spTree>
    <p:extLst>
      <p:ext uri="{BB962C8B-B14F-4D97-AF65-F5344CB8AC3E}">
        <p14:creationId xmlns:p14="http://schemas.microsoft.com/office/powerpoint/2010/main" val="642128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Slide Purpose</a:t>
            </a:r>
            <a:r>
              <a:rPr kumimoji="0" lang="en-GB" sz="1200" b="0" i="0" u="none" strike="noStrike" kern="1200" cap="none" spc="0" normalizeH="0" baseline="0" noProof="0">
                <a:ln>
                  <a:noFill/>
                </a:ln>
                <a:solidFill>
                  <a:srgbClr val="000000"/>
                </a:solidFill>
                <a:effectLst/>
                <a:uLnTx/>
                <a:uFillTx/>
                <a:latin typeface="Segoe UI"/>
                <a:ea typeface="+mn-ea"/>
                <a:cs typeface="+mn-cs"/>
              </a:rPr>
              <a:t>:  Provides for a representation of Avanade’s understanding of the organisation structure</a:t>
            </a:r>
            <a:r>
              <a:rPr kumimoji="0" lang="en-GB" sz="1200" b="0" i="0" u="none" strike="noStrike" kern="1200" cap="none" spc="0" normalizeH="0" baseline="0" noProof="0">
                <a:ln>
                  <a:noFill/>
                </a:ln>
                <a:solidFill>
                  <a:srgbClr val="000000"/>
                </a:solidFill>
                <a:effectLst/>
                <a:uLnTx/>
                <a:uFillTx/>
                <a:latin typeface="Calibri"/>
                <a:ea typeface="+mn-ea"/>
                <a:cs typeface="+mn-cs"/>
              </a:rPr>
              <a:t>. The project organization chart does not need to include every role to be staffed, just the core roles. </a:t>
            </a: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Instructions</a:t>
            </a:r>
            <a:r>
              <a:rPr kumimoji="0" lang="en-GB" sz="1200" b="0" i="0" u="none" strike="noStrike" kern="1200" cap="none" spc="0" normalizeH="0" baseline="0" noProof="0">
                <a:ln>
                  <a:noFill/>
                </a:ln>
                <a:solidFill>
                  <a:srgbClr val="000000"/>
                </a:solidFill>
                <a:effectLst/>
                <a:uLnTx/>
                <a:uFillTx/>
                <a:latin typeface="Segoe UI"/>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Adjust the organisation chart as appropriate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If ATC is involved, make sure the governance between onshore and offshore are shown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Ensure any Avanade roles represented are aligned with the ‘Estimation Basis’ slide in the main deck</a:t>
            </a:r>
          </a:p>
          <a:p>
            <a:endParaRPr lang="en-GB"/>
          </a:p>
        </p:txBody>
      </p:sp>
    </p:spTree>
    <p:extLst>
      <p:ext uri="{BB962C8B-B14F-4D97-AF65-F5344CB8AC3E}">
        <p14:creationId xmlns:p14="http://schemas.microsoft.com/office/powerpoint/2010/main" val="3308005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A260E-FD98-0F57-9870-3BBFB2912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8BE41-C9A8-EE15-68B0-87DA9A382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0464-6768-C023-5591-5E5E0BE2DC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Slide Purpose</a:t>
            </a:r>
            <a:r>
              <a:rPr kumimoji="0" lang="en-GB" sz="1200" b="0" i="0" u="none" strike="noStrike" kern="1200" cap="none" spc="0" normalizeH="0" baseline="0" noProof="0">
                <a:ln>
                  <a:noFill/>
                </a:ln>
                <a:solidFill>
                  <a:srgbClr val="000000"/>
                </a:solidFill>
                <a:effectLst/>
                <a:uLnTx/>
                <a:uFillTx/>
                <a:latin typeface="Segoe UI"/>
                <a:ea typeface="+mn-ea"/>
                <a:cs typeface="+mn-cs"/>
              </a:rPr>
              <a:t>:  Provides for a representation of Avanade’s understanding of the organisation structure</a:t>
            </a:r>
            <a:r>
              <a:rPr kumimoji="0" lang="en-GB" sz="1200" b="0" i="0" u="none" strike="noStrike" kern="1200" cap="none" spc="0" normalizeH="0" baseline="0" noProof="0">
                <a:ln>
                  <a:noFill/>
                </a:ln>
                <a:solidFill>
                  <a:srgbClr val="000000"/>
                </a:solidFill>
                <a:effectLst/>
                <a:uLnTx/>
                <a:uFillTx/>
                <a:latin typeface="Calibri"/>
                <a:ea typeface="+mn-ea"/>
                <a:cs typeface="+mn-cs"/>
              </a:rPr>
              <a:t>. The project organization chart does not need to include every role to be staffed, just the core roles. </a:t>
            </a: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Instructions</a:t>
            </a:r>
            <a:r>
              <a:rPr kumimoji="0" lang="en-GB" sz="1200" b="0" i="0" u="none" strike="noStrike" kern="1200" cap="none" spc="0" normalizeH="0" baseline="0" noProof="0">
                <a:ln>
                  <a:noFill/>
                </a:ln>
                <a:solidFill>
                  <a:srgbClr val="000000"/>
                </a:solidFill>
                <a:effectLst/>
                <a:uLnTx/>
                <a:uFillTx/>
                <a:latin typeface="Segoe UI"/>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Adjust the organisation chart as appropriate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If ATC is involved, make sure the governance between onshore and offshore are shown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Ensure any Avanade roles represented are aligned with the ‘Estimation Basis’ slide in the main deck</a:t>
            </a:r>
          </a:p>
          <a:p>
            <a:endParaRPr lang="en-GB"/>
          </a:p>
        </p:txBody>
      </p:sp>
    </p:spTree>
    <p:extLst>
      <p:ext uri="{BB962C8B-B14F-4D97-AF65-F5344CB8AC3E}">
        <p14:creationId xmlns:p14="http://schemas.microsoft.com/office/powerpoint/2010/main" val="3001874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E799-00EC-5E91-C5D8-64CAE317B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7ABAA-A1EC-C3F5-53D4-A28E04617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8C2FC-A541-4386-B706-EDA493CE2F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0" cap="none" spc="0" normalizeH="0" baseline="0" noProof="0">
                <a:ln>
                  <a:noFill/>
                </a:ln>
                <a:solidFill>
                  <a:srgbClr val="000000"/>
                </a:solidFill>
                <a:effectLst/>
                <a:uLnTx/>
                <a:uFillTx/>
                <a:latin typeface="Segoe UI"/>
                <a:ea typeface="+mn-ea"/>
                <a:cs typeface="+mn-cs"/>
              </a:rPr>
              <a:t>Slide Purpose</a:t>
            </a:r>
            <a:r>
              <a:rPr kumimoji="0" lang="en-GB" sz="1200" b="0" i="0" u="none" strike="noStrike" kern="0" cap="none" spc="0" normalizeH="0" baseline="0" noProof="0">
                <a:ln>
                  <a:noFill/>
                </a:ln>
                <a:solidFill>
                  <a:srgbClr val="000000"/>
                </a:solidFill>
                <a:effectLst/>
                <a:uLnTx/>
                <a:uFillTx/>
                <a:latin typeface="Segoe UI"/>
                <a:ea typeface="+mn-ea"/>
                <a:cs typeface="+mn-cs"/>
              </a:rPr>
              <a:t>:  Sets the basis of the solution scope of work estimated and what is not included in the solution.  Provides a summary of the solution outcomes or what the solution will deliver to the client.  </a:t>
            </a:r>
            <a:endParaRPr lang="en-GB"/>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endParaRPr lang="en-GB" b="1"/>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r>
              <a:rPr lang="en-GB" b="1"/>
              <a:t>In Scope: </a:t>
            </a:r>
            <a:r>
              <a:rPr lang="en-GB"/>
              <a:t> </a:t>
            </a:r>
            <a:r>
              <a:rPr lang="en-GB" sz="1600" kern="0">
                <a:solidFill>
                  <a:prstClr val="black"/>
                </a:solidFill>
                <a:latin typeface="Segoe UI"/>
                <a:cs typeface="Segoe UI"/>
              </a:rPr>
              <a:t>Summarize functional &amp; technical scope of the solution to be delivered by Avanade, for example:</a:t>
            </a:r>
          </a:p>
          <a:p>
            <a:pPr lvl="1">
              <a:lnSpc>
                <a:spcPct val="80000"/>
              </a:lnSpc>
              <a:buClr>
                <a:prstClr val="black"/>
              </a:buClr>
              <a:tabLst>
                <a:tab pos="2232025" algn="l"/>
              </a:tabLst>
              <a:defRPr/>
            </a:pPr>
            <a:r>
              <a:rPr lang="en-US" sz="1600" kern="0">
                <a:solidFill>
                  <a:prstClr val="black"/>
                </a:solidFill>
                <a:latin typeface="Segoe UI"/>
                <a:cs typeface="Segoe UI"/>
              </a:rPr>
              <a:t>Functional capabilities</a:t>
            </a:r>
          </a:p>
          <a:p>
            <a:pPr lvl="1">
              <a:lnSpc>
                <a:spcPct val="80000"/>
              </a:lnSpc>
              <a:buClr>
                <a:prstClr val="black"/>
              </a:buClr>
              <a:tabLst>
                <a:tab pos="2232025" algn="l"/>
              </a:tabLst>
              <a:defRPr/>
            </a:pPr>
            <a:r>
              <a:rPr lang="en-US" sz="1600" b="1" kern="0">
                <a:solidFill>
                  <a:prstClr val="black"/>
                </a:solidFill>
                <a:latin typeface="Segoe UI"/>
                <a:cs typeface="Segoe UI"/>
              </a:rPr>
              <a:t>Material Client ownership   </a:t>
            </a:r>
          </a:p>
          <a:p>
            <a:pPr lvl="1">
              <a:lnSpc>
                <a:spcPct val="80000"/>
              </a:lnSpc>
              <a:buClr>
                <a:prstClr val="black"/>
              </a:buClr>
              <a:tabLst>
                <a:tab pos="2232025" algn="l"/>
              </a:tabLst>
              <a:defRPr/>
            </a:pPr>
            <a:r>
              <a:rPr lang="en-US" sz="1600" kern="0">
                <a:solidFill>
                  <a:prstClr val="black"/>
                </a:solidFill>
                <a:latin typeface="Segoe UI"/>
                <a:cs typeface="Segoe UI"/>
              </a:rPr>
              <a:t>Processes</a:t>
            </a:r>
          </a:p>
          <a:p>
            <a:pPr lvl="1">
              <a:lnSpc>
                <a:spcPct val="80000"/>
              </a:lnSpc>
              <a:buClr>
                <a:prstClr val="black"/>
              </a:buClr>
              <a:tabLst>
                <a:tab pos="2232025" algn="l"/>
              </a:tabLst>
              <a:defRPr/>
            </a:pPr>
            <a:r>
              <a:rPr lang="en-US" sz="1600" kern="0">
                <a:solidFill>
                  <a:prstClr val="black"/>
                </a:solidFill>
                <a:latin typeface="Segoe UI"/>
                <a:cs typeface="Segoe UI"/>
              </a:rPr>
              <a:t>Environments </a:t>
            </a:r>
          </a:p>
          <a:p>
            <a:pPr lvl="1">
              <a:lnSpc>
                <a:spcPct val="80000"/>
              </a:lnSpc>
              <a:buClr>
                <a:prstClr val="black"/>
              </a:buClr>
              <a:tabLst>
                <a:tab pos="2232025" algn="l"/>
              </a:tabLst>
              <a:defRPr/>
            </a:pPr>
            <a:r>
              <a:rPr lang="en-US" sz="1600" kern="0">
                <a:solidFill>
                  <a:prstClr val="black"/>
                </a:solidFill>
                <a:latin typeface="Segoe UI"/>
                <a:cs typeface="Segoe UI"/>
              </a:rPr>
              <a:t>Technical interfaces</a:t>
            </a:r>
          </a:p>
          <a:p>
            <a:pPr lvl="1">
              <a:lnSpc>
                <a:spcPct val="80000"/>
              </a:lnSpc>
              <a:buClr>
                <a:prstClr val="black"/>
              </a:buClr>
              <a:tabLst>
                <a:tab pos="2232025" algn="l"/>
              </a:tabLst>
              <a:defRPr/>
            </a:pPr>
            <a:r>
              <a:rPr lang="en-US" sz="1600" kern="0">
                <a:solidFill>
                  <a:prstClr val="black"/>
                </a:solidFill>
                <a:latin typeface="Segoe UI"/>
                <a:cs typeface="Segoe UI"/>
              </a:rPr>
              <a:t>Key modules</a:t>
            </a:r>
          </a:p>
          <a:p>
            <a:pPr lvl="1">
              <a:lnSpc>
                <a:spcPct val="80000"/>
              </a:lnSpc>
              <a:buClr>
                <a:prstClr val="black"/>
              </a:buClr>
              <a:tabLst>
                <a:tab pos="2232025" algn="l"/>
              </a:tabLst>
              <a:defRPr/>
            </a:pPr>
            <a:r>
              <a:rPr lang="en-US" sz="1600" kern="0">
                <a:solidFill>
                  <a:prstClr val="black"/>
                </a:solidFill>
                <a:latin typeface="Segoe UI"/>
                <a:cs typeface="Segoe UI"/>
              </a:rPr>
              <a:t>Third party solutions</a:t>
            </a:r>
          </a:p>
          <a:p>
            <a:pPr lvl="1">
              <a:lnSpc>
                <a:spcPct val="80000"/>
              </a:lnSpc>
              <a:buClr>
                <a:prstClr val="black"/>
              </a:buClr>
              <a:tabLst>
                <a:tab pos="2232025" algn="l"/>
              </a:tabLst>
              <a:defRPr/>
            </a:pPr>
            <a:r>
              <a:rPr lang="en-US" sz="1600" kern="0">
                <a:solidFill>
                  <a:prstClr val="black"/>
                </a:solidFill>
                <a:latin typeface="Segoe UI"/>
                <a:cs typeface="Segoe UI"/>
              </a:rPr>
              <a:t>Geographic </a:t>
            </a:r>
            <a:endParaRPr lang="en-GB" sz="1600" kern="0">
              <a:solidFill>
                <a:prstClr val="black"/>
              </a:solidFill>
              <a:latin typeface="Segoe UI"/>
              <a:cs typeface="Segoe UI"/>
            </a:endParaRPr>
          </a:p>
          <a:p>
            <a:pPr lvl="1">
              <a:lnSpc>
                <a:spcPct val="80000"/>
              </a:lnSpc>
              <a:buClr>
                <a:prstClr val="black"/>
              </a:buClr>
              <a:tabLst>
                <a:tab pos="2232025" algn="l"/>
              </a:tabLst>
              <a:defRPr/>
            </a:pPr>
            <a:r>
              <a:rPr lang="en-GB" sz="1600" kern="0">
                <a:solidFill>
                  <a:prstClr val="black"/>
                </a:solidFill>
                <a:latin typeface="Segoe UI"/>
                <a:cs typeface="Segoe UI"/>
              </a:rPr>
              <a:t>Other options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a:p>
            <a:pPr marL="0" marR="0" lvl="0" indent="0" algn="l" defTabSz="914400" rtl="0" eaLnBrk="1" fontAlgn="auto" latinLnBrk="0" hangingPunct="1">
              <a:lnSpc>
                <a:spcPct val="100000"/>
              </a:lnSpc>
              <a:spcBef>
                <a:spcPts val="0"/>
              </a:spcBef>
              <a:spcAft>
                <a:spcPts val="0"/>
              </a:spcAft>
              <a:buClrTx/>
              <a:buSzTx/>
              <a:buFontTx/>
              <a:buNone/>
              <a:tabLst/>
              <a:defRPr/>
            </a:pPr>
            <a:r>
              <a:rPr lang="en-GB" b="1"/>
              <a:t>Out of Scope:</a:t>
            </a:r>
            <a:r>
              <a:rPr lang="en-GB"/>
              <a:t> </a:t>
            </a:r>
            <a:r>
              <a:rPr lang="en-GB" sz="1200" kern="0">
                <a:solidFill>
                  <a:prstClr val="black"/>
                </a:solidFill>
                <a:latin typeface="Segoe UI"/>
                <a:cs typeface="Segoe UI"/>
              </a:rPr>
              <a:t>Summarize key areas outside of Avanade’s scope of work that might ordinarily be within the scope of the solution delivered, including whether they are covered through Client obligations or are entirely outside of the scope of the Client program</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Solution Outcomes: </a:t>
            </a:r>
            <a:r>
              <a:rPr lang="en-GB"/>
              <a:t>  </a:t>
            </a:r>
            <a:r>
              <a:rPr lang="en-US" sz="1200" kern="0">
                <a:solidFill>
                  <a:prstClr val="black"/>
                </a:solidFill>
                <a:latin typeface="Segoe UI"/>
                <a:cs typeface="Segoe UI"/>
              </a:rPr>
              <a:t>Provide a list of key outcomes that will be delivered when the scope items have been completed be that infrastructure, applications, software, reports, etc. – what will the solution deliver.</a:t>
            </a:r>
            <a:endParaRPr lang="en-US">
              <a:solidFill>
                <a:prstClr val="black"/>
              </a:solidFill>
              <a:latin typeface="Segoe UI"/>
              <a:cs typeface="Segoe UI"/>
            </a:endParaRPr>
          </a:p>
          <a:p>
            <a:endParaRPr lang="en-GB"/>
          </a:p>
        </p:txBody>
      </p:sp>
    </p:spTree>
    <p:extLst>
      <p:ext uri="{BB962C8B-B14F-4D97-AF65-F5344CB8AC3E}">
        <p14:creationId xmlns:p14="http://schemas.microsoft.com/office/powerpoint/2010/main" val="989954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99BE-3CD9-CB58-FE34-3893C82DD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BC872-F395-55CF-4920-BEC7F065D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7D2C2-0B0C-C060-4802-946A3BCB20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0" cap="none" spc="0" normalizeH="0" baseline="0" noProof="0">
                <a:ln>
                  <a:noFill/>
                </a:ln>
                <a:solidFill>
                  <a:srgbClr val="000000"/>
                </a:solidFill>
                <a:effectLst/>
                <a:uLnTx/>
                <a:uFillTx/>
                <a:latin typeface="Segoe UI"/>
                <a:ea typeface="+mn-ea"/>
                <a:cs typeface="+mn-cs"/>
              </a:rPr>
              <a:t>Slide Purpose</a:t>
            </a:r>
            <a:r>
              <a:rPr kumimoji="0" lang="en-GB" sz="1200" b="0" i="0" u="none" strike="noStrike" kern="0" cap="none" spc="0" normalizeH="0" baseline="0" noProof="0">
                <a:ln>
                  <a:noFill/>
                </a:ln>
                <a:solidFill>
                  <a:srgbClr val="000000"/>
                </a:solidFill>
                <a:effectLst/>
                <a:uLnTx/>
                <a:uFillTx/>
                <a:latin typeface="Segoe UI"/>
                <a:ea typeface="+mn-ea"/>
                <a:cs typeface="+mn-cs"/>
              </a:rPr>
              <a:t>:  Sets the basis of the solution scope of work estimated and what is not included in the solution.  Provides a summary of the solution outcomes or what the solution will deliver to the client.  </a:t>
            </a:r>
            <a:endParaRPr lang="en-GB"/>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endParaRPr lang="en-GB" b="1"/>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r>
              <a:rPr lang="en-GB" b="1"/>
              <a:t>In Scope: </a:t>
            </a:r>
            <a:r>
              <a:rPr lang="en-GB"/>
              <a:t> </a:t>
            </a:r>
            <a:r>
              <a:rPr lang="en-GB" sz="1600" kern="0">
                <a:solidFill>
                  <a:prstClr val="black"/>
                </a:solidFill>
                <a:latin typeface="Segoe UI"/>
                <a:cs typeface="Segoe UI"/>
              </a:rPr>
              <a:t>Summarize functional &amp; technical scope of the solution to be delivered by Avanade, for example:</a:t>
            </a:r>
          </a:p>
          <a:p>
            <a:pPr lvl="1">
              <a:lnSpc>
                <a:spcPct val="80000"/>
              </a:lnSpc>
              <a:buClr>
                <a:prstClr val="black"/>
              </a:buClr>
              <a:tabLst>
                <a:tab pos="2232025" algn="l"/>
              </a:tabLst>
              <a:defRPr/>
            </a:pPr>
            <a:r>
              <a:rPr lang="en-US" sz="1600" kern="0">
                <a:solidFill>
                  <a:prstClr val="black"/>
                </a:solidFill>
                <a:latin typeface="Segoe UI"/>
                <a:cs typeface="Segoe UI"/>
              </a:rPr>
              <a:t>Functional capabilities</a:t>
            </a:r>
          </a:p>
          <a:p>
            <a:pPr lvl="1">
              <a:lnSpc>
                <a:spcPct val="80000"/>
              </a:lnSpc>
              <a:buClr>
                <a:prstClr val="black"/>
              </a:buClr>
              <a:tabLst>
                <a:tab pos="2232025" algn="l"/>
              </a:tabLst>
              <a:defRPr/>
            </a:pPr>
            <a:r>
              <a:rPr lang="en-US" sz="1600" b="1" kern="0">
                <a:solidFill>
                  <a:prstClr val="black"/>
                </a:solidFill>
                <a:latin typeface="Segoe UI"/>
                <a:cs typeface="Segoe UI"/>
              </a:rPr>
              <a:t>Material Client ownership   </a:t>
            </a:r>
          </a:p>
          <a:p>
            <a:pPr lvl="1">
              <a:lnSpc>
                <a:spcPct val="80000"/>
              </a:lnSpc>
              <a:buClr>
                <a:prstClr val="black"/>
              </a:buClr>
              <a:tabLst>
                <a:tab pos="2232025" algn="l"/>
              </a:tabLst>
              <a:defRPr/>
            </a:pPr>
            <a:r>
              <a:rPr lang="en-US" sz="1600" kern="0">
                <a:solidFill>
                  <a:prstClr val="black"/>
                </a:solidFill>
                <a:latin typeface="Segoe UI"/>
                <a:cs typeface="Segoe UI"/>
              </a:rPr>
              <a:t>Processes</a:t>
            </a:r>
          </a:p>
          <a:p>
            <a:pPr lvl="1">
              <a:lnSpc>
                <a:spcPct val="80000"/>
              </a:lnSpc>
              <a:buClr>
                <a:prstClr val="black"/>
              </a:buClr>
              <a:tabLst>
                <a:tab pos="2232025" algn="l"/>
              </a:tabLst>
              <a:defRPr/>
            </a:pPr>
            <a:r>
              <a:rPr lang="en-US" sz="1600" kern="0">
                <a:solidFill>
                  <a:prstClr val="black"/>
                </a:solidFill>
                <a:latin typeface="Segoe UI"/>
                <a:cs typeface="Segoe UI"/>
              </a:rPr>
              <a:t>Environments </a:t>
            </a:r>
          </a:p>
          <a:p>
            <a:pPr lvl="1">
              <a:lnSpc>
                <a:spcPct val="80000"/>
              </a:lnSpc>
              <a:buClr>
                <a:prstClr val="black"/>
              </a:buClr>
              <a:tabLst>
                <a:tab pos="2232025" algn="l"/>
              </a:tabLst>
              <a:defRPr/>
            </a:pPr>
            <a:r>
              <a:rPr lang="en-US" sz="1600" kern="0">
                <a:solidFill>
                  <a:prstClr val="black"/>
                </a:solidFill>
                <a:latin typeface="Segoe UI"/>
                <a:cs typeface="Segoe UI"/>
              </a:rPr>
              <a:t>Technical interfaces</a:t>
            </a:r>
          </a:p>
          <a:p>
            <a:pPr lvl="1">
              <a:lnSpc>
                <a:spcPct val="80000"/>
              </a:lnSpc>
              <a:buClr>
                <a:prstClr val="black"/>
              </a:buClr>
              <a:tabLst>
                <a:tab pos="2232025" algn="l"/>
              </a:tabLst>
              <a:defRPr/>
            </a:pPr>
            <a:r>
              <a:rPr lang="en-US" sz="1600" kern="0">
                <a:solidFill>
                  <a:prstClr val="black"/>
                </a:solidFill>
                <a:latin typeface="Segoe UI"/>
                <a:cs typeface="Segoe UI"/>
              </a:rPr>
              <a:t>Key modules</a:t>
            </a:r>
          </a:p>
          <a:p>
            <a:pPr lvl="1">
              <a:lnSpc>
                <a:spcPct val="80000"/>
              </a:lnSpc>
              <a:buClr>
                <a:prstClr val="black"/>
              </a:buClr>
              <a:tabLst>
                <a:tab pos="2232025" algn="l"/>
              </a:tabLst>
              <a:defRPr/>
            </a:pPr>
            <a:r>
              <a:rPr lang="en-US" sz="1600" kern="0">
                <a:solidFill>
                  <a:prstClr val="black"/>
                </a:solidFill>
                <a:latin typeface="Segoe UI"/>
                <a:cs typeface="Segoe UI"/>
              </a:rPr>
              <a:t>Third party solutions</a:t>
            </a:r>
          </a:p>
          <a:p>
            <a:pPr lvl="1">
              <a:lnSpc>
                <a:spcPct val="80000"/>
              </a:lnSpc>
              <a:buClr>
                <a:prstClr val="black"/>
              </a:buClr>
              <a:tabLst>
                <a:tab pos="2232025" algn="l"/>
              </a:tabLst>
              <a:defRPr/>
            </a:pPr>
            <a:r>
              <a:rPr lang="en-US" sz="1600" kern="0">
                <a:solidFill>
                  <a:prstClr val="black"/>
                </a:solidFill>
                <a:latin typeface="Segoe UI"/>
                <a:cs typeface="Segoe UI"/>
              </a:rPr>
              <a:t>Geographic </a:t>
            </a:r>
            <a:endParaRPr lang="en-GB" sz="1600" kern="0">
              <a:solidFill>
                <a:prstClr val="black"/>
              </a:solidFill>
              <a:latin typeface="Segoe UI"/>
              <a:cs typeface="Segoe UI"/>
            </a:endParaRPr>
          </a:p>
          <a:p>
            <a:pPr lvl="1">
              <a:lnSpc>
                <a:spcPct val="80000"/>
              </a:lnSpc>
              <a:buClr>
                <a:prstClr val="black"/>
              </a:buClr>
              <a:tabLst>
                <a:tab pos="2232025" algn="l"/>
              </a:tabLst>
              <a:defRPr/>
            </a:pPr>
            <a:r>
              <a:rPr lang="en-GB" sz="1600" kern="0">
                <a:solidFill>
                  <a:prstClr val="black"/>
                </a:solidFill>
                <a:latin typeface="Segoe UI"/>
                <a:cs typeface="Segoe UI"/>
              </a:rPr>
              <a:t>Other options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a:p>
            <a:pPr marL="0" marR="0" lvl="0" indent="0" algn="l" defTabSz="914400" rtl="0" eaLnBrk="1" fontAlgn="auto" latinLnBrk="0" hangingPunct="1">
              <a:lnSpc>
                <a:spcPct val="100000"/>
              </a:lnSpc>
              <a:spcBef>
                <a:spcPts val="0"/>
              </a:spcBef>
              <a:spcAft>
                <a:spcPts val="0"/>
              </a:spcAft>
              <a:buClrTx/>
              <a:buSzTx/>
              <a:buFontTx/>
              <a:buNone/>
              <a:tabLst/>
              <a:defRPr/>
            </a:pPr>
            <a:r>
              <a:rPr lang="en-GB" b="1"/>
              <a:t>Out of Scope:</a:t>
            </a:r>
            <a:r>
              <a:rPr lang="en-GB"/>
              <a:t> </a:t>
            </a:r>
            <a:r>
              <a:rPr lang="en-GB" sz="1200" kern="0">
                <a:solidFill>
                  <a:prstClr val="black"/>
                </a:solidFill>
                <a:latin typeface="Segoe UI"/>
                <a:cs typeface="Segoe UI"/>
              </a:rPr>
              <a:t>Summarize key areas outside of Avanade’s scope of work that might ordinarily be within the scope of the solution delivered, including whether they are covered through Client obligations or are entirely outside of the scope of the Client program</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Solution Outcomes: </a:t>
            </a:r>
            <a:r>
              <a:rPr lang="en-GB"/>
              <a:t>  </a:t>
            </a:r>
            <a:r>
              <a:rPr lang="en-US" sz="1200" kern="0">
                <a:solidFill>
                  <a:prstClr val="black"/>
                </a:solidFill>
                <a:latin typeface="Segoe UI"/>
                <a:cs typeface="Segoe UI"/>
              </a:rPr>
              <a:t>Provide a list of key outcomes that will be delivered when the scope items have been completed be that infrastructure, applications, software, reports, etc. – what will the solution deliver.</a:t>
            </a:r>
            <a:endParaRPr lang="en-US">
              <a:solidFill>
                <a:prstClr val="black"/>
              </a:solidFill>
              <a:latin typeface="Segoe UI"/>
              <a:cs typeface="Segoe UI"/>
            </a:endParaRPr>
          </a:p>
          <a:p>
            <a:endParaRPr lang="en-GB"/>
          </a:p>
        </p:txBody>
      </p:sp>
    </p:spTree>
    <p:extLst>
      <p:ext uri="{BB962C8B-B14F-4D97-AF65-F5344CB8AC3E}">
        <p14:creationId xmlns:p14="http://schemas.microsoft.com/office/powerpoint/2010/main" val="2546399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idx="1"/>
          </p:nvPr>
        </p:nvSpPr>
        <p:spPr>
          <a:xfrm>
            <a:off x="691375" y="1718912"/>
            <a:ext cx="10783229" cy="4351338"/>
          </a:xfrm>
          <a:prstGeom prst="rect">
            <a:avLst/>
          </a:prstGeom>
        </p:spPr>
        <p:txBody>
          <a:bodyPr vert="horz" lIns="91440" tIns="45720" rIns="91440" bIns="4572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691376" y="390719"/>
            <a:ext cx="10783229" cy="998344"/>
          </a:xfrm>
          <a:prstGeom prst="rect">
            <a:avLst/>
          </a:prstGeom>
        </p:spPr>
        <p:txBody>
          <a:bodyPr/>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47F2C7DF-21F8-7F43-AF2B-D19C00A05ECA}"/>
              </a:ext>
            </a:extLst>
          </p:cNvPr>
          <p:cNvSpPr>
            <a:spLocks noGrp="1"/>
          </p:cNvSpPr>
          <p:nvPr>
            <p:ph type="sldNum" sz="quarter" idx="10"/>
          </p:nvPr>
        </p:nvSpPr>
        <p:spPr>
          <a:xfrm>
            <a:off x="11255189" y="6400099"/>
            <a:ext cx="438831" cy="365125"/>
          </a:xfrm>
          <a:prstGeom prst="rect">
            <a:avLst/>
          </a:prstGeom>
        </p:spPr>
        <p:txBody>
          <a:bodyPr/>
          <a:lstStyle>
            <a:lvl1pPr>
              <a:defRPr sz="1400">
                <a:solidFill>
                  <a:schemeClr val="tx1"/>
                </a:solidFill>
              </a:defRPr>
            </a:lvl1pPr>
          </a:lstStyle>
          <a:p>
            <a:fld id="{0EE23A24-5E29-4F5A-B780-9568AE9A51DD}" type="slidenum">
              <a:rPr lang="en-US" smtClean="0"/>
              <a:pPr/>
              <a:t>‹#›</a:t>
            </a:fld>
            <a:endParaRPr lang="en-US"/>
          </a:p>
        </p:txBody>
      </p:sp>
    </p:spTree>
    <p:extLst>
      <p:ext uri="{BB962C8B-B14F-4D97-AF65-F5344CB8AC3E}">
        <p14:creationId xmlns:p14="http://schemas.microsoft.com/office/powerpoint/2010/main" val="36893503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2"/>
          <p:cNvSpPr>
            <a:spLocks noGrp="1"/>
          </p:cNvSpPr>
          <p:nvPr>
            <p:ph idx="1"/>
          </p:nvPr>
        </p:nvSpPr>
        <p:spPr>
          <a:xfrm>
            <a:off x="691376" y="1524000"/>
            <a:ext cx="10783229"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691376" y="390719"/>
            <a:ext cx="10783229" cy="998344"/>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FB1F7665-5829-2740-8772-C6980D9DE7D0}"/>
              </a:ext>
            </a:extLst>
          </p:cNvPr>
          <p:cNvSpPr>
            <a:spLocks noGrp="1"/>
          </p:cNvSpPr>
          <p:nvPr>
            <p:ph type="sldNum" sz="quarter" idx="10"/>
          </p:nvPr>
        </p:nvSpPr>
        <p:spPr/>
        <p:txBody>
          <a:bodyPr/>
          <a:lstStyle/>
          <a:p>
            <a:fld id="{0EE23A24-5E29-4F5A-B780-9568AE9A51DD}" type="slidenum">
              <a:rPr lang="en-US" smtClean="0"/>
              <a:pPr/>
              <a:t>‹#›</a:t>
            </a:fld>
            <a:endParaRPr lang="en-US"/>
          </a:p>
        </p:txBody>
      </p:sp>
    </p:spTree>
    <p:extLst>
      <p:ext uri="{BB962C8B-B14F-4D97-AF65-F5344CB8AC3E}">
        <p14:creationId xmlns:p14="http://schemas.microsoft.com/office/powerpoint/2010/main" val="73686193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p:bg bwMode="ltGray">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C0F1608-8C29-59FD-2083-7DA7A20953A8}"/>
              </a:ext>
            </a:extLst>
          </p:cNvPr>
          <p:cNvSpPr>
            <a:spLocks noGrp="1"/>
          </p:cNvSpPr>
          <p:nvPr>
            <p:ph type="title"/>
          </p:nvPr>
        </p:nvSpPr>
        <p:spPr>
          <a:xfrm>
            <a:off x="457888" y="457200"/>
            <a:ext cx="11200711" cy="987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22871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Default Cover">
    <p:bg>
      <p:bgPr>
        <a:gradFill flip="none" rotWithShape="1">
          <a:gsLst>
            <a:gs pos="0">
              <a:schemeClr val="accent4"/>
            </a:gs>
            <a:gs pos="100000">
              <a:schemeClr val="tx2"/>
            </a:gs>
          </a:gsLst>
          <a:lin ang="2700000" scaled="1"/>
          <a:tileRect/>
        </a:gradFill>
        <a:effectLst/>
      </p:bgPr>
    </p:bg>
    <p:spTree>
      <p:nvGrpSpPr>
        <p:cNvPr id="1" name=""/>
        <p:cNvGrpSpPr/>
        <p:nvPr/>
      </p:nvGrpSpPr>
      <p:grpSpPr>
        <a:xfrm>
          <a:off x="0" y="0"/>
          <a:ext cx="0" cy="0"/>
          <a:chOff x="0" y="0"/>
          <a:chExt cx="0" cy="0"/>
        </a:xfrm>
      </p:grpSpPr>
      <p:pic>
        <p:nvPicPr>
          <p:cNvPr id="6" name="Picture 5" descr="A colorful lines on a black background&#10;&#10;Description automatically generated">
            <a:extLst>
              <a:ext uri="{FF2B5EF4-FFF2-40B4-BE49-F238E27FC236}">
                <a16:creationId xmlns:a16="http://schemas.microsoft.com/office/drawing/2014/main" id="{ACFC54E7-DC56-0816-1B51-E42B362F07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490006"/>
            <a:ext cx="12192000" cy="7348006"/>
          </a:xfrm>
          <a:prstGeom prst="rect">
            <a:avLst/>
          </a:prstGeom>
        </p:spPr>
      </p:pic>
      <p:pic>
        <p:nvPicPr>
          <p:cNvPr id="4" name="Picture 3" descr="Logo&#10;&#10;Description automatically generated">
            <a:extLst>
              <a:ext uri="{FF2B5EF4-FFF2-40B4-BE49-F238E27FC236}">
                <a16:creationId xmlns:a16="http://schemas.microsoft.com/office/drawing/2014/main" id="{74EB15CB-DB97-7369-BE85-D7B3060325E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1691" y="203709"/>
            <a:ext cx="3289300" cy="1207171"/>
          </a:xfrm>
          <a:prstGeom prst="rect">
            <a:avLst/>
          </a:prstGeom>
        </p:spPr>
      </p:pic>
      <p:sp>
        <p:nvSpPr>
          <p:cNvPr id="7" name="Footer Placeholder 4">
            <a:extLst>
              <a:ext uri="{FF2B5EF4-FFF2-40B4-BE49-F238E27FC236}">
                <a16:creationId xmlns:a16="http://schemas.microsoft.com/office/drawing/2014/main" id="{B9043631-CA1F-72E1-FA33-47D6B7E96776}"/>
              </a:ext>
            </a:extLst>
          </p:cNvPr>
          <p:cNvSpPr txBox="1">
            <a:spLocks/>
          </p:cNvSpPr>
          <p:nvPr userDrawn="1"/>
        </p:nvSpPr>
        <p:spPr>
          <a:xfrm>
            <a:off x="7183073" y="6358387"/>
            <a:ext cx="4114800" cy="365125"/>
          </a:xfr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700" b="0">
                <a:solidFill>
                  <a:schemeClr val="bg1"/>
                </a:solidFill>
                <a:latin typeface="Segoe UI Semibold" panose="020B0502040204020203" pitchFamily="34" charset="0"/>
                <a:cs typeface="Segoe UI Semibold" panose="020B0502040204020203" pitchFamily="34" charset="0"/>
              </a:rPr>
              <a:t>©</a:t>
            </a:r>
            <a:fld id="{070B284F-70A1-4575-8A69-1E7D15DA9A5E}" type="datetimeyyyy">
              <a:rPr lang="en-US" sz="700" b="0" smtClean="0">
                <a:solidFill>
                  <a:schemeClr val="bg1"/>
                </a:solidFill>
                <a:latin typeface="Segoe UI Semibold" panose="020B0502040204020203" pitchFamily="34" charset="0"/>
                <a:cs typeface="Segoe UI Semibold" panose="020B0502040204020203" pitchFamily="34" charset="0"/>
              </a:rPr>
              <a:t>2026</a:t>
            </a:fld>
            <a:r>
              <a:rPr lang="en-US" sz="700" b="0">
                <a:solidFill>
                  <a:schemeClr val="bg1"/>
                </a:solidFill>
                <a:latin typeface="Segoe UI Semibold" panose="020B0502040204020203" pitchFamily="34" charset="0"/>
                <a:cs typeface="Segoe UI Semibold" panose="020B0502040204020203" pitchFamily="34" charset="0"/>
              </a:rPr>
              <a:t> Avanade Inc. All Rights Reserved.</a:t>
            </a:r>
          </a:p>
        </p:txBody>
      </p:sp>
      <p:sp>
        <p:nvSpPr>
          <p:cNvPr id="16" name="Title 7">
            <a:extLst>
              <a:ext uri="{FF2B5EF4-FFF2-40B4-BE49-F238E27FC236}">
                <a16:creationId xmlns:a16="http://schemas.microsoft.com/office/drawing/2014/main" id="{A4B2E99C-298D-718C-3E87-C7CDDD4666AA}"/>
              </a:ext>
            </a:extLst>
          </p:cNvPr>
          <p:cNvSpPr>
            <a:spLocks noGrp="1"/>
          </p:cNvSpPr>
          <p:nvPr>
            <p:ph type="title" hasCustomPrompt="1"/>
          </p:nvPr>
        </p:nvSpPr>
        <p:spPr>
          <a:xfrm>
            <a:off x="485539" y="3870006"/>
            <a:ext cx="6795051" cy="1527097"/>
          </a:xfrm>
          <a:prstGeom prst="rect">
            <a:avLst/>
          </a:prstGeom>
        </p:spPr>
        <p:txBody>
          <a:bodyPr anchor="ctr"/>
          <a:lstStyle>
            <a:lvl1pPr algn="l">
              <a:lnSpc>
                <a:spcPct val="80000"/>
              </a:lnSpc>
              <a:spcBef>
                <a:spcPts val="0"/>
              </a:spcBef>
              <a:spcAft>
                <a:spcPts val="0"/>
              </a:spcAft>
              <a:defRPr sz="5600" b="1" i="0">
                <a:solidFill>
                  <a:schemeClr val="bg1"/>
                </a:solidFill>
                <a:latin typeface="Segoe UI" panose="020B0502040204020203" pitchFamily="34" charset="0"/>
                <a:cs typeface="Segoe UI" panose="020B0502040204020203" pitchFamily="34" charset="0"/>
              </a:defRPr>
            </a:lvl1pPr>
          </a:lstStyle>
          <a:p>
            <a:r>
              <a:rPr lang="en-US" altLang="ja-JP"/>
              <a:t>Click to edit </a:t>
            </a:r>
            <a:br>
              <a:rPr lang="en-US" altLang="ja-JP"/>
            </a:br>
            <a:r>
              <a:rPr lang="en-US" altLang="ja-JP"/>
              <a:t>Master title style</a:t>
            </a:r>
            <a:endParaRPr lang="en-GB"/>
          </a:p>
        </p:txBody>
      </p:sp>
      <p:sp>
        <p:nvSpPr>
          <p:cNvPr id="17" name="Text Placeholder 9">
            <a:extLst>
              <a:ext uri="{FF2B5EF4-FFF2-40B4-BE49-F238E27FC236}">
                <a16:creationId xmlns:a16="http://schemas.microsoft.com/office/drawing/2014/main" id="{D2C48BD7-3C34-B08C-255C-79D84CBB100E}"/>
              </a:ext>
            </a:extLst>
          </p:cNvPr>
          <p:cNvSpPr>
            <a:spLocks noGrp="1"/>
          </p:cNvSpPr>
          <p:nvPr>
            <p:ph type="body" sz="quarter" idx="10" hasCustomPrompt="1"/>
          </p:nvPr>
        </p:nvSpPr>
        <p:spPr>
          <a:xfrm>
            <a:off x="485538" y="5476402"/>
            <a:ext cx="6795052" cy="547733"/>
          </a:xfrm>
          <a:prstGeom prst="rect">
            <a:avLst/>
          </a:prstGeom>
        </p:spPr>
        <p:txBody>
          <a:bodyPr anchor="ctr"/>
          <a:lstStyle>
            <a:lvl1pPr marL="0" indent="0" algn="l">
              <a:buNone/>
              <a:defRPr sz="2400" b="1" i="0">
                <a:solidFill>
                  <a:schemeClr val="bg1"/>
                </a:solidFill>
                <a:latin typeface="Segoe UI Semibold" panose="020B0502040204020203" pitchFamily="34" charset="0"/>
                <a:cs typeface="Segoe UI Semibold" panose="020B0502040204020203" pitchFamily="34" charset="0"/>
              </a:defRPr>
            </a:lvl1pPr>
          </a:lstStyle>
          <a:p>
            <a:pPr lvl="0"/>
            <a:r>
              <a:rPr lang="en-US"/>
              <a:t>Sub-title / Presenter Name</a:t>
            </a:r>
            <a:endParaRPr lang="en-GB"/>
          </a:p>
        </p:txBody>
      </p:sp>
      <p:pic>
        <p:nvPicPr>
          <p:cNvPr id="3" name="Graphic 2">
            <a:extLst>
              <a:ext uri="{FF2B5EF4-FFF2-40B4-BE49-F238E27FC236}">
                <a16:creationId xmlns:a16="http://schemas.microsoft.com/office/drawing/2014/main" id="{58C5AC77-1855-61A1-86D8-42A6577554F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25000" y="807294"/>
            <a:ext cx="2109041" cy="204101"/>
          </a:xfrm>
          <a:prstGeom prst="rect">
            <a:avLst/>
          </a:prstGeom>
        </p:spPr>
      </p:pic>
    </p:spTree>
    <p:extLst>
      <p:ext uri="{BB962C8B-B14F-4D97-AF65-F5344CB8AC3E}">
        <p14:creationId xmlns:p14="http://schemas.microsoft.com/office/powerpoint/2010/main" val="182738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ogo">
    <p:spTree>
      <p:nvGrpSpPr>
        <p:cNvPr id="1" name=""/>
        <p:cNvGrpSpPr/>
        <p:nvPr/>
      </p:nvGrpSpPr>
      <p:grpSpPr>
        <a:xfrm>
          <a:off x="0" y="0"/>
          <a:ext cx="0" cy="0"/>
          <a:chOff x="0" y="0"/>
          <a:chExt cx="0" cy="0"/>
        </a:xfrm>
      </p:grpSpPr>
      <p:sp>
        <p:nvSpPr>
          <p:cNvPr id="6" name="Rectangle 5"/>
          <p:cNvSpPr txBox="1">
            <a:spLocks noChangeArrowheads="1"/>
          </p:cNvSpPr>
          <p:nvPr userDrawn="1"/>
        </p:nvSpPr>
        <p:spPr bwMode="auto">
          <a:xfrm>
            <a:off x="4731663" y="6600908"/>
            <a:ext cx="2486346" cy="165099"/>
          </a:xfrm>
          <a:prstGeom prst="rect">
            <a:avLst/>
          </a:prstGeom>
          <a:noFill/>
          <a:ln w="9525">
            <a:noFill/>
            <a:miter lim="800000"/>
            <a:headEnd/>
            <a:tailEnd/>
          </a:ln>
          <a:effectLst/>
        </p:spPr>
        <p:txBody>
          <a:bodyPr lIns="0" tIns="0" rIns="0" bIns="0" anchor="b"/>
          <a:lstStyle/>
          <a:p>
            <a:pPr algn="ctr">
              <a:lnSpc>
                <a:spcPct val="90000"/>
              </a:lnSpc>
              <a:spcAft>
                <a:spcPct val="30000"/>
              </a:spcAft>
            </a:pPr>
            <a:r>
              <a:rPr lang="en-US" sz="700">
                <a:solidFill>
                  <a:schemeClr val="bg1"/>
                </a:solidFill>
                <a:latin typeface="Segoe UI" panose="020B0502040204020203" pitchFamily="34" charset="0"/>
                <a:cs typeface="Segoe UI" panose="020B0502040204020203" pitchFamily="34" charset="0"/>
              </a:rPr>
              <a:t>©2017 Avanade Inc. All Rights Reserved.</a:t>
            </a:r>
          </a:p>
        </p:txBody>
      </p:sp>
      <p:sp>
        <p:nvSpPr>
          <p:cNvPr id="2" name="Slide Number Placeholder 1">
            <a:extLst>
              <a:ext uri="{FF2B5EF4-FFF2-40B4-BE49-F238E27FC236}">
                <a16:creationId xmlns:a16="http://schemas.microsoft.com/office/drawing/2014/main" id="{133E5817-89C8-45EE-8909-BD20E45F270F}"/>
              </a:ext>
            </a:extLst>
          </p:cNvPr>
          <p:cNvSpPr>
            <a:spLocks noGrp="1"/>
          </p:cNvSpPr>
          <p:nvPr>
            <p:ph type="sldNum" sz="quarter" idx="10"/>
          </p:nvPr>
        </p:nvSpPr>
        <p:spPr/>
        <p:txBody>
          <a:bodyPr/>
          <a:lstStyle/>
          <a:p>
            <a:fld id="{3847DB54-D037-B84F-B6F1-2E8DA40D09AD}" type="slidenum">
              <a:rPr lang="en-US" smtClean="0"/>
              <a:pPr/>
              <a:t>‹#›</a:t>
            </a:fld>
            <a:endParaRPr lang="en-US"/>
          </a:p>
        </p:txBody>
      </p:sp>
    </p:spTree>
    <p:extLst>
      <p:ext uri="{BB962C8B-B14F-4D97-AF65-F5344CB8AC3E}">
        <p14:creationId xmlns:p14="http://schemas.microsoft.com/office/powerpoint/2010/main" val="13776066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6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L Logo Lines">
    <p:bg bwMode="ltGray">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A93532-71D0-D05E-6EE7-F2E82D104578}"/>
              </a:ext>
            </a:extLst>
          </p:cNvPr>
          <p:cNvGrpSpPr/>
          <p:nvPr userDrawn="1"/>
        </p:nvGrpSpPr>
        <p:grpSpPr>
          <a:xfrm>
            <a:off x="0" y="4438650"/>
            <a:ext cx="3902176" cy="2419350"/>
            <a:chOff x="0" y="3874168"/>
            <a:chExt cx="4812632" cy="2983832"/>
          </a:xfrm>
        </p:grpSpPr>
        <p:pic>
          <p:nvPicPr>
            <p:cNvPr id="3" name="Picture 2" descr="A picture containing icon&#10;&#10;Description automatically generated">
              <a:extLst>
                <a:ext uri="{FF2B5EF4-FFF2-40B4-BE49-F238E27FC236}">
                  <a16:creationId xmlns:a16="http://schemas.microsoft.com/office/drawing/2014/main" id="{730A7B0A-F79F-93B1-9BB9-47E04ECD8167}"/>
                </a:ext>
              </a:extLst>
            </p:cNvPr>
            <p:cNvPicPr>
              <a:picLocks noChangeAspect="1"/>
            </p:cNvPicPr>
            <p:nvPr/>
          </p:nvPicPr>
          <p:blipFill rotWithShape="1">
            <a:blip r:embed="rId2"/>
            <a:srcRect l="50000" r="10526" b="24873"/>
            <a:stretch/>
          </p:blipFill>
          <p:spPr>
            <a:xfrm>
              <a:off x="0" y="5205317"/>
              <a:ext cx="4812632" cy="1652683"/>
            </a:xfrm>
            <a:prstGeom prst="rect">
              <a:avLst/>
            </a:prstGeom>
          </p:spPr>
        </p:pic>
        <p:pic>
          <p:nvPicPr>
            <p:cNvPr id="4" name="Graphic 4">
              <a:extLst>
                <a:ext uri="{FF2B5EF4-FFF2-40B4-BE49-F238E27FC236}">
                  <a16:creationId xmlns:a16="http://schemas.microsoft.com/office/drawing/2014/main" id="{556EA8C8-B054-949F-4116-CED566BE875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9375" t="17544" r="29934" b="38948"/>
            <a:stretch/>
          </p:blipFill>
          <p:spPr>
            <a:xfrm>
              <a:off x="0" y="3874168"/>
              <a:ext cx="3741822" cy="2983832"/>
            </a:xfrm>
            <a:prstGeom prst="rect">
              <a:avLst/>
            </a:prstGeom>
          </p:spPr>
        </p:pic>
      </p:grpSp>
      <p:sp>
        <p:nvSpPr>
          <p:cNvPr id="5" name="Title Placeholder 1">
            <a:extLst>
              <a:ext uri="{FF2B5EF4-FFF2-40B4-BE49-F238E27FC236}">
                <a16:creationId xmlns:a16="http://schemas.microsoft.com/office/drawing/2014/main" id="{430AE8CE-28F6-38EA-5BF8-DC81ABF0B996}"/>
              </a:ext>
            </a:extLst>
          </p:cNvPr>
          <p:cNvSpPr>
            <a:spLocks noGrp="1"/>
          </p:cNvSpPr>
          <p:nvPr>
            <p:ph type="title"/>
          </p:nvPr>
        </p:nvSpPr>
        <p:spPr>
          <a:xfrm>
            <a:off x="457888" y="457200"/>
            <a:ext cx="11200711" cy="606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6DAADF01-D003-B82E-57AA-B2A2404F08AC}"/>
              </a:ext>
            </a:extLst>
          </p:cNvPr>
          <p:cNvSpPr>
            <a:spLocks noGrp="1"/>
          </p:cNvSpPr>
          <p:nvPr>
            <p:ph type="body" sz="quarter" idx="12" hasCustomPrompt="1"/>
          </p:nvPr>
        </p:nvSpPr>
        <p:spPr>
          <a:xfrm>
            <a:off x="457012" y="1063892"/>
            <a:ext cx="11201588" cy="381000"/>
          </a:xfrm>
          <a:prstGeom prst="rect">
            <a:avLst/>
          </a:prstGeom>
        </p:spPr>
        <p:txBody>
          <a:bodyPr/>
          <a:lstStyle>
            <a:lvl1pPr algn="l">
              <a:lnSpc>
                <a:spcPct val="100000"/>
              </a:lnSpc>
              <a:spcBef>
                <a:spcPts val="0"/>
              </a:spcBef>
              <a:spcAft>
                <a:spcPts val="0"/>
              </a:spcAft>
              <a:defRPr sz="1867" b="1" i="0">
                <a:solidFill>
                  <a:schemeClr val="tx2"/>
                </a:solidFill>
                <a:latin typeface="Segoe UI Semibold" panose="020B0502040204020203" pitchFamily="34" charset="0"/>
                <a:cs typeface="Segoe UI Semibold" panose="020B0502040204020203" pitchFamily="34" charset="0"/>
              </a:defRPr>
            </a:lvl1pPr>
            <a:lvl2pPr marL="120648" indent="0" algn="ctr">
              <a:buNone/>
              <a:defRPr sz="1867"/>
            </a:lvl2pPr>
          </a:lstStyle>
          <a:p>
            <a:pPr lvl="0"/>
            <a:r>
              <a:rPr lang="en-US"/>
              <a:t>Click to add Sub-title</a:t>
            </a:r>
            <a:endParaRPr lang="en-US" altLang="ja-JP"/>
          </a:p>
        </p:txBody>
      </p:sp>
      <p:sp>
        <p:nvSpPr>
          <p:cNvPr id="9" name="Content Placeholder 20">
            <a:extLst>
              <a:ext uri="{FF2B5EF4-FFF2-40B4-BE49-F238E27FC236}">
                <a16:creationId xmlns:a16="http://schemas.microsoft.com/office/drawing/2014/main" id="{0CBF9A6C-69D1-9665-B19D-FC6E05A1772C}"/>
              </a:ext>
            </a:extLst>
          </p:cNvPr>
          <p:cNvSpPr>
            <a:spLocks noGrp="1"/>
          </p:cNvSpPr>
          <p:nvPr>
            <p:ph sz="quarter" idx="10"/>
          </p:nvPr>
        </p:nvSpPr>
        <p:spPr>
          <a:xfrm>
            <a:off x="457200" y="1591476"/>
            <a:ext cx="11201588" cy="4202632"/>
          </a:xfrm>
          <a:prstGeom prst="rect">
            <a:avLst/>
          </a:prstGeom>
        </p:spPr>
        <p:txBody>
          <a:bodyPr/>
          <a:lstStyle>
            <a:lvl1pPr>
              <a:lnSpc>
                <a:spcPct val="100000"/>
              </a:lnSpc>
              <a:spcBef>
                <a:spcPts val="0"/>
              </a:spcBef>
              <a:spcAft>
                <a:spcPts val="0"/>
              </a:spcAft>
              <a:defRPr b="0" i="0">
                <a:latin typeface="Segoe UI" panose="020B0502040204020203" pitchFamily="34" charset="0"/>
                <a:cs typeface="Segoe UI" panose="020B0502040204020203" pitchFamily="34" charset="0"/>
              </a:defRPr>
            </a:lvl1pPr>
            <a:lvl2pPr>
              <a:lnSpc>
                <a:spcPct val="100000"/>
              </a:lnSpc>
              <a:spcBef>
                <a:spcPts val="0"/>
              </a:spcBef>
              <a:spcAft>
                <a:spcPts val="0"/>
              </a:spcAft>
              <a:defRPr b="0" i="0">
                <a:latin typeface="Segoe UI" panose="020B0502040204020203" pitchFamily="34" charset="0"/>
                <a:cs typeface="Segoe UI" panose="020B0502040204020203" pitchFamily="34" charset="0"/>
              </a:defRPr>
            </a:lvl2pPr>
            <a:lvl3pPr>
              <a:lnSpc>
                <a:spcPct val="100000"/>
              </a:lnSpc>
              <a:spcBef>
                <a:spcPts val="0"/>
              </a:spcBef>
              <a:spcAft>
                <a:spcPts val="0"/>
              </a:spcAft>
              <a:defRPr b="0" i="0">
                <a:latin typeface="Segoe UI" panose="020B0502040204020203" pitchFamily="34" charset="0"/>
                <a:cs typeface="Segoe UI" panose="020B0502040204020203" pitchFamily="34" charset="0"/>
              </a:defRPr>
            </a:lvl3pPr>
            <a:lvl4pPr>
              <a:lnSpc>
                <a:spcPct val="100000"/>
              </a:lnSpc>
              <a:spcBef>
                <a:spcPts val="0"/>
              </a:spcBef>
              <a:spcAft>
                <a:spcPts val="0"/>
              </a:spcAft>
              <a:defRPr b="0" i="0">
                <a:latin typeface="Segoe UI" panose="020B0502040204020203" pitchFamily="34" charset="0"/>
                <a:cs typeface="Segoe UI" panose="020B0502040204020203" pitchFamily="34" charset="0"/>
              </a:defRPr>
            </a:lvl4pPr>
            <a:lvl5pPr>
              <a:lnSpc>
                <a:spcPct val="100000"/>
              </a:lnSpc>
              <a:spcBef>
                <a:spcPts val="0"/>
              </a:spcBef>
              <a:spcAft>
                <a:spcPts val="0"/>
              </a:spcAft>
              <a:defRPr b="0" i="0">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726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L Logo Lines">
    <p:bg bwMode="ltGray">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A93532-71D0-D05E-6EE7-F2E82D104578}"/>
              </a:ext>
            </a:extLst>
          </p:cNvPr>
          <p:cNvGrpSpPr/>
          <p:nvPr userDrawn="1"/>
        </p:nvGrpSpPr>
        <p:grpSpPr>
          <a:xfrm>
            <a:off x="0" y="4438650"/>
            <a:ext cx="3902176" cy="2419350"/>
            <a:chOff x="0" y="3874168"/>
            <a:chExt cx="4812632" cy="2983832"/>
          </a:xfrm>
        </p:grpSpPr>
        <p:pic>
          <p:nvPicPr>
            <p:cNvPr id="3" name="Picture 2" descr="A picture containing icon&#10;&#10;Description automatically generated">
              <a:extLst>
                <a:ext uri="{FF2B5EF4-FFF2-40B4-BE49-F238E27FC236}">
                  <a16:creationId xmlns:a16="http://schemas.microsoft.com/office/drawing/2014/main" id="{730A7B0A-F79F-93B1-9BB9-47E04ECD8167}"/>
                </a:ext>
              </a:extLst>
            </p:cNvPr>
            <p:cNvPicPr>
              <a:picLocks noChangeAspect="1"/>
            </p:cNvPicPr>
            <p:nvPr/>
          </p:nvPicPr>
          <p:blipFill rotWithShape="1">
            <a:blip r:embed="rId2"/>
            <a:srcRect l="50000" r="10526" b="24873"/>
            <a:stretch/>
          </p:blipFill>
          <p:spPr>
            <a:xfrm>
              <a:off x="0" y="5205317"/>
              <a:ext cx="4812632" cy="1652683"/>
            </a:xfrm>
            <a:prstGeom prst="rect">
              <a:avLst/>
            </a:prstGeom>
          </p:spPr>
        </p:pic>
        <p:pic>
          <p:nvPicPr>
            <p:cNvPr id="4" name="Graphic 4">
              <a:extLst>
                <a:ext uri="{FF2B5EF4-FFF2-40B4-BE49-F238E27FC236}">
                  <a16:creationId xmlns:a16="http://schemas.microsoft.com/office/drawing/2014/main" id="{556EA8C8-B054-949F-4116-CED566BE875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9375" t="17544" r="29934" b="38948"/>
            <a:stretch/>
          </p:blipFill>
          <p:spPr>
            <a:xfrm>
              <a:off x="0" y="3874168"/>
              <a:ext cx="3741822" cy="2983832"/>
            </a:xfrm>
            <a:prstGeom prst="rect">
              <a:avLst/>
            </a:prstGeom>
          </p:spPr>
        </p:pic>
      </p:grpSp>
      <p:sp>
        <p:nvSpPr>
          <p:cNvPr id="5" name="Title Placeholder 1">
            <a:extLst>
              <a:ext uri="{FF2B5EF4-FFF2-40B4-BE49-F238E27FC236}">
                <a16:creationId xmlns:a16="http://schemas.microsoft.com/office/drawing/2014/main" id="{430AE8CE-28F6-38EA-5BF8-DC81ABF0B996}"/>
              </a:ext>
            </a:extLst>
          </p:cNvPr>
          <p:cNvSpPr>
            <a:spLocks noGrp="1"/>
          </p:cNvSpPr>
          <p:nvPr>
            <p:ph type="title"/>
          </p:nvPr>
        </p:nvSpPr>
        <p:spPr>
          <a:xfrm>
            <a:off x="457888" y="457200"/>
            <a:ext cx="11200711" cy="606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6DAADF01-D003-B82E-57AA-B2A2404F08AC}"/>
              </a:ext>
            </a:extLst>
          </p:cNvPr>
          <p:cNvSpPr>
            <a:spLocks noGrp="1"/>
          </p:cNvSpPr>
          <p:nvPr>
            <p:ph type="body" sz="quarter" idx="12" hasCustomPrompt="1"/>
          </p:nvPr>
        </p:nvSpPr>
        <p:spPr>
          <a:xfrm>
            <a:off x="457012" y="1063892"/>
            <a:ext cx="11201588" cy="381000"/>
          </a:xfrm>
          <a:prstGeom prst="rect">
            <a:avLst/>
          </a:prstGeom>
        </p:spPr>
        <p:txBody>
          <a:bodyPr/>
          <a:lstStyle>
            <a:lvl1pPr algn="l">
              <a:lnSpc>
                <a:spcPct val="100000"/>
              </a:lnSpc>
              <a:spcBef>
                <a:spcPts val="0"/>
              </a:spcBef>
              <a:spcAft>
                <a:spcPts val="0"/>
              </a:spcAft>
              <a:defRPr sz="1867" b="1" i="0">
                <a:solidFill>
                  <a:schemeClr val="tx2"/>
                </a:solidFill>
                <a:latin typeface="Segoe UI Semibold" panose="020B0502040204020203" pitchFamily="34" charset="0"/>
                <a:cs typeface="Segoe UI Semibold" panose="020B0502040204020203" pitchFamily="34" charset="0"/>
              </a:defRPr>
            </a:lvl1pPr>
            <a:lvl2pPr marL="120648" indent="0" algn="ctr">
              <a:buNone/>
              <a:defRPr sz="1867"/>
            </a:lvl2pPr>
          </a:lstStyle>
          <a:p>
            <a:pPr lvl="0"/>
            <a:r>
              <a:rPr lang="en-US"/>
              <a:t>Click to add Sub-title</a:t>
            </a:r>
            <a:endParaRPr lang="en-US" altLang="ja-JP"/>
          </a:p>
        </p:txBody>
      </p:sp>
      <p:sp>
        <p:nvSpPr>
          <p:cNvPr id="9" name="Content Placeholder 20">
            <a:extLst>
              <a:ext uri="{FF2B5EF4-FFF2-40B4-BE49-F238E27FC236}">
                <a16:creationId xmlns:a16="http://schemas.microsoft.com/office/drawing/2014/main" id="{0CBF9A6C-69D1-9665-B19D-FC6E05A1772C}"/>
              </a:ext>
            </a:extLst>
          </p:cNvPr>
          <p:cNvSpPr>
            <a:spLocks noGrp="1"/>
          </p:cNvSpPr>
          <p:nvPr>
            <p:ph sz="quarter" idx="10"/>
          </p:nvPr>
        </p:nvSpPr>
        <p:spPr>
          <a:xfrm>
            <a:off x="457200" y="1591476"/>
            <a:ext cx="11201588" cy="4202632"/>
          </a:xfrm>
          <a:prstGeom prst="rect">
            <a:avLst/>
          </a:prstGeom>
        </p:spPr>
        <p:txBody>
          <a:bodyPr/>
          <a:lstStyle>
            <a:lvl1pPr>
              <a:lnSpc>
                <a:spcPct val="100000"/>
              </a:lnSpc>
              <a:spcBef>
                <a:spcPts val="0"/>
              </a:spcBef>
              <a:spcAft>
                <a:spcPts val="0"/>
              </a:spcAft>
              <a:defRPr b="0" i="0">
                <a:latin typeface="Segoe UI" panose="020B0502040204020203" pitchFamily="34" charset="0"/>
                <a:cs typeface="Segoe UI" panose="020B0502040204020203" pitchFamily="34" charset="0"/>
              </a:defRPr>
            </a:lvl1pPr>
            <a:lvl2pPr>
              <a:lnSpc>
                <a:spcPct val="100000"/>
              </a:lnSpc>
              <a:spcBef>
                <a:spcPts val="0"/>
              </a:spcBef>
              <a:spcAft>
                <a:spcPts val="0"/>
              </a:spcAft>
              <a:defRPr b="0" i="0">
                <a:latin typeface="Segoe UI" panose="020B0502040204020203" pitchFamily="34" charset="0"/>
                <a:cs typeface="Segoe UI" panose="020B0502040204020203" pitchFamily="34" charset="0"/>
              </a:defRPr>
            </a:lvl2pPr>
            <a:lvl3pPr>
              <a:lnSpc>
                <a:spcPct val="100000"/>
              </a:lnSpc>
              <a:spcBef>
                <a:spcPts val="0"/>
              </a:spcBef>
              <a:spcAft>
                <a:spcPts val="0"/>
              </a:spcAft>
              <a:defRPr b="0" i="0">
                <a:latin typeface="Segoe UI" panose="020B0502040204020203" pitchFamily="34" charset="0"/>
                <a:cs typeface="Segoe UI" panose="020B0502040204020203" pitchFamily="34" charset="0"/>
              </a:defRPr>
            </a:lvl3pPr>
            <a:lvl4pPr>
              <a:lnSpc>
                <a:spcPct val="100000"/>
              </a:lnSpc>
              <a:spcBef>
                <a:spcPts val="0"/>
              </a:spcBef>
              <a:spcAft>
                <a:spcPts val="0"/>
              </a:spcAft>
              <a:defRPr b="0" i="0">
                <a:latin typeface="Segoe UI" panose="020B0502040204020203" pitchFamily="34" charset="0"/>
                <a:cs typeface="Segoe UI" panose="020B0502040204020203" pitchFamily="34" charset="0"/>
              </a:defRPr>
            </a:lvl4pPr>
            <a:lvl5pPr>
              <a:lnSpc>
                <a:spcPct val="100000"/>
              </a:lnSpc>
              <a:spcBef>
                <a:spcPts val="0"/>
              </a:spcBef>
              <a:spcAft>
                <a:spcPts val="0"/>
              </a:spcAft>
              <a:defRPr b="0" i="0">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7263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 Id="rId10" Type="http://schemas.openxmlformats.org/officeDocument/2006/relationships/hyperlink" Target="https://avanade.sharepoint.com/sites/policies/Policies2/Data%20Management/1431_DataManagement.pdf"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Title Placeholder 1">
            <a:extLst>
              <a:ext uri="{FF2B5EF4-FFF2-40B4-BE49-F238E27FC236}">
                <a16:creationId xmlns:a16="http://schemas.microsoft.com/office/drawing/2014/main" id="{658DE76C-BE08-874D-89E5-86F2CB5A1662}"/>
              </a:ext>
            </a:extLst>
          </p:cNvPr>
          <p:cNvSpPr>
            <a:spLocks noGrp="1"/>
          </p:cNvSpPr>
          <p:nvPr>
            <p:ph type="title"/>
          </p:nvPr>
        </p:nvSpPr>
        <p:spPr>
          <a:xfrm>
            <a:off x="694944" y="390719"/>
            <a:ext cx="10789921" cy="998344"/>
          </a:xfrm>
          <a:prstGeom prst="rect">
            <a:avLst/>
          </a:prstGeom>
        </p:spPr>
        <p:txBody>
          <a:bodyPr vert="horz" lIns="91440" tIns="45720" rIns="91440" bIns="45720" rtlCol="0" anchor="t">
            <a:noAutofit/>
          </a:bodyPr>
          <a:lstStyle/>
          <a:p>
            <a:r>
              <a:rPr lang="en-US"/>
              <a:t>Click to edit Master title style</a:t>
            </a:r>
          </a:p>
        </p:txBody>
      </p:sp>
      <p:sp>
        <p:nvSpPr>
          <p:cNvPr id="31" name="Text Placeholder 2">
            <a:extLst>
              <a:ext uri="{FF2B5EF4-FFF2-40B4-BE49-F238E27FC236}">
                <a16:creationId xmlns:a16="http://schemas.microsoft.com/office/drawing/2014/main" id="{503EF9A9-1084-A048-BA5E-600BDC189274}"/>
              </a:ext>
            </a:extLst>
          </p:cNvPr>
          <p:cNvSpPr>
            <a:spLocks noGrp="1"/>
          </p:cNvSpPr>
          <p:nvPr>
            <p:ph type="body" idx="1"/>
          </p:nvPr>
        </p:nvSpPr>
        <p:spPr>
          <a:xfrm>
            <a:off x="694945" y="1524000"/>
            <a:ext cx="1078992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Rectangle 31">
            <a:extLst>
              <a:ext uri="{FF2B5EF4-FFF2-40B4-BE49-F238E27FC236}">
                <a16:creationId xmlns:a16="http://schemas.microsoft.com/office/drawing/2014/main" id="{56ADD8B0-8C25-234B-ADCE-7E0BFFB2AA87}"/>
              </a:ext>
            </a:extLst>
          </p:cNvPr>
          <p:cNvSpPr/>
          <p:nvPr userDrawn="1"/>
        </p:nvSpPr>
        <p:spPr>
          <a:xfrm>
            <a:off x="694944" y="0"/>
            <a:ext cx="10789920" cy="45719"/>
          </a:xfrm>
          <a:prstGeom prst="rect">
            <a:avLst/>
          </a:prstGeom>
          <a:gradFill>
            <a:gsLst>
              <a:gs pos="80000">
                <a:srgbClr val="FF5800"/>
              </a:gs>
              <a:gs pos="0">
                <a:srgbClr val="FFD700"/>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vanadeLogoNoTM_AWColor_RGB.png">
            <a:extLst>
              <a:ext uri="{FF2B5EF4-FFF2-40B4-BE49-F238E27FC236}">
                <a16:creationId xmlns:a16="http://schemas.microsoft.com/office/drawing/2014/main" id="{3DE45E54-C75E-2442-B65B-75CB35B3E217}"/>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707135" y="6165705"/>
            <a:ext cx="914400" cy="335584"/>
          </a:xfrm>
          <a:prstGeom prst="rect">
            <a:avLst/>
          </a:prstGeom>
        </p:spPr>
      </p:pic>
      <p:sp>
        <p:nvSpPr>
          <p:cNvPr id="30" name="Rectangle 29"/>
          <p:cNvSpPr/>
          <p:nvPr userDrawn="1"/>
        </p:nvSpPr>
        <p:spPr>
          <a:xfrm>
            <a:off x="12218648" y="576694"/>
            <a:ext cx="155791" cy="527538"/>
          </a:xfrm>
          <a:prstGeom prst="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3" name="Rectangle 32"/>
          <p:cNvSpPr/>
          <p:nvPr userDrawn="1"/>
        </p:nvSpPr>
        <p:spPr>
          <a:xfrm>
            <a:off x="12218648" y="1153388"/>
            <a:ext cx="155791" cy="527538"/>
          </a:xfrm>
          <a:prstGeom prst="rect">
            <a:avLst/>
          </a:prstGeom>
          <a:solidFill>
            <a:schemeClr val="accent3"/>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4" name="Rectangle 33"/>
          <p:cNvSpPr/>
          <p:nvPr userDrawn="1"/>
        </p:nvSpPr>
        <p:spPr>
          <a:xfrm>
            <a:off x="12215747" y="2306776"/>
            <a:ext cx="155791" cy="527538"/>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8" name="Rectangle 37"/>
          <p:cNvSpPr/>
          <p:nvPr userDrawn="1"/>
        </p:nvSpPr>
        <p:spPr>
          <a:xfrm>
            <a:off x="12215747" y="4036858"/>
            <a:ext cx="155791" cy="527538"/>
          </a:xfrm>
          <a:prstGeom prst="rect">
            <a:avLst/>
          </a:prstGeom>
          <a:solidFill>
            <a:srgbClr val="006E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9" name="Rectangle 38"/>
          <p:cNvSpPr/>
          <p:nvPr userDrawn="1"/>
        </p:nvSpPr>
        <p:spPr>
          <a:xfrm>
            <a:off x="12215747" y="1730082"/>
            <a:ext cx="155791" cy="527538"/>
          </a:xfrm>
          <a:prstGeom prst="rect">
            <a:avLst/>
          </a:prstGeom>
          <a:solidFill>
            <a:srgbClr val="890078"/>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0" name="Rectangle 39"/>
          <p:cNvSpPr/>
          <p:nvPr userDrawn="1"/>
        </p:nvSpPr>
        <p:spPr>
          <a:xfrm>
            <a:off x="12382950" y="576694"/>
            <a:ext cx="155791" cy="527538"/>
          </a:xfrm>
          <a:prstGeom prst="rect">
            <a:avLst/>
          </a:prstGeom>
          <a:solidFill>
            <a:srgbClr val="A5064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1" name="Rectangle 40"/>
          <p:cNvSpPr/>
          <p:nvPr userDrawn="1"/>
        </p:nvSpPr>
        <p:spPr>
          <a:xfrm>
            <a:off x="12382950" y="1153388"/>
            <a:ext cx="155791" cy="527538"/>
          </a:xfrm>
          <a:prstGeom prst="rect">
            <a:avLst/>
          </a:prstGeom>
          <a:solidFill>
            <a:srgbClr val="9E120E"/>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2" name="Rectangle 41"/>
          <p:cNvSpPr/>
          <p:nvPr userDrawn="1"/>
        </p:nvSpPr>
        <p:spPr>
          <a:xfrm>
            <a:off x="12380049" y="2306776"/>
            <a:ext cx="155791" cy="527538"/>
          </a:xfrm>
          <a:prstGeom prst="rect">
            <a:avLst/>
          </a:prstGeom>
          <a:solidFill>
            <a:srgbClr val="E6A61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3" name="Rectangle 42"/>
          <p:cNvSpPr/>
          <p:nvPr userDrawn="1"/>
        </p:nvSpPr>
        <p:spPr>
          <a:xfrm>
            <a:off x="12380049" y="2883470"/>
            <a:ext cx="155791" cy="527538"/>
          </a:xfrm>
          <a:prstGeom prst="rect">
            <a:avLst/>
          </a:prstGeom>
          <a:solidFill>
            <a:srgbClr val="05732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4" name="Rectangle 43"/>
          <p:cNvSpPr/>
          <p:nvPr userDrawn="1"/>
        </p:nvSpPr>
        <p:spPr>
          <a:xfrm>
            <a:off x="12380049" y="3460164"/>
            <a:ext cx="155791" cy="527538"/>
          </a:xfrm>
          <a:prstGeom prst="rect">
            <a:avLst/>
          </a:prstGeom>
          <a:solidFill>
            <a:srgbClr val="005F6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5" name="Rectangle 44"/>
          <p:cNvSpPr/>
          <p:nvPr userDrawn="1"/>
        </p:nvSpPr>
        <p:spPr>
          <a:xfrm>
            <a:off x="12380049" y="4036858"/>
            <a:ext cx="155791" cy="527538"/>
          </a:xfrm>
          <a:prstGeom prst="rect">
            <a:avLst/>
          </a:prstGeom>
          <a:solidFill>
            <a:srgbClr val="05508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6" name="Rectangle 45"/>
          <p:cNvSpPr/>
          <p:nvPr userDrawn="1"/>
        </p:nvSpPr>
        <p:spPr>
          <a:xfrm>
            <a:off x="12380049" y="1730082"/>
            <a:ext cx="155791" cy="527538"/>
          </a:xfrm>
          <a:prstGeom prst="rect">
            <a:avLst/>
          </a:prstGeom>
          <a:solidFill>
            <a:srgbClr val="5A145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7" name="Rectangle 46"/>
          <p:cNvSpPr/>
          <p:nvPr userDrawn="1"/>
        </p:nvSpPr>
        <p:spPr>
          <a:xfrm>
            <a:off x="12218648" y="0"/>
            <a:ext cx="155791" cy="527538"/>
          </a:xfrm>
          <a:prstGeom prst="rect">
            <a:avLst/>
          </a:prstGeom>
          <a:solidFill>
            <a:schemeClr val="tx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8" name="Rectangle 47"/>
          <p:cNvSpPr/>
          <p:nvPr userDrawn="1"/>
        </p:nvSpPr>
        <p:spPr>
          <a:xfrm>
            <a:off x="12382950" y="0"/>
            <a:ext cx="155791" cy="527538"/>
          </a:xfrm>
          <a:prstGeom prst="rect">
            <a:avLst/>
          </a:prstGeom>
          <a:solidFill>
            <a:srgbClr val="CC46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9" name="Rectangle 48"/>
          <p:cNvSpPr/>
          <p:nvPr userDrawn="1"/>
        </p:nvSpPr>
        <p:spPr>
          <a:xfrm>
            <a:off x="12215747" y="2883470"/>
            <a:ext cx="155791" cy="527538"/>
          </a:xfrm>
          <a:prstGeom prst="rect">
            <a:avLst/>
          </a:pr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0" name="Rectangle 49"/>
          <p:cNvSpPr/>
          <p:nvPr userDrawn="1"/>
        </p:nvSpPr>
        <p:spPr>
          <a:xfrm>
            <a:off x="12215747" y="3460164"/>
            <a:ext cx="155791" cy="527538"/>
          </a:xfrm>
          <a:prstGeom prst="rect">
            <a:avLst/>
          </a:prstGeom>
          <a:solidFill>
            <a:schemeClr val="accent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4" name="Rectangle 5">
            <a:extLst>
              <a:ext uri="{FF2B5EF4-FFF2-40B4-BE49-F238E27FC236}">
                <a16:creationId xmlns:a16="http://schemas.microsoft.com/office/drawing/2014/main" id="{770EFDC9-5DD5-4A81-A181-1272E8F098C7}"/>
              </a:ext>
            </a:extLst>
          </p:cNvPr>
          <p:cNvSpPr txBox="1">
            <a:spLocks noChangeArrowheads="1"/>
          </p:cNvSpPr>
          <p:nvPr userDrawn="1"/>
        </p:nvSpPr>
        <p:spPr bwMode="auto">
          <a:xfrm>
            <a:off x="4400860" y="6235000"/>
            <a:ext cx="2486346" cy="165099"/>
          </a:xfrm>
          <a:prstGeom prst="rect">
            <a:avLst/>
          </a:prstGeom>
          <a:noFill/>
          <a:ln w="9525">
            <a:noFill/>
            <a:miter lim="800000"/>
            <a:headEnd/>
            <a:tailEnd/>
          </a:ln>
          <a:effectLst/>
        </p:spPr>
        <p:txBody>
          <a:bodyPr lIns="0" tIns="0" rIns="0" bIns="0" anchor="b"/>
          <a:lstStyle/>
          <a:p>
            <a:pPr algn="ctr">
              <a:lnSpc>
                <a:spcPct val="90000"/>
              </a:lnSpc>
              <a:spcAft>
                <a:spcPct val="30000"/>
              </a:spcAft>
            </a:pPr>
            <a:r>
              <a:rPr lang="en-US" sz="700">
                <a:solidFill>
                  <a:schemeClr val="bg1">
                    <a:lumMod val="75000"/>
                  </a:schemeClr>
                </a:solidFill>
                <a:latin typeface="Segoe UI" panose="020B0502040204020203" pitchFamily="34" charset="0"/>
                <a:cs typeface="Segoe UI" panose="020B0502040204020203" pitchFamily="34" charset="0"/>
              </a:rPr>
              <a:t>©2023 Avanade Inc. All Rights Reserved.</a:t>
            </a:r>
          </a:p>
        </p:txBody>
      </p:sp>
      <p:sp>
        <p:nvSpPr>
          <p:cNvPr id="25" name="TextBox 24">
            <a:extLst>
              <a:ext uri="{FF2B5EF4-FFF2-40B4-BE49-F238E27FC236}">
                <a16:creationId xmlns:a16="http://schemas.microsoft.com/office/drawing/2014/main" id="{92857830-2F82-4104-9DED-4C213855AA9B}"/>
              </a:ext>
            </a:extLst>
          </p:cNvPr>
          <p:cNvSpPr txBox="1"/>
          <p:nvPr userDrawn="1"/>
        </p:nvSpPr>
        <p:spPr>
          <a:xfrm>
            <a:off x="8707793" y="6244838"/>
            <a:ext cx="2777072" cy="307777"/>
          </a:xfrm>
          <a:prstGeom prst="rect">
            <a:avLst/>
          </a:prstGeom>
          <a:noFill/>
        </p:spPr>
        <p:txBody>
          <a:bodyPr wrap="square" rtlCol="0">
            <a:spAutoFit/>
          </a:bodyPr>
          <a:lstStyle/>
          <a:p>
            <a:pPr algn="r"/>
            <a:r>
              <a:rPr lang="en-US" sz="700">
                <a:solidFill>
                  <a:srgbClr val="FF5800"/>
                </a:solidFill>
              </a:rPr>
              <a:t>&lt;Highly Confidential&gt; </a:t>
            </a:r>
            <a:r>
              <a:rPr lang="en-US" sz="700">
                <a:solidFill>
                  <a:srgbClr val="464646"/>
                </a:solidFill>
              </a:rPr>
              <a:t>See Avanade’s </a:t>
            </a:r>
            <a:r>
              <a:rPr lang="en-US" sz="700">
                <a:solidFill>
                  <a:srgbClr val="FF5800"/>
                </a:solidFill>
                <a:hlinkClick r:id="rId10" invalidUrl="https://avanade.sharepoint.com/sites/policies/Policies2/Data Management/1431_DataManagement.pdf"/>
              </a:rPr>
              <a:t>Data Management Policy</a:t>
            </a:r>
            <a:endParaRPr lang="en-US" sz="700">
              <a:solidFill>
                <a:srgbClr val="FF5800"/>
              </a:solidFill>
            </a:endParaRPr>
          </a:p>
          <a:p>
            <a:pPr algn="r"/>
            <a:r>
              <a:rPr lang="en-US" sz="700">
                <a:solidFill>
                  <a:schemeClr val="tx1"/>
                </a:solidFill>
              </a:rPr>
              <a:t>Version 1.0</a:t>
            </a:r>
          </a:p>
        </p:txBody>
      </p:sp>
    </p:spTree>
    <p:extLst>
      <p:ext uri="{BB962C8B-B14F-4D97-AF65-F5344CB8AC3E}">
        <p14:creationId xmlns:p14="http://schemas.microsoft.com/office/powerpoint/2010/main" val="2156093164"/>
      </p:ext>
    </p:extLst>
  </p:cSld>
  <p:clrMap bg1="lt1" tx1="dk1" bg2="lt2" tx2="dk2" accent1="accent1" accent2="accent2" accent3="accent3" accent4="accent4" accent5="accent5" accent6="accent6" hlink="hlink" folHlink="folHlink"/>
  <p:sldLayoutIdLst>
    <p:sldLayoutId id="2147483760" r:id="rId1"/>
    <p:sldLayoutId id="2147484086" r:id="rId2"/>
    <p:sldLayoutId id="2147484087" r:id="rId3"/>
    <p:sldLayoutId id="2147484088" r:id="rId4"/>
    <p:sldLayoutId id="2147484089" r:id="rId5"/>
    <p:sldLayoutId id="2147484093" r:id="rId6"/>
    <p:sldLayoutId id="2147484090" r:id="rId7"/>
  </p:sldLayoutIdLst>
  <p:transition>
    <p:fade/>
  </p:transition>
  <p:hf hdr="0" ftr="0" dt="0"/>
  <p:txStyles>
    <p:titleStyle>
      <a:lvl1pPr algn="l" defTabSz="914400" rtl="0" eaLnBrk="1" latinLnBrk="0" hangingPunct="1">
        <a:lnSpc>
          <a:spcPct val="90000"/>
        </a:lnSpc>
        <a:spcBef>
          <a:spcPct val="0"/>
        </a:spcBef>
        <a:buNone/>
        <a:defRPr sz="3600" b="1" i="0" kern="1200">
          <a:solidFill>
            <a:schemeClr val="tx1"/>
          </a:solidFill>
          <a:latin typeface="Segoe UI Semibold" panose="020B0502040204020203" pitchFamily="34" charset="0"/>
          <a:ea typeface="Segoe UI Semibold" panose="020B0502040204020203" pitchFamily="34" charset="0"/>
          <a:cs typeface="Segoe UI Semibold" panose="020B0502040204020203" pitchFamily="34" charset="0"/>
        </a:defRPr>
      </a:lvl1pPr>
    </p:titleStyle>
    <p:bodyStyle>
      <a:lvl1pPr marL="0" indent="0" algn="l" defTabSz="914400" rtl="0" eaLnBrk="1" latinLnBrk="0" hangingPunct="1">
        <a:lnSpc>
          <a:spcPct val="90000"/>
        </a:lnSpc>
        <a:spcBef>
          <a:spcPts val="1000"/>
        </a:spcBef>
        <a:buFont typeface="Arial"/>
        <a:buNone/>
        <a:defRPr sz="2000" b="0" i="0" kern="1200">
          <a:solidFill>
            <a:schemeClr val="tx1"/>
          </a:solidFill>
          <a:latin typeface="Segoe UI Light" charset="0"/>
          <a:ea typeface="Segoe UI Light" charset="0"/>
          <a:cs typeface="Segoe UI Light"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Segoe UI Light" charset="0"/>
          <a:ea typeface="Segoe UI Light" charset="0"/>
          <a:cs typeface="Segoe UI Light"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Segoe UI Light" charset="0"/>
          <a:ea typeface="Segoe UI Light" charset="0"/>
          <a:cs typeface="Segoe UI Light"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aep.avanade.com/estimate/a7c066e8-f698-43c4-b4ba-8d19ba7e0e7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gs>
            <a:gs pos="100000">
              <a:schemeClr val="tx2"/>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C2EB-7C21-6B18-6620-1ED7C0DCDCDA}"/>
              </a:ext>
            </a:extLst>
          </p:cNvPr>
          <p:cNvSpPr>
            <a:spLocks noGrp="1"/>
          </p:cNvSpPr>
          <p:nvPr>
            <p:ph type="title"/>
          </p:nvPr>
        </p:nvSpPr>
        <p:spPr>
          <a:xfrm>
            <a:off x="430213" y="3221899"/>
            <a:ext cx="7656975" cy="1527097"/>
          </a:xfrm>
          <a:prstGeom prst="rect">
            <a:avLst/>
          </a:prstGeom>
        </p:spPr>
        <p:txBody>
          <a:bodyPr/>
          <a:lstStyle/>
          <a:p>
            <a:r>
              <a:rPr lang="en-ZA" sz="4800"/>
              <a:t>Brazil Engineering Hub</a:t>
            </a:r>
            <a:br>
              <a:rPr lang="en-ZA" sz="4800"/>
            </a:br>
            <a:r>
              <a:rPr lang="en-ZA" sz="4800"/>
              <a:t>Sumário da Solução</a:t>
            </a:r>
            <a:endParaRPr lang="en-US" sz="4800"/>
          </a:p>
        </p:txBody>
      </p:sp>
      <p:sp>
        <p:nvSpPr>
          <p:cNvPr id="3" name="Text Placeholder 2">
            <a:extLst>
              <a:ext uri="{FF2B5EF4-FFF2-40B4-BE49-F238E27FC236}">
                <a16:creationId xmlns:a16="http://schemas.microsoft.com/office/drawing/2014/main" id="{C3B7BC3A-EA1E-9533-8C85-610AF02E1122}"/>
              </a:ext>
            </a:extLst>
          </p:cNvPr>
          <p:cNvSpPr>
            <a:spLocks noGrp="1"/>
          </p:cNvSpPr>
          <p:nvPr>
            <p:ph type="body" sz="quarter" idx="10"/>
          </p:nvPr>
        </p:nvSpPr>
        <p:spPr>
          <a:xfrm>
            <a:off x="430213" y="4532686"/>
            <a:ext cx="11228387" cy="1791914"/>
          </a:xfrm>
          <a:prstGeom prst="rect">
            <a:avLst/>
          </a:prstGeom>
        </p:spPr>
        <p:txBody>
          <a:bodyPr numCol="1" anchor="t"/>
          <a:lstStyle/>
          <a:p>
            <a:pPr>
              <a:spcBef>
                <a:spcPts val="200"/>
              </a:spcBef>
              <a:spcAft>
                <a:spcPts val="0"/>
              </a:spcAft>
            </a:pPr>
            <a:r>
              <a:rPr lang="en-ZA" sz="1800" dirty="0"/>
              <a:t>Nome da Oportunidade:  PoC de Modernização de Aplicações Legadas — AVA Fabric Agents</a:t>
            </a:r>
          </a:p>
          <a:p>
            <a:pPr>
              <a:spcBef>
                <a:spcPts val="200"/>
              </a:spcBef>
              <a:spcAft>
                <a:spcPts val="0"/>
              </a:spcAft>
            </a:pPr>
            <a:r>
              <a:rPr lang="en-ZA" sz="1800" dirty="0"/>
              <a:t>Cliente: ABC Bank</a:t>
            </a:r>
          </a:p>
          <a:p>
            <a:pPr>
              <a:spcBef>
                <a:spcPts val="200"/>
              </a:spcBef>
              <a:spcAft>
                <a:spcPts val="0"/>
              </a:spcAft>
            </a:pPr>
            <a:r>
              <a:rPr lang="en-ZA" sz="1800" dirty="0"/>
              <a:t>SA responsável pelo Brazil Engineering Hub: Rafael S Almeida</a:t>
            </a:r>
          </a:p>
          <a:p>
            <a:pPr>
              <a:spcBef>
                <a:spcPts val="200"/>
              </a:spcBef>
              <a:spcAft>
                <a:spcPts val="0"/>
              </a:spcAft>
            </a:pPr>
            <a:endParaRPr lang="en-ZA" sz="1600" dirty="0"/>
          </a:p>
          <a:p>
            <a:pPr>
              <a:spcBef>
                <a:spcPts val="200"/>
              </a:spcBef>
              <a:spcAft>
                <a:spcPts val="0"/>
              </a:spcAft>
            </a:pPr>
            <a:r>
              <a:rPr lang="en-ZA" sz="1600" dirty="0"/>
              <a:t>Data:  21/08/2026</a:t>
            </a:r>
          </a:p>
          <a:p>
            <a:pPr>
              <a:spcBef>
                <a:spcPts val="200"/>
              </a:spcBef>
              <a:spcAft>
                <a:spcPts val="0"/>
              </a:spcAft>
            </a:pPr>
            <a:endParaRPr lang="en-ZA" sz="2000" dirty="0"/>
          </a:p>
        </p:txBody>
      </p:sp>
    </p:spTree>
    <p:extLst>
      <p:ext uri="{BB962C8B-B14F-4D97-AF65-F5344CB8AC3E}">
        <p14:creationId xmlns:p14="http://schemas.microsoft.com/office/powerpoint/2010/main" val="394638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EC40BFB8-CCA9-4FD1-B3D0-7715CE319E3D}"/>
              </a:ext>
            </a:extLst>
          </p:cNvPr>
          <p:cNvSpPr>
            <a:spLocks noGrp="1"/>
          </p:cNvSpPr>
          <p:nvPr>
            <p:ph type="title"/>
          </p:nvPr>
        </p:nvSpPr>
        <p:spPr>
          <a:xfrm>
            <a:off x="430213" y="100124"/>
            <a:ext cx="10270415" cy="603187"/>
          </a:xfrm>
        </p:spPr>
        <p:txBody>
          <a:bodyPr vert="horz" lIns="91440" tIns="45720" rIns="91440" bIns="45720" rtlCol="0" anchor="t">
            <a:noAutofit/>
          </a:bodyPr>
          <a:lstStyle/>
          <a:p>
            <a:pPr>
              <a:lnSpc>
                <a:spcPct val="100000"/>
              </a:lnSpc>
              <a:spcBef>
                <a:spcPts val="0"/>
              </a:spcBef>
              <a:spcAft>
                <a:spcPts val="0"/>
              </a:spcAft>
            </a:pPr>
            <a:r>
              <a:rPr lang="en-US" sz="3200" b="1">
                <a:latin typeface="Segoe UI" panose="020B0502040204020203" pitchFamily="34" charset="0"/>
                <a:cs typeface="Segoe UI" panose="020B0502040204020203" pitchFamily="34" charset="0"/>
              </a:rPr>
              <a:t>Version Control</a:t>
            </a:r>
          </a:p>
        </p:txBody>
      </p:sp>
      <p:graphicFrame>
        <p:nvGraphicFramePr>
          <p:cNvPr id="13" name="Content Placeholder 4">
            <a:extLst>
              <a:ext uri="{FF2B5EF4-FFF2-40B4-BE49-F238E27FC236}">
                <a16:creationId xmlns:a16="http://schemas.microsoft.com/office/drawing/2014/main" id="{A14B1F44-28D1-45D4-AA52-9EE99FB1D4AC}"/>
              </a:ext>
            </a:extLst>
          </p:cNvPr>
          <p:cNvGraphicFramePr>
            <a:graphicFrameLocks/>
          </p:cNvGraphicFramePr>
          <p:nvPr/>
        </p:nvGraphicFramePr>
        <p:xfrm>
          <a:off x="602901" y="1063197"/>
          <a:ext cx="10611892" cy="1828800"/>
        </p:xfrm>
        <a:graphic>
          <a:graphicData uri="http://schemas.openxmlformats.org/drawingml/2006/table">
            <a:tbl>
              <a:tblPr firstRow="1" bandRow="1">
                <a:tableStyleId>{EB344D84-9AFB-497E-A393-DC336BA19D2E}</a:tableStyleId>
              </a:tblPr>
              <a:tblGrid>
                <a:gridCol w="1142566">
                  <a:extLst>
                    <a:ext uri="{9D8B030D-6E8A-4147-A177-3AD203B41FA5}">
                      <a16:colId xmlns:a16="http://schemas.microsoft.com/office/drawing/2014/main" val="144799638"/>
                    </a:ext>
                  </a:extLst>
                </a:gridCol>
                <a:gridCol w="986298">
                  <a:extLst>
                    <a:ext uri="{9D8B030D-6E8A-4147-A177-3AD203B41FA5}">
                      <a16:colId xmlns:a16="http://schemas.microsoft.com/office/drawing/2014/main" val="495193253"/>
                    </a:ext>
                  </a:extLst>
                </a:gridCol>
                <a:gridCol w="1962215">
                  <a:extLst>
                    <a:ext uri="{9D8B030D-6E8A-4147-A177-3AD203B41FA5}">
                      <a16:colId xmlns:a16="http://schemas.microsoft.com/office/drawing/2014/main" val="3728884304"/>
                    </a:ext>
                  </a:extLst>
                </a:gridCol>
                <a:gridCol w="6520813">
                  <a:extLst>
                    <a:ext uri="{9D8B030D-6E8A-4147-A177-3AD203B41FA5}">
                      <a16:colId xmlns:a16="http://schemas.microsoft.com/office/drawing/2014/main" val="4078360702"/>
                    </a:ext>
                  </a:extLst>
                </a:gridCol>
              </a:tblGrid>
              <a:tr h="0">
                <a:tc>
                  <a:txBody>
                    <a:bodyPr/>
                    <a:lstStyle/>
                    <a:p>
                      <a:r>
                        <a:rPr lang="en-GB" sz="1200">
                          <a:latin typeface="Segoe UI Variable Text" pitchFamily="2" charset="0"/>
                        </a:rPr>
                        <a:t>Version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Author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Changes / Notes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763206497"/>
                  </a:ext>
                </a:extLst>
              </a:tr>
              <a:tr h="142702">
                <a:tc>
                  <a:txBody>
                    <a:bodyPr/>
                    <a:lstStyle/>
                    <a:p>
                      <a:pPr marL="0" algn="l" defTabSz="914400" rtl="0" eaLnBrk="1" latinLnBrk="0" hangingPunct="1"/>
                      <a:r>
                        <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rPr>
                        <a:t>&lt;V0.1&gt;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rPr>
                        <a:t>2026-08-21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rPr>
                        <a:t>Rafael S Almeida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rPr>
                        <a:t>Initial Version – Missing BEH Staffing</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63474"/>
                  </a:ext>
                </a:extLst>
              </a:tr>
              <a:tr h="142702">
                <a:tc>
                  <a:txBody>
                    <a:bodyPr/>
                    <a:lstStyle/>
                    <a:p>
                      <a:pPr marL="0" algn="l" defTabSz="914400" rtl="0" eaLnBrk="1" latinLnBrk="0" hangingPunct="1"/>
                      <a:endPar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71430"/>
                  </a:ext>
                </a:extLst>
              </a:tr>
              <a:tr h="142702">
                <a:tc>
                  <a:txBody>
                    <a:bodyPr/>
                    <a:lstStyle/>
                    <a:p>
                      <a:pPr marL="0" algn="l" defTabSz="914400" rtl="0" eaLnBrk="1" latinLnBrk="0" hangingPunct="1"/>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999725"/>
                  </a:ext>
                </a:extLst>
              </a:tr>
              <a:tr h="142702">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r h="142702">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dirty="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773475"/>
                  </a:ext>
                </a:extLst>
              </a:tr>
              <a:tr h="142702">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dirty="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8590794"/>
                  </a:ext>
                </a:extLst>
              </a:tr>
            </a:tbl>
          </a:graphicData>
        </a:graphic>
      </p:graphicFrame>
      <p:sp>
        <p:nvSpPr>
          <p:cNvPr id="19" name="Text Box 37">
            <a:extLst>
              <a:ext uri="{FF2B5EF4-FFF2-40B4-BE49-F238E27FC236}">
                <a16:creationId xmlns:a16="http://schemas.microsoft.com/office/drawing/2014/main" id="{62328EF0-99EB-4D09-9290-84EECD5E1C02}"/>
              </a:ext>
            </a:extLst>
          </p:cNvPr>
          <p:cNvSpPr txBox="1">
            <a:spLocks noChangeArrowheads="1"/>
          </p:cNvSpPr>
          <p:nvPr/>
        </p:nvSpPr>
        <p:spPr bwMode="auto">
          <a:xfrm>
            <a:off x="602901" y="817000"/>
            <a:ext cx="1738020" cy="215444"/>
          </a:xfrm>
          <a:prstGeom prst="rect">
            <a:avLst/>
          </a:prstGeom>
          <a:solidFill>
            <a:schemeClr val="bg1"/>
          </a:solidFill>
          <a:ln>
            <a:noFill/>
            <a:headEnd type="none" w="sm" len="sm"/>
            <a:tailEnd type="none" w="sm" len="sm"/>
          </a:ln>
          <a:effectLst/>
        </p:spPr>
        <p:style>
          <a:lnRef idx="1">
            <a:schemeClr val="dk1"/>
          </a:lnRef>
          <a:fillRef idx="2">
            <a:schemeClr val="dk1"/>
          </a:fillRef>
          <a:effectRef idx="1">
            <a:schemeClr val="dk1"/>
          </a:effectRef>
          <a:fontRef idx="minor">
            <a:schemeClr val="dk1"/>
          </a:fontRef>
        </p:style>
        <p:txBody>
          <a:bodyPr wrap="square" lIns="36000" tIns="0" rIns="36000" bIns="0">
            <a:spAutoFit/>
          </a:bodyPr>
          <a:lstStyle/>
          <a:p>
            <a:pPr>
              <a:defRPr/>
            </a:pPr>
            <a:r>
              <a:rPr lang="en-GB" sz="1400" b="1" kern="0">
                <a:solidFill>
                  <a:schemeClr val="tx1">
                    <a:lumMod val="50000"/>
                  </a:schemeClr>
                </a:solidFill>
                <a:latin typeface="Segoe UI Variable Text" pitchFamily="2" charset="0"/>
                <a:cs typeface="Segoe UI" panose="020B0502040204020203" pitchFamily="34" charset="0"/>
              </a:rPr>
              <a:t>Solution Plan</a:t>
            </a:r>
          </a:p>
        </p:txBody>
      </p:sp>
      <p:graphicFrame>
        <p:nvGraphicFramePr>
          <p:cNvPr id="20" name="Content Placeholder 4">
            <a:extLst>
              <a:ext uri="{FF2B5EF4-FFF2-40B4-BE49-F238E27FC236}">
                <a16:creationId xmlns:a16="http://schemas.microsoft.com/office/drawing/2014/main" id="{7ADA6EEC-4556-45A5-A438-BC8874A2C37B}"/>
              </a:ext>
            </a:extLst>
          </p:cNvPr>
          <p:cNvGraphicFramePr>
            <a:graphicFrameLocks/>
          </p:cNvGraphicFramePr>
          <p:nvPr/>
        </p:nvGraphicFramePr>
        <p:xfrm>
          <a:off x="619668" y="3730233"/>
          <a:ext cx="10595125" cy="1478280"/>
        </p:xfrm>
        <a:graphic>
          <a:graphicData uri="http://schemas.openxmlformats.org/drawingml/2006/table">
            <a:tbl>
              <a:tblPr firstRow="1" bandRow="1">
                <a:tableStyleId>{EB344D84-9AFB-497E-A393-DC336BA19D2E}</a:tableStyleId>
              </a:tblPr>
              <a:tblGrid>
                <a:gridCol w="1883388">
                  <a:extLst>
                    <a:ext uri="{9D8B030D-6E8A-4147-A177-3AD203B41FA5}">
                      <a16:colId xmlns:a16="http://schemas.microsoft.com/office/drawing/2014/main" val="144799638"/>
                    </a:ext>
                  </a:extLst>
                </a:gridCol>
                <a:gridCol w="792803">
                  <a:extLst>
                    <a:ext uri="{9D8B030D-6E8A-4147-A177-3AD203B41FA5}">
                      <a16:colId xmlns:a16="http://schemas.microsoft.com/office/drawing/2014/main" val="495193253"/>
                    </a:ext>
                  </a:extLst>
                </a:gridCol>
                <a:gridCol w="1607737">
                  <a:extLst>
                    <a:ext uri="{9D8B030D-6E8A-4147-A177-3AD203B41FA5}">
                      <a16:colId xmlns:a16="http://schemas.microsoft.com/office/drawing/2014/main" val="3728884304"/>
                    </a:ext>
                  </a:extLst>
                </a:gridCol>
                <a:gridCol w="6311197">
                  <a:extLst>
                    <a:ext uri="{9D8B030D-6E8A-4147-A177-3AD203B41FA5}">
                      <a16:colId xmlns:a16="http://schemas.microsoft.com/office/drawing/2014/main" val="4078360702"/>
                    </a:ext>
                  </a:extLst>
                </a:gridCol>
              </a:tblGrid>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200">
                          <a:latin typeface="Segoe UI Variable Text" pitchFamily="2" charset="0"/>
                        </a:rPr>
                        <a:t>File Name / Link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Date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Author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200">
                          <a:latin typeface="Segoe UI Variable Text" pitchFamily="2" charset="0"/>
                        </a:rPr>
                        <a:t>Description / Notes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763206497"/>
                  </a:ext>
                </a:extLst>
              </a:tr>
              <a:tr h="142702">
                <a:tc>
                  <a:txBody>
                    <a:bodyPr/>
                    <a:lstStyle/>
                    <a:p>
                      <a:pPr marL="0" algn="l" defTabSz="914400" rtl="0" eaLnBrk="1" latinLnBrk="0" hangingPunct="1"/>
                      <a:r>
                        <a:rPr lang="en-US" sz="1100" dirty="0">
                          <a:hlinkClick r:id="rId3"/>
                        </a:rPr>
                        <a:t>AEP - App Migration - Assessment</a:t>
                      </a:r>
                      <a:endPar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rPr>
                        <a:t>2026-08-21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rPr>
                        <a:t>Rafael Almeida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GB" sz="1100" b="0" i="0" u="none" strike="noStrike" kern="1200" cap="none" spc="0" normalizeH="0" baseline="0" dirty="0">
                          <a:ln>
                            <a:noFill/>
                          </a:ln>
                          <a:solidFill>
                            <a:srgbClr val="FF0000"/>
                          </a:solidFill>
                          <a:effectLst/>
                          <a:uLnTx/>
                          <a:uFillTx/>
                          <a:latin typeface="Segoe UI Variable Text" pitchFamily="2" charset="0"/>
                          <a:ea typeface="+mn-ea"/>
                          <a:cs typeface="+mn-cs"/>
                        </a:rPr>
                        <a:t>AEP based model, including BEH staff</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63474"/>
                  </a:ext>
                </a:extLst>
              </a:tr>
              <a:tr h="0">
                <a:tc>
                  <a:txBody>
                    <a:bodyPr/>
                    <a:lstStyle/>
                    <a:p>
                      <a:endParaRPr lang="en-US"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kumimoji="0" lang="en-GB" sz="1100" b="0" i="0" u="none" strike="noStrike" kern="1200" cap="none" spc="0" normalizeH="0" baseline="0">
                        <a:ln>
                          <a:noFill/>
                        </a:ln>
                        <a:solidFill>
                          <a:srgbClr val="FF0000"/>
                        </a:solidFill>
                        <a:effectLst/>
                        <a:uLnTx/>
                        <a:uFillTx/>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en-GB" sz="1100" kern="1200" dirty="0">
                        <a:solidFill>
                          <a:srgbClr val="4D4D4C"/>
                        </a:solidFill>
                        <a:latin typeface="Segoe UI Variable Text" pitchFamily="2" charset="0"/>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71430"/>
                  </a:ext>
                </a:extLst>
              </a:tr>
              <a:tr h="142702">
                <a:tc>
                  <a:txBody>
                    <a:bodyPr/>
                    <a:lstStyle/>
                    <a:p>
                      <a:endParaRPr lang="en-US"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999725"/>
                  </a:ext>
                </a:extLst>
              </a:tr>
              <a:tr h="142702">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GB" sz="110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dirty="0">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695736"/>
                  </a:ext>
                </a:extLst>
              </a:tr>
            </a:tbl>
          </a:graphicData>
        </a:graphic>
      </p:graphicFrame>
      <p:sp>
        <p:nvSpPr>
          <p:cNvPr id="21" name="Text Box 37">
            <a:extLst>
              <a:ext uri="{FF2B5EF4-FFF2-40B4-BE49-F238E27FC236}">
                <a16:creationId xmlns:a16="http://schemas.microsoft.com/office/drawing/2014/main" id="{43EEF6F5-44AD-4BD2-BC42-F99A17512F02}"/>
              </a:ext>
            </a:extLst>
          </p:cNvPr>
          <p:cNvSpPr txBox="1">
            <a:spLocks noChangeArrowheads="1"/>
          </p:cNvSpPr>
          <p:nvPr/>
        </p:nvSpPr>
        <p:spPr bwMode="auto">
          <a:xfrm>
            <a:off x="602901" y="3461980"/>
            <a:ext cx="2777548" cy="215444"/>
          </a:xfrm>
          <a:prstGeom prst="rect">
            <a:avLst/>
          </a:prstGeom>
          <a:solidFill>
            <a:schemeClr val="bg1"/>
          </a:solidFill>
          <a:ln>
            <a:noFill/>
            <a:headEnd type="none" w="sm" len="sm"/>
            <a:tailEnd type="none" w="sm" len="sm"/>
          </a:ln>
          <a:effectLst/>
        </p:spPr>
        <p:style>
          <a:lnRef idx="1">
            <a:schemeClr val="dk1"/>
          </a:lnRef>
          <a:fillRef idx="2">
            <a:schemeClr val="dk1"/>
          </a:fillRef>
          <a:effectRef idx="1">
            <a:schemeClr val="dk1"/>
          </a:effectRef>
          <a:fontRef idx="minor">
            <a:schemeClr val="dk1"/>
          </a:fontRef>
        </p:style>
        <p:txBody>
          <a:bodyPr wrap="square" lIns="36000" tIns="0" rIns="36000" bIns="0">
            <a:spAutoFit/>
          </a:bodyPr>
          <a:lstStyle>
            <a:defPPr>
              <a:defRPr lang="en-US"/>
            </a:defPPr>
            <a:lvl1pPr>
              <a:defRPr sz="1400" b="1" kern="0">
                <a:solidFill>
                  <a:schemeClr val="tx1">
                    <a:lumMod val="50000"/>
                  </a:schemeClr>
                </a:solidFill>
                <a:latin typeface="+mj-lt"/>
                <a:cs typeface="Segoe UI" panose="020B0502040204020203" pitchFamily="34" charset="0"/>
              </a:defRPr>
            </a:lvl1pPr>
          </a:lstStyle>
          <a:p>
            <a:r>
              <a:rPr lang="en-GB">
                <a:latin typeface="Segoe UI Variable Text" pitchFamily="2" charset="0"/>
              </a:rPr>
              <a:t>Critical Solution Artifacts</a:t>
            </a:r>
          </a:p>
        </p:txBody>
      </p:sp>
    </p:spTree>
    <p:extLst>
      <p:ext uri="{BB962C8B-B14F-4D97-AF65-F5344CB8AC3E}">
        <p14:creationId xmlns:p14="http://schemas.microsoft.com/office/powerpoint/2010/main" val="36907766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309DA7-7BF8-4786-68FE-29757129B008}"/>
              </a:ext>
            </a:extLst>
          </p:cNvPr>
          <p:cNvSpPr>
            <a:spLocks noGrp="1"/>
          </p:cNvSpPr>
          <p:nvPr>
            <p:ph type="title"/>
          </p:nvPr>
        </p:nvSpPr>
        <p:spPr/>
        <p:txBody>
          <a:bodyPr/>
          <a:lstStyle/>
          <a:p>
            <a:r>
              <a:rPr lang="en-US">
                <a:latin typeface="Segoe UI Semibold"/>
                <a:cs typeface="Segoe UI Semibold"/>
              </a:rPr>
              <a:t>Condições de Alocação do BEH</a:t>
            </a:r>
            <a:endParaRPr lang="en-US"/>
          </a:p>
        </p:txBody>
      </p:sp>
      <p:sp>
        <p:nvSpPr>
          <p:cNvPr id="4" name="Slide Number Placeholder 3">
            <a:extLst>
              <a:ext uri="{FF2B5EF4-FFF2-40B4-BE49-F238E27FC236}">
                <a16:creationId xmlns:a16="http://schemas.microsoft.com/office/drawing/2014/main" id="{C528B917-D321-F49D-0193-6E0B29D1DBEA}"/>
              </a:ext>
            </a:extLst>
          </p:cNvPr>
          <p:cNvSpPr>
            <a:spLocks noGrp="1"/>
          </p:cNvSpPr>
          <p:nvPr>
            <p:ph type="sldNum" sz="quarter" idx="10"/>
          </p:nvPr>
        </p:nvSpPr>
        <p:spPr/>
        <p:txBody>
          <a:bodyPr/>
          <a:lstStyle/>
          <a:p>
            <a:endParaRPr lang="en-US"/>
          </a:p>
        </p:txBody>
      </p:sp>
      <p:graphicFrame>
        <p:nvGraphicFramePr>
          <p:cNvPr id="5" name="Content Placeholder 4">
            <a:extLst>
              <a:ext uri="{FF2B5EF4-FFF2-40B4-BE49-F238E27FC236}">
                <a16:creationId xmlns:a16="http://schemas.microsoft.com/office/drawing/2014/main" id="{956DCBDF-D18A-DE81-87A1-4310F30528C3}"/>
              </a:ext>
            </a:extLst>
          </p:cNvPr>
          <p:cNvGraphicFramePr>
            <a:graphicFrameLocks noGrp="1"/>
          </p:cNvGraphicFramePr>
          <p:nvPr>
            <p:ph idx="1"/>
          </p:nvPr>
        </p:nvGraphicFramePr>
        <p:xfrm>
          <a:off x="692150" y="1280160"/>
          <a:ext cx="10783228" cy="5486400"/>
        </p:xfrm>
        <a:graphic>
          <a:graphicData uri="http://schemas.openxmlformats.org/drawingml/2006/table">
            <a:tbl>
              <a:tblPr firstRow="1" bandRow="1">
                <a:tableStyleId>{EB344D84-9AFB-497E-A393-DC336BA19D2E}</a:tableStyleId>
              </a:tblPr>
              <a:tblGrid>
                <a:gridCol w="2176678">
                  <a:extLst>
                    <a:ext uri="{9D8B030D-6E8A-4147-A177-3AD203B41FA5}">
                      <a16:colId xmlns:a16="http://schemas.microsoft.com/office/drawing/2014/main" val="144799638"/>
                    </a:ext>
                  </a:extLst>
                </a:gridCol>
                <a:gridCol w="8606550">
                  <a:extLst>
                    <a:ext uri="{9D8B030D-6E8A-4147-A177-3AD203B41FA5}">
                      <a16:colId xmlns:a16="http://schemas.microsoft.com/office/drawing/2014/main" val="495193253"/>
                    </a:ext>
                  </a:extLst>
                </a:gridCol>
              </a:tblGrid>
              <a:tr h="0">
                <a:tc>
                  <a:txBody>
                    <a:bodyPr/>
                    <a:lstStyle/>
                    <a:p>
                      <a:r>
                        <a:rPr lang="en-GB" sz="1800">
                          <a:latin typeface="Segoe UI Variable Text" pitchFamily="2" charset="0"/>
                        </a:rPr>
                        <a:t>Tema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800">
                          <a:latin typeface="Segoe UI Variable Text" pitchFamily="2" charset="0"/>
                        </a:rPr>
                        <a:t>Condição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763206497"/>
                  </a:ext>
                </a:extLst>
              </a:tr>
              <a:tr h="142702">
                <a:tc>
                  <a:txBody>
                    <a:bodyPr/>
                    <a:lstStyle/>
                    <a:p>
                      <a:pPr marL="0" algn="l" defTabSz="914400" rtl="0" eaLnBrk="1" latinLnBrk="0" hangingPunct="1"/>
                      <a:r>
                        <a:rPr kumimoji="0" lang="en-GB" sz="1600" b="0" i="0" u="none" strike="noStrike" kern="1200" cap="none" spc="0" normalizeH="0" baseline="0">
                          <a:ln>
                            <a:noFill/>
                          </a:ln>
                          <a:solidFill>
                            <a:schemeClr val="tx1"/>
                          </a:solidFill>
                          <a:effectLst/>
                          <a:uLnTx/>
                          <a:uFillTx/>
                          <a:latin typeface="Segoe UI Variable Text" pitchFamily="2" charset="0"/>
                          <a:ea typeface="+mn-ea"/>
                          <a:cs typeface="+mn-cs"/>
                        </a:rPr>
                        <a:t>Disponibilidade de recursos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US" sz="1600" b="0" i="0" u="none" strike="noStrike" kern="1200" cap="none" spc="0" normalizeH="0" baseline="0">
                          <a:ln>
                            <a:noFill/>
                          </a:ln>
                          <a:solidFill>
                            <a:schemeClr val="tx1"/>
                          </a:solidFill>
                          <a:effectLst/>
                          <a:uLnTx/>
                          <a:uFillTx/>
                          <a:latin typeface="Segoe UI Variable Text" pitchFamily="2" charset="0"/>
                          <a:ea typeface="+mn-ea"/>
                          <a:cs typeface="+mn-cs"/>
                        </a:rPr>
                        <a:t>Este sumário de solução não garante disponibilidade de recursos. A alocação do BEH deve ser confirmada na assinatura do contrato; o pod da AVA Fabric Factory é um serviço compartilhado, alocado por onda.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190747"/>
                  </a:ext>
                </a:extLst>
              </a:tr>
              <a:tr h="142702">
                <a:tc>
                  <a:txBody>
                    <a:bodyPr/>
                    <a:lstStyle/>
                    <a:p>
                      <a:pPr marL="0" algn="l" defTabSz="914400" rtl="0" eaLnBrk="1" latinLnBrk="0" hangingPunct="1"/>
                      <a:r>
                        <a:rPr kumimoji="0" lang="en-GB" sz="1600" b="0" i="0" u="none" strike="noStrike" kern="1200" cap="none" spc="0" normalizeH="0" baseline="0">
                          <a:ln>
                            <a:noFill/>
                          </a:ln>
                          <a:solidFill>
                            <a:schemeClr val="tx1"/>
                          </a:solidFill>
                          <a:effectLst/>
                          <a:uLnTx/>
                          <a:uFillTx/>
                          <a:latin typeface="Segoe UI Variable Text" pitchFamily="2" charset="0"/>
                          <a:ea typeface="+mn-ea"/>
                          <a:cs typeface="+mn-cs"/>
                        </a:rPr>
                        <a:t>Pedidos de prorrogação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US" sz="1600" b="0" i="0" u="none" strike="noStrike" kern="1200" cap="none" spc="0" normalizeH="0" baseline="0">
                          <a:ln>
                            <a:noFill/>
                          </a:ln>
                          <a:solidFill>
                            <a:schemeClr val="tx1"/>
                          </a:solidFill>
                          <a:effectLst/>
                          <a:uLnTx/>
                          <a:uFillTx/>
                          <a:latin typeface="Segoe UI Variable Text" pitchFamily="2" charset="0"/>
                          <a:ea typeface="+mn-ea"/>
                          <a:cs typeface="+mn-cs"/>
                        </a:rPr>
                        <a:t>Prorrogações de alocação devem ser solicitadas com no mínimo 4 semanas de antecedência. Estender a PoC além de 4 semanas reabre o preço fechado.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63474"/>
                  </a:ext>
                </a:extLst>
              </a:tr>
              <a:tr h="142702">
                <a:tc>
                  <a:txBody>
                    <a:bodyPr/>
                    <a:lstStyle/>
                    <a:p>
                      <a:r>
                        <a:rPr lang="en-GB" sz="1600">
                          <a:solidFill>
                            <a:schemeClr val="tx1"/>
                          </a:solidFill>
                          <a:latin typeface="Segoe UI Variable Text" pitchFamily="2" charset="0"/>
                        </a:rPr>
                        <a:t>Encerramento antecipado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600">
                          <a:solidFill>
                            <a:schemeClr val="tx1"/>
                          </a:solidFill>
                          <a:latin typeface="Segoe UI Variable Text" pitchFamily="2" charset="0"/>
                        </a:rPr>
                        <a:t>Em caso de encerramento antecipado, o aviso prévio remanescente é cobrado. Os artefatos já produzidos pelas fases executadas são entregues no estado em que se encontram.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71430"/>
                  </a:ext>
                </a:extLst>
              </a:tr>
              <a:tr h="142702">
                <a:tc>
                  <a:txBody>
                    <a:bodyPr/>
                    <a:lstStyle/>
                    <a:p>
                      <a:r>
                        <a:rPr lang="en-GB" sz="1600">
                          <a:solidFill>
                            <a:schemeClr val="tx1"/>
                          </a:solidFill>
                          <a:latin typeface="Segoe UI Variable Text" pitchFamily="2" charset="0"/>
                        </a:rPr>
                        <a:t>WBS e apropriação de horas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Os recursos precisam de uma WBS nível 2 alinhada à Avanade Brasil antes da mobilização. As horas são apropriadas conforme a tabela de Alocação BEH (800 h no total).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999725"/>
                  </a:ext>
                </a:extLst>
              </a:tr>
              <a:tr h="142702">
                <a:tc>
                  <a:txBody>
                    <a:bodyPr/>
                    <a:lstStyle/>
                    <a:p>
                      <a:r>
                        <a:rPr lang="en-GB" sz="1600">
                          <a:solidFill>
                            <a:schemeClr val="tx1"/>
                          </a:solidFill>
                          <a:latin typeface="Segoe UI Variable Text" pitchFamily="2" charset="0"/>
                        </a:rPr>
                        <a:t>Ambiente de execução da IA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O modelo de IA deve executar em ambiente aprovado pelo banco (tenant dedicado ou VPC do banco), definido e homologado na Semana 1 — o maior risco isolado de cronograma.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r h="142702">
                <a:tc>
                  <a:txBody>
                    <a:bodyPr/>
                    <a:lstStyle/>
                    <a:p>
                      <a:r>
                        <a:rPr lang="en-GB" sz="1600">
                          <a:solidFill>
                            <a:schemeClr val="tx1"/>
                          </a:solidFill>
                          <a:latin typeface="Segoe UI Variable Text" pitchFamily="2" charset="0"/>
                        </a:rPr>
                        <a:t>Código-fonte e propriedade intelectual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O banco concede acesso de leitura ao repositório legado. O código-fonte do cliente nunca é usado para treinamento de modelo. A propriedade intelectual dos artefatos gerados é do banco; a plataforma permanece da Avanade.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8461165"/>
                  </a:ext>
                </a:extLst>
              </a:tr>
              <a:tr h="142702">
                <a:tc>
                  <a:txBody>
                    <a:bodyPr/>
                    <a:lstStyle/>
                    <a:p>
                      <a:r>
                        <a:rPr lang="en-GB" sz="1600">
                          <a:solidFill>
                            <a:schemeClr val="tx1"/>
                          </a:solidFill>
                          <a:latin typeface="Segoe UI Variable Text" pitchFamily="2" charset="0"/>
                        </a:rPr>
                        <a:t>Congelamento da versão da plataforma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A versão da plataforma AVA Fabric fica congelada durante toda a PoC. Atualizações só são aplicadas após a apresentação executiva.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794895"/>
                  </a:ext>
                </a:extLst>
              </a:tr>
              <a:tr h="142702">
                <a:tc>
                  <a:txBody>
                    <a:bodyPr/>
                    <a:lstStyle/>
                    <a:p>
                      <a:r>
                        <a:rPr lang="en-GB" sz="1600">
                          <a:solidFill>
                            <a:schemeClr val="tx1"/>
                          </a:solidFill>
                          <a:latin typeface="Segoe UI Variable Text" pitchFamily="2" charset="0"/>
                        </a:rPr>
                        <a:t>Despesas incluídas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Infraestrutura Azure (~US$ 400 nas 4 semanas) e consumo do modelo de IA (~US$ 600) são repassados a custo.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3307357"/>
                  </a:ext>
                </a:extLst>
              </a:tr>
            </a:tbl>
          </a:graphicData>
        </a:graphic>
      </p:graphicFrame>
    </p:spTree>
    <p:extLst>
      <p:ext uri="{BB962C8B-B14F-4D97-AF65-F5344CB8AC3E}">
        <p14:creationId xmlns:p14="http://schemas.microsoft.com/office/powerpoint/2010/main" val="225526553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45ADD6-13CB-2149-649A-AC590EBD2EB7}"/>
              </a:ext>
            </a:extLst>
          </p:cNvPr>
          <p:cNvSpPr>
            <a:spLocks noGrp="1"/>
          </p:cNvSpPr>
          <p:nvPr>
            <p:ph type="sldNum" sz="quarter" idx="10"/>
          </p:nvPr>
        </p:nvSpPr>
        <p:spPr>
          <a:prstGeom prst="rect">
            <a:avLst/>
          </a:prstGeom>
        </p:spPr>
        <p:txBody>
          <a:bodyPr/>
          <a:lstStyle/>
          <a:p>
            <a:fld id="{3847DB54-D037-B84F-B6F1-2E8DA40D09AD}" type="slidenum">
              <a:rPr lang="en-US" smtClean="0"/>
              <a:pPr/>
              <a:t>4</a:t>
            </a:fld>
            <a:endParaRPr lang="en-US"/>
          </a:p>
        </p:txBody>
      </p:sp>
      <p:sp>
        <p:nvSpPr>
          <p:cNvPr id="4" name="Title 3">
            <a:extLst>
              <a:ext uri="{FF2B5EF4-FFF2-40B4-BE49-F238E27FC236}">
                <a16:creationId xmlns:a16="http://schemas.microsoft.com/office/drawing/2014/main" id="{602BB980-45D1-5472-F76C-BC266216AAED}"/>
              </a:ext>
            </a:extLst>
          </p:cNvPr>
          <p:cNvSpPr>
            <a:spLocks noGrp="1"/>
          </p:cNvSpPr>
          <p:nvPr>
            <p:ph type="title" idx="4294967295"/>
          </p:nvPr>
        </p:nvSpPr>
        <p:spPr>
          <a:xfrm>
            <a:off x="0" y="457200"/>
            <a:ext cx="11201400" cy="987425"/>
          </a:xfrm>
        </p:spPr>
        <p:txBody>
          <a:bodyPr/>
          <a:lstStyle/>
          <a:p>
            <a:r>
              <a:rPr lang="en-US" sz="4000"/>
              <a:t>BEH - Solução em uma Página</a:t>
            </a:r>
          </a:p>
        </p:txBody>
      </p:sp>
      <p:sp>
        <p:nvSpPr>
          <p:cNvPr id="11" name="Rectangle 10">
            <a:extLst>
              <a:ext uri="{FF2B5EF4-FFF2-40B4-BE49-F238E27FC236}">
                <a16:creationId xmlns:a16="http://schemas.microsoft.com/office/drawing/2014/main" id="{0909058C-6561-0720-BD51-46BE733F684F}"/>
              </a:ext>
            </a:extLst>
          </p:cNvPr>
          <p:cNvSpPr/>
          <p:nvPr/>
        </p:nvSpPr>
        <p:spPr>
          <a:xfrm>
            <a:off x="510582" y="1399079"/>
            <a:ext cx="3346584" cy="3939540"/>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300"/>
              </a:spcAft>
              <a:buFont typeface="Arial" panose="020B0604020202020204" pitchFamily="34" charset="0"/>
              <a:buChar char="•"/>
            </a:pPr>
            <a:r>
              <a:rPr lang="pt-BR" sz="1000" dirty="0">
                <a:latin typeface="Segoe UI"/>
                <a:cs typeface="Segoe UI"/>
              </a:rPr>
              <a:t>Realizar uma Prova de Conceito (PoC) de engenharia reversa em aplicações legadas desenvolvidas em Java, .NET e Visual Basic.</a:t>
            </a:r>
          </a:p>
          <a:p>
            <a:pPr marL="171450" indent="-171450">
              <a:spcAft>
                <a:spcPts val="300"/>
              </a:spcAft>
              <a:buFont typeface="Arial" panose="020B0604020202020204" pitchFamily="34" charset="0"/>
              <a:buChar char="•"/>
            </a:pPr>
            <a:r>
              <a:rPr lang="pt-BR" sz="1000" dirty="0">
                <a:latin typeface="Segoe UI"/>
                <a:cs typeface="Segoe UI"/>
              </a:rPr>
              <a:t>Produzir documentação técnica e inventário das aplicações com base na análise automatizada do código-fonte.</a:t>
            </a:r>
          </a:p>
          <a:p>
            <a:pPr marL="171450" indent="-171450">
              <a:spcAft>
                <a:spcPts val="300"/>
              </a:spcAft>
              <a:buFont typeface="Arial" panose="020B0604020202020204" pitchFamily="34" charset="0"/>
              <a:buChar char="•"/>
            </a:pPr>
            <a:r>
              <a:rPr lang="pt-BR" sz="1000" dirty="0">
                <a:latin typeface="Segoe UI"/>
                <a:cs typeface="Segoe UI"/>
              </a:rPr>
              <a:t>Mapear dependências, integrações e componentes arquiteturais críticos.</a:t>
            </a:r>
          </a:p>
          <a:p>
            <a:pPr marL="171450" indent="-171450">
              <a:spcAft>
                <a:spcPts val="300"/>
              </a:spcAft>
              <a:buFont typeface="Arial" panose="020B0604020202020204" pitchFamily="34" charset="0"/>
              <a:buChar char="•"/>
            </a:pPr>
            <a:r>
              <a:rPr lang="pt-BR" sz="1000" dirty="0">
                <a:latin typeface="Segoe UI"/>
                <a:cs typeface="Segoe UI"/>
              </a:rPr>
              <a:t>Avaliar padrões arquiteturais, tecnologias utilizadas e a estrutura dos sistemas.</a:t>
            </a:r>
          </a:p>
          <a:p>
            <a:pPr marL="171450" indent="-171450">
              <a:spcAft>
                <a:spcPts val="300"/>
              </a:spcAft>
              <a:buFont typeface="Arial" panose="020B0604020202020204" pitchFamily="34" charset="0"/>
              <a:buChar char="•"/>
            </a:pPr>
            <a:r>
              <a:rPr lang="pt-BR" sz="1000" dirty="0">
                <a:latin typeface="Segoe UI"/>
                <a:cs typeface="Segoe UI"/>
              </a:rPr>
              <a:t>Determinar o nível de complexidade e a prontidão das aplicações para processos de modernização.</a:t>
            </a:r>
          </a:p>
          <a:p>
            <a:pPr marL="171450" indent="-171450">
              <a:spcAft>
                <a:spcPts val="300"/>
              </a:spcAft>
              <a:buFont typeface="Arial" panose="020B0604020202020204" pitchFamily="34" charset="0"/>
              <a:buChar char="•"/>
            </a:pPr>
            <a:r>
              <a:rPr lang="pt-BR" sz="1000" dirty="0">
                <a:latin typeface="Segoe UI"/>
                <a:cs typeface="Segoe UI"/>
              </a:rPr>
              <a:t>Apoiar a definição do escopo de migração e a estimativa inicial de esforço e custos.</a:t>
            </a:r>
          </a:p>
          <a:p>
            <a:pPr marL="171450" indent="-171450">
              <a:spcAft>
                <a:spcPts val="300"/>
              </a:spcAft>
              <a:buFont typeface="Arial" panose="020B0604020202020204" pitchFamily="34" charset="0"/>
              <a:buChar char="•"/>
            </a:pPr>
            <a:r>
              <a:rPr lang="pt-BR" sz="1000" dirty="0">
                <a:latin typeface="Segoe UI"/>
                <a:cs typeface="Segoe UI"/>
              </a:rPr>
              <a:t>Elaborar um roadmap de alto nível para orientar futuras iniciativas de transformação tecnológica.</a:t>
            </a:r>
          </a:p>
          <a:p>
            <a:pPr marL="171450" indent="-171450">
              <a:spcAft>
                <a:spcPts val="300"/>
              </a:spcAft>
              <a:buFont typeface="Arial" panose="020B0604020202020204" pitchFamily="34" charset="0"/>
              <a:buChar char="•"/>
            </a:pPr>
            <a:r>
              <a:rPr lang="pt-BR" sz="1000" dirty="0">
                <a:latin typeface="Segoe UI"/>
                <a:cs typeface="Segoe UI"/>
              </a:rPr>
              <a:t>Recomendar abordagens e estratégias de modernização alinhadas às necessidades do negócio e aos objetivos técnicos.</a:t>
            </a:r>
          </a:p>
          <a:p>
            <a:pPr marL="171450" indent="-171450">
              <a:spcAft>
                <a:spcPts val="300"/>
              </a:spcAft>
              <a:buFont typeface="Arial" panose="020B0604020202020204" pitchFamily="34" charset="0"/>
              <a:buChar char="•"/>
            </a:pPr>
            <a:r>
              <a:rPr lang="pt-BR" sz="1000" dirty="0">
                <a:latin typeface="Segoe UI"/>
                <a:cs typeface="Segoe UI"/>
              </a:rPr>
              <a:t>Consolidar resultados, recomendações e artefatos gerados, fornecendo subsídios para tomada de decisão e planejamento das próximas fases da jornada de modernização</a:t>
            </a:r>
            <a:r>
              <a:rPr lang="en-US" sz="1000" dirty="0">
                <a:latin typeface="Segoe UI"/>
                <a:cs typeface="Segoe UI"/>
              </a:rPr>
              <a:t>.</a:t>
            </a:r>
            <a:endParaRPr lang="en-ZA" sz="1000" dirty="0">
              <a:latin typeface="Segoe UI"/>
              <a:cs typeface="Segoe UI"/>
            </a:endParaRPr>
          </a:p>
        </p:txBody>
      </p:sp>
      <p:sp>
        <p:nvSpPr>
          <p:cNvPr id="12" name="Rectangle 11">
            <a:extLst>
              <a:ext uri="{FF2B5EF4-FFF2-40B4-BE49-F238E27FC236}">
                <a16:creationId xmlns:a16="http://schemas.microsoft.com/office/drawing/2014/main" id="{5F400F18-F1CC-23B0-33DB-B3C76B306A0B}"/>
              </a:ext>
            </a:extLst>
          </p:cNvPr>
          <p:cNvSpPr/>
          <p:nvPr/>
        </p:nvSpPr>
        <p:spPr>
          <a:xfrm>
            <a:off x="4056822" y="1399079"/>
            <a:ext cx="3933401" cy="707886"/>
          </a:xfrm>
          <a:prstGeom prst="rect">
            <a:avLst/>
          </a:prstGeom>
        </p:spPr>
        <p:txBody>
          <a:bodyPr wrap="square" lIns="91440" tIns="45720" rIns="91440" bIns="45720" anchor="t">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en-US" sz="1000" dirty="0" err="1">
                <a:latin typeface="Segoe UI"/>
                <a:cs typeface="Segoe UI"/>
              </a:rPr>
              <a:t>Calibrada</a:t>
            </a:r>
            <a:r>
              <a:rPr lang="en-US" sz="1000" dirty="0">
                <a:latin typeface="Segoe UI"/>
                <a:cs typeface="Segoe UI"/>
              </a:rPr>
              <a:t> </a:t>
            </a:r>
            <a:r>
              <a:rPr lang="en-US" sz="1000" dirty="0" err="1">
                <a:latin typeface="Segoe UI"/>
                <a:cs typeface="Segoe UI"/>
              </a:rPr>
              <a:t>em</a:t>
            </a:r>
            <a:r>
              <a:rPr lang="en-US" sz="1000" dirty="0">
                <a:latin typeface="Segoe UI"/>
                <a:cs typeface="Segoe UI"/>
              </a:rPr>
              <a:t> </a:t>
            </a:r>
            <a:r>
              <a:rPr lang="en-US" sz="1000" dirty="0" err="1">
                <a:latin typeface="Segoe UI"/>
                <a:cs typeface="Segoe UI"/>
              </a:rPr>
              <a:t>execções</a:t>
            </a:r>
            <a:r>
              <a:rPr lang="en-US" sz="1000" dirty="0">
                <a:latin typeface="Segoe UI"/>
                <a:cs typeface="Segoe UI"/>
              </a:rPr>
              <a:t> completa da mesma </a:t>
            </a:r>
            <a:r>
              <a:rPr lang="en-US" sz="1000" dirty="0" err="1">
                <a:latin typeface="Segoe UI"/>
                <a:cs typeface="Segoe UI"/>
              </a:rPr>
              <a:t>esteira</a:t>
            </a:r>
            <a:r>
              <a:rPr lang="en-US" sz="1000" dirty="0">
                <a:latin typeface="Segoe UI"/>
                <a:cs typeface="Segoe UI"/>
              </a:rPr>
              <a:t> </a:t>
            </a:r>
          </a:p>
          <a:p>
            <a:pPr marL="171450" indent="-171450">
              <a:spcAft>
                <a:spcPts val="600"/>
              </a:spcAft>
              <a:buFont typeface="Arial" panose="020B0604020202020204" pitchFamily="34" charset="0"/>
              <a:buChar char="•"/>
            </a:pPr>
            <a:r>
              <a:rPr lang="en-US" sz="1000" dirty="0" err="1">
                <a:latin typeface="Segoe UI"/>
                <a:ea typeface="ＭＳ Ｐゴシック"/>
                <a:cs typeface="Segoe UI"/>
              </a:rPr>
              <a:t>Prazo</a:t>
            </a:r>
            <a:r>
              <a:rPr lang="en-US" sz="1000" dirty="0">
                <a:latin typeface="Segoe UI"/>
                <a:ea typeface="ＭＳ Ｐゴシック"/>
                <a:cs typeface="Segoe UI"/>
              </a:rPr>
              <a:t> </a:t>
            </a:r>
            <a:r>
              <a:rPr lang="en-US" sz="1000" dirty="0" err="1">
                <a:latin typeface="Segoe UI"/>
                <a:ea typeface="ＭＳ Ｐゴシック"/>
                <a:cs typeface="Segoe UI"/>
              </a:rPr>
              <a:t>fixo</a:t>
            </a:r>
            <a:r>
              <a:rPr lang="en-US" sz="1000" dirty="0">
                <a:latin typeface="Segoe UI"/>
                <a:ea typeface="ＭＳ Ｐゴシック"/>
                <a:cs typeface="Segoe UI"/>
              </a:rPr>
              <a:t> de 4 </a:t>
            </a:r>
            <a:r>
              <a:rPr lang="en-US" sz="1000" dirty="0" err="1">
                <a:latin typeface="Segoe UI"/>
                <a:ea typeface="ＭＳ Ｐゴシック"/>
                <a:cs typeface="Segoe UI"/>
              </a:rPr>
              <a:t>semanas</a:t>
            </a:r>
            <a:r>
              <a:rPr lang="en-US" sz="1000" dirty="0">
                <a:latin typeface="Segoe UI"/>
                <a:ea typeface="ＭＳ Ｐゴシック"/>
                <a:cs typeface="Segoe UI"/>
              </a:rPr>
              <a:t>; </a:t>
            </a:r>
            <a:r>
              <a:rPr lang="en-US" sz="1000" dirty="0" err="1">
                <a:latin typeface="Segoe UI"/>
                <a:ea typeface="ＭＳ Ｐゴシック"/>
                <a:cs typeface="Segoe UI"/>
              </a:rPr>
              <a:t>preço</a:t>
            </a:r>
            <a:r>
              <a:rPr lang="en-US" sz="1000" dirty="0">
                <a:latin typeface="Segoe UI"/>
                <a:ea typeface="ＭＳ Ｐゴシック"/>
                <a:cs typeface="Segoe UI"/>
              </a:rPr>
              <a:t> </a:t>
            </a:r>
            <a:r>
              <a:rPr lang="en-US" sz="1000" dirty="0" err="1">
                <a:latin typeface="Segoe UI"/>
                <a:ea typeface="ＭＳ Ｐゴシック"/>
                <a:cs typeface="Segoe UI"/>
              </a:rPr>
              <a:t>fechado</a:t>
            </a:r>
            <a:endParaRPr lang="en-US" sz="1000" dirty="0">
              <a:latin typeface="Segoe UI"/>
              <a:ea typeface="ＭＳ Ｐゴシック"/>
              <a:cs typeface="Segoe UI"/>
            </a:endParaRPr>
          </a:p>
          <a:p>
            <a:pPr marL="171450" indent="-171450">
              <a:spcAft>
                <a:spcPts val="600"/>
              </a:spcAft>
              <a:buFont typeface="Arial" panose="020B0604020202020204" pitchFamily="34" charset="0"/>
              <a:buChar char="•"/>
            </a:pPr>
            <a:endParaRPr lang="en-US" sz="1000" dirty="0">
              <a:latin typeface="Segoe UI"/>
              <a:cs typeface="Segoe UI"/>
            </a:endParaRPr>
          </a:p>
        </p:txBody>
      </p:sp>
      <p:sp>
        <p:nvSpPr>
          <p:cNvPr id="13" name="Rectangle 12">
            <a:extLst>
              <a:ext uri="{FF2B5EF4-FFF2-40B4-BE49-F238E27FC236}">
                <a16:creationId xmlns:a16="http://schemas.microsoft.com/office/drawing/2014/main" id="{4185CDF1-3979-21C1-E153-06AFAAFFAED2}"/>
              </a:ext>
            </a:extLst>
          </p:cNvPr>
          <p:cNvSpPr/>
          <p:nvPr/>
        </p:nvSpPr>
        <p:spPr>
          <a:xfrm>
            <a:off x="8280125" y="1399080"/>
            <a:ext cx="3456000" cy="2092881"/>
          </a:xfrm>
          <a:prstGeom prst="rect">
            <a:avLst/>
          </a:prstGeom>
        </p:spPr>
        <p:txBody>
          <a:bodyPr wrap="square" lIns="91440" tIns="45720" rIns="91440" bIns="45720" anchor="t">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pt-BR" sz="1000" dirty="0">
                <a:latin typeface="Segoe UI"/>
                <a:cs typeface="Segoe UI"/>
              </a:rPr>
              <a:t>Inventário da aplicação</a:t>
            </a:r>
          </a:p>
          <a:p>
            <a:pPr marL="171450" indent="-171450">
              <a:spcAft>
                <a:spcPts val="600"/>
              </a:spcAft>
              <a:buFont typeface="Arial" panose="020B0604020202020204" pitchFamily="34" charset="0"/>
              <a:buChar char="•"/>
            </a:pPr>
            <a:r>
              <a:rPr lang="pt-BR" sz="1000" dirty="0">
                <a:latin typeface="Segoe UI"/>
                <a:cs typeface="Segoe UI"/>
              </a:rPr>
              <a:t>Catálogo de regras de negócio</a:t>
            </a:r>
          </a:p>
          <a:p>
            <a:pPr marL="171450" indent="-171450">
              <a:spcAft>
                <a:spcPts val="600"/>
              </a:spcAft>
              <a:buFont typeface="Arial" panose="020B0604020202020204" pitchFamily="34" charset="0"/>
              <a:buChar char="•"/>
            </a:pPr>
            <a:r>
              <a:rPr lang="pt-BR" sz="1000" dirty="0">
                <a:latin typeface="Segoe UI"/>
                <a:cs typeface="Segoe UI"/>
              </a:rPr>
              <a:t> Arquitetura AS-IS e TO-BE</a:t>
            </a:r>
          </a:p>
          <a:p>
            <a:pPr>
              <a:spcAft>
                <a:spcPts val="600"/>
              </a:spcAft>
            </a:pPr>
            <a:r>
              <a:rPr lang="pt-BR" sz="1000" dirty="0">
                <a:latin typeface="Segoe UI"/>
                <a:cs typeface="Segoe UI"/>
              </a:rPr>
              <a:t>• Documentação arquitetural: </a:t>
            </a:r>
          </a:p>
          <a:p>
            <a:pPr>
              <a:spcAft>
                <a:spcPts val="600"/>
              </a:spcAft>
            </a:pPr>
            <a:r>
              <a:rPr lang="pt-BR" sz="1000" dirty="0">
                <a:latin typeface="Segoe UI"/>
                <a:cs typeface="Segoe UI"/>
              </a:rPr>
              <a:t>  ○ Diagramas MER</a:t>
            </a:r>
          </a:p>
          <a:p>
            <a:pPr>
              <a:spcAft>
                <a:spcPts val="600"/>
              </a:spcAft>
            </a:pPr>
            <a:r>
              <a:rPr lang="pt-BR" sz="1000" dirty="0">
                <a:latin typeface="Segoe UI"/>
                <a:cs typeface="Segoe UI"/>
              </a:rPr>
              <a:t>  ○ Diagramas de Contexto</a:t>
            </a:r>
          </a:p>
          <a:p>
            <a:pPr>
              <a:spcAft>
                <a:spcPts val="600"/>
              </a:spcAft>
            </a:pPr>
            <a:r>
              <a:rPr lang="pt-BR" sz="1000" dirty="0">
                <a:latin typeface="Segoe UI"/>
                <a:cs typeface="Segoe UI"/>
              </a:rPr>
              <a:t>  ○ Diagramas de Componentes</a:t>
            </a:r>
          </a:p>
          <a:p>
            <a:pPr>
              <a:spcAft>
                <a:spcPts val="600"/>
              </a:spcAft>
            </a:pPr>
            <a:r>
              <a:rPr lang="pt-BR" sz="1000" dirty="0">
                <a:latin typeface="Segoe UI"/>
                <a:cs typeface="Segoe UI"/>
              </a:rPr>
              <a:t>  ○ Blueprint de Arquitetura</a:t>
            </a:r>
          </a:p>
          <a:p>
            <a:pPr>
              <a:spcAft>
                <a:spcPts val="600"/>
              </a:spcAft>
            </a:pPr>
            <a:r>
              <a:rPr lang="pt-BR" sz="1000" dirty="0">
                <a:latin typeface="Segoe UI"/>
                <a:cs typeface="Segoe UI"/>
              </a:rPr>
              <a:t>• Relatório Executivo</a:t>
            </a:r>
            <a:endParaRPr lang="en-US" sz="1000" dirty="0">
              <a:latin typeface="Segoe UI"/>
              <a:cs typeface="Segoe UI"/>
            </a:endParaRPr>
          </a:p>
        </p:txBody>
      </p:sp>
      <p:cxnSp>
        <p:nvCxnSpPr>
          <p:cNvPr id="15" name="Straight Connector 14">
            <a:extLst>
              <a:ext uri="{FF2B5EF4-FFF2-40B4-BE49-F238E27FC236}">
                <a16:creationId xmlns:a16="http://schemas.microsoft.com/office/drawing/2014/main" id="{4FDEADD4-2AB8-DE9E-6073-2D2D41FC98D1}"/>
              </a:ext>
            </a:extLst>
          </p:cNvPr>
          <p:cNvCxnSpPr/>
          <p:nvPr/>
        </p:nvCxnSpPr>
        <p:spPr>
          <a:xfrm>
            <a:off x="3871661" y="1494329"/>
            <a:ext cx="0" cy="386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D900215-9759-86CD-86EF-4518BDBABB14}"/>
              </a:ext>
            </a:extLst>
          </p:cNvPr>
          <p:cNvCxnSpPr/>
          <p:nvPr/>
        </p:nvCxnSpPr>
        <p:spPr>
          <a:xfrm>
            <a:off x="8135179" y="1494329"/>
            <a:ext cx="0" cy="386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6088C28-AFAD-3D45-E544-36D03DF6BFAF}"/>
              </a:ext>
            </a:extLst>
          </p:cNvPr>
          <p:cNvSpPr txBox="1"/>
          <p:nvPr/>
        </p:nvSpPr>
        <p:spPr>
          <a:xfrm>
            <a:off x="557476" y="1067422"/>
            <a:ext cx="806631" cy="369332"/>
          </a:xfrm>
          <a:prstGeom prst="rect">
            <a:avLst/>
          </a:prstGeom>
          <a:noFill/>
        </p:spPr>
        <p:txBody>
          <a:bodyPr wrap="none" rtlCol="0">
            <a:spAutoFit/>
          </a:bodyPr>
          <a:lstStyle/>
          <a:p>
            <a:r>
              <a:rPr lang="en-US"/>
              <a:t>Escopo</a:t>
            </a:r>
          </a:p>
        </p:txBody>
      </p:sp>
      <p:sp>
        <p:nvSpPr>
          <p:cNvPr id="18" name="TextBox 17">
            <a:extLst>
              <a:ext uri="{FF2B5EF4-FFF2-40B4-BE49-F238E27FC236}">
                <a16:creationId xmlns:a16="http://schemas.microsoft.com/office/drawing/2014/main" id="{CD347684-FB4B-E411-A1D2-02AF292B19F9}"/>
              </a:ext>
            </a:extLst>
          </p:cNvPr>
          <p:cNvSpPr txBox="1"/>
          <p:nvPr/>
        </p:nvSpPr>
        <p:spPr>
          <a:xfrm>
            <a:off x="4314428" y="1067422"/>
            <a:ext cx="1813317" cy="369332"/>
          </a:xfrm>
          <a:prstGeom prst="rect">
            <a:avLst/>
          </a:prstGeom>
          <a:noFill/>
        </p:spPr>
        <p:txBody>
          <a:bodyPr wrap="none" rtlCol="0">
            <a:spAutoFit/>
          </a:bodyPr>
          <a:lstStyle/>
          <a:p>
            <a:r>
              <a:rPr lang="en-US"/>
              <a:t>Base da Estimativa</a:t>
            </a:r>
          </a:p>
        </p:txBody>
      </p:sp>
      <p:sp>
        <p:nvSpPr>
          <p:cNvPr id="19" name="TextBox 18">
            <a:extLst>
              <a:ext uri="{FF2B5EF4-FFF2-40B4-BE49-F238E27FC236}">
                <a16:creationId xmlns:a16="http://schemas.microsoft.com/office/drawing/2014/main" id="{A76766A5-5575-6251-4E29-F67860C62017}"/>
              </a:ext>
            </a:extLst>
          </p:cNvPr>
          <p:cNvSpPr txBox="1"/>
          <p:nvPr/>
        </p:nvSpPr>
        <p:spPr>
          <a:xfrm>
            <a:off x="8280125" y="1067422"/>
            <a:ext cx="1125821" cy="369332"/>
          </a:xfrm>
          <a:prstGeom prst="rect">
            <a:avLst/>
          </a:prstGeom>
          <a:noFill/>
        </p:spPr>
        <p:txBody>
          <a:bodyPr wrap="none" rtlCol="0">
            <a:spAutoFit/>
          </a:bodyPr>
          <a:lstStyle/>
          <a:p>
            <a:r>
              <a:rPr lang="en-US"/>
              <a:t>Resultado</a:t>
            </a:r>
          </a:p>
        </p:txBody>
      </p:sp>
      <p:sp>
        <p:nvSpPr>
          <p:cNvPr id="21" name="TextBox 20">
            <a:extLst>
              <a:ext uri="{FF2B5EF4-FFF2-40B4-BE49-F238E27FC236}">
                <a16:creationId xmlns:a16="http://schemas.microsoft.com/office/drawing/2014/main" id="{4A480478-F190-4E63-8343-C879AF596250}"/>
              </a:ext>
            </a:extLst>
          </p:cNvPr>
          <p:cNvSpPr txBox="1"/>
          <p:nvPr/>
        </p:nvSpPr>
        <p:spPr>
          <a:xfrm>
            <a:off x="4247322" y="2751118"/>
            <a:ext cx="1372363" cy="369332"/>
          </a:xfrm>
          <a:prstGeom prst="rect">
            <a:avLst/>
          </a:prstGeom>
          <a:noFill/>
        </p:spPr>
        <p:txBody>
          <a:bodyPr wrap="none" rtlCol="0">
            <a:spAutoFit/>
          </a:bodyPr>
          <a:lstStyle/>
          <a:p>
            <a:r>
              <a:rPr lang="en-US"/>
              <a:t>Volumetria</a:t>
            </a:r>
          </a:p>
        </p:txBody>
      </p:sp>
      <p:sp>
        <p:nvSpPr>
          <p:cNvPr id="22" name="Rectangle 21">
            <a:extLst>
              <a:ext uri="{FF2B5EF4-FFF2-40B4-BE49-F238E27FC236}">
                <a16:creationId xmlns:a16="http://schemas.microsoft.com/office/drawing/2014/main" id="{C5DAF829-ED23-17E0-AC0F-8A0281BC8C6A}"/>
              </a:ext>
            </a:extLst>
          </p:cNvPr>
          <p:cNvSpPr/>
          <p:nvPr/>
        </p:nvSpPr>
        <p:spPr>
          <a:xfrm>
            <a:off x="3886157" y="3120450"/>
            <a:ext cx="4234525" cy="3280350"/>
          </a:xfrm>
          <a:prstGeom prst="rect">
            <a:avLst/>
          </a:prstGeom>
        </p:spPr>
        <p:txBody>
          <a:bodyPr wrap="none" numCol="2" spcCol="180000">
            <a:no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en-US" sz="900" dirty="0">
                <a:latin typeface="Segoe UI"/>
                <a:cs typeface="Segoe UI"/>
              </a:rPr>
              <a:t>Volumetria da execução de referência (base da estimativa):</a:t>
            </a:r>
          </a:p>
          <a:p>
            <a:pPr marL="171450" indent="-171450">
              <a:spcAft>
                <a:spcPts val="600"/>
              </a:spcAft>
              <a:buFont typeface="Arial" panose="020B0604020202020204" pitchFamily="34" charset="0"/>
              <a:buChar char="•"/>
            </a:pPr>
            <a:r>
              <a:rPr lang="en-US" sz="900" dirty="0">
                <a:latin typeface="Segoe UI"/>
                <a:cs typeface="Segoe UI"/>
              </a:rPr>
              <a:t>254.001 LOC · 1.731 arquivos · 1.998 classes</a:t>
            </a:r>
          </a:p>
          <a:p>
            <a:pPr marL="171450" indent="-171450">
              <a:spcAft>
                <a:spcPts val="600"/>
              </a:spcAft>
              <a:buFont typeface="Arial" panose="020B0604020202020204" pitchFamily="34" charset="0"/>
              <a:buChar char="•"/>
            </a:pPr>
            <a:r>
              <a:rPr lang="en-US" sz="900" dirty="0">
                <a:latin typeface="Segoe UI"/>
                <a:cs typeface="Segoe UI"/>
              </a:rPr>
              <a:t>15.785 procedimentos/métodos mapeados</a:t>
            </a:r>
          </a:p>
          <a:p>
            <a:pPr marL="171450" indent="-171450">
              <a:spcAft>
                <a:spcPts val="600"/>
              </a:spcAft>
              <a:buFont typeface="Arial" panose="020B0604020202020204" pitchFamily="34" charset="0"/>
              <a:buChar char="•"/>
            </a:pPr>
            <a:r>
              <a:rPr lang="en-US" sz="900" dirty="0">
                <a:latin typeface="Segoe UI"/>
                <a:cs typeface="Segoe UI"/>
              </a:rPr>
              <a:t>436 regras de negócio catalogadas (de 561 candidatas)</a:t>
            </a:r>
          </a:p>
          <a:p>
            <a:pPr marL="171450" indent="-171450">
              <a:spcAft>
                <a:spcPts val="600"/>
              </a:spcAft>
              <a:buFont typeface="Arial" panose="020B0604020202020204" pitchFamily="34" charset="0"/>
              <a:buChar char="•"/>
            </a:pPr>
            <a:r>
              <a:rPr lang="en-US" sz="900" dirty="0">
                <a:latin typeface="Segoe UI"/>
                <a:cs typeface="Segoe UI"/>
              </a:rPr>
              <a:t>10 bounded contexts · 2 god services</a:t>
            </a:r>
          </a:p>
          <a:p>
            <a:pPr marL="171450" indent="-171450">
              <a:spcAft>
                <a:spcPts val="600"/>
              </a:spcAft>
              <a:buFont typeface="Arial" panose="020B0604020202020204" pitchFamily="34" charset="0"/>
              <a:buChar char="•"/>
            </a:pPr>
            <a:r>
              <a:rPr lang="en-US" sz="900" dirty="0">
                <a:latin typeface="Segoe UI"/>
                <a:cs typeface="Segoe UI"/>
              </a:rPr>
              <a:t>8 APIs externas · 16 plugins · ~80 tabelas</a:t>
            </a:r>
          </a:p>
          <a:p>
            <a:pPr marL="171450" indent="-171450">
              <a:spcAft>
                <a:spcPts val="600"/>
              </a:spcAft>
              <a:buFont typeface="Arial" panose="020B0604020202020204" pitchFamily="34" charset="0"/>
              <a:buChar char="•"/>
            </a:pPr>
            <a:r>
              <a:rPr lang="en-US" sz="900" dirty="0">
                <a:latin typeface="Segoe UI"/>
                <a:cs typeface="Segoe UI"/>
              </a:rPr>
              <a:t>394 tasks · 2.991 arestas de dependência · 15 ondas</a:t>
            </a:r>
          </a:p>
          <a:p>
            <a:pPr marL="171450" indent="-171450">
              <a:spcAft>
                <a:spcPts val="600"/>
              </a:spcAft>
              <a:buFont typeface="Arial" panose="020B0604020202020204" pitchFamily="34" charset="0"/>
              <a:buChar char="•"/>
            </a:pPr>
            <a:r>
              <a:rPr lang="en-US" sz="900" dirty="0">
                <a:latin typeface="Segoe UI"/>
                <a:cs typeface="Segoe UI"/>
              </a:rPr>
              <a:t>232 artefatos / 82 MB entregues</a:t>
            </a:r>
          </a:p>
          <a:p>
            <a:pPr marL="171450" indent="-171450">
              <a:spcAft>
                <a:spcPts val="600"/>
              </a:spcAft>
              <a:buFont typeface="Arial" panose="020B0604020202020204" pitchFamily="34" charset="0"/>
              <a:buChar char="•"/>
            </a:pPr>
            <a:r>
              <a:rPr lang="en-US" sz="900" dirty="0">
                <a:latin typeface="Segoe UI"/>
                <a:cs typeface="Segoe UI"/>
              </a:rPr>
              <a:t>F0→F3S em ≈ 2 h 20 min de máquina</a:t>
            </a:r>
          </a:p>
          <a:p>
            <a:pPr marL="171450" indent="-171450">
              <a:spcAft>
                <a:spcPts val="600"/>
              </a:spcAft>
              <a:buFont typeface="Arial" panose="020B0604020202020204" pitchFamily="34" charset="0"/>
              <a:buChar char="•"/>
            </a:pPr>
            <a:r>
              <a:rPr lang="en-US" sz="900" dirty="0">
                <a:latin typeface="Segoe UI"/>
                <a:cs typeface="Segoe UI"/>
              </a:rPr>
              <a:t>Estimativa formal: 3.323 h · 892 FP</a:t>
            </a:r>
          </a:p>
          <a:p>
            <a:pPr marL="171450" indent="-171450">
              <a:spcAft>
                <a:spcPts val="600"/>
              </a:spcAft>
              <a:buFont typeface="Arial" panose="020B0604020202020204" pitchFamily="34" charset="0"/>
              <a:buChar char="•"/>
            </a:pPr>
            <a:r>
              <a:rPr lang="en-US" sz="900" dirty="0">
                <a:latin typeface="Segoe UI"/>
                <a:cs typeface="Segoe UI"/>
              </a:rPr>
              <a:t>A PoC pressupõe aplicação de porte igual ou menor; acima de 400 KLOC ou 15+ BCs exige redimensionamento.</a:t>
            </a:r>
          </a:p>
        </p:txBody>
      </p:sp>
    </p:spTree>
    <p:extLst>
      <p:ext uri="{BB962C8B-B14F-4D97-AF65-F5344CB8AC3E}">
        <p14:creationId xmlns:p14="http://schemas.microsoft.com/office/powerpoint/2010/main" val="31613084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B1138-E84E-9B62-E1C0-D877E55F8FFF}"/>
              </a:ext>
            </a:extLst>
          </p:cNvPr>
          <p:cNvSpPr>
            <a:spLocks noGrp="1"/>
          </p:cNvSpPr>
          <p:nvPr>
            <p:ph type="title"/>
          </p:nvPr>
        </p:nvSpPr>
        <p:spPr/>
        <p:txBody>
          <a:bodyPr/>
          <a:lstStyle/>
          <a:p>
            <a:r>
              <a:rPr lang="en-US"/>
              <a:t>Cronograma Macro</a:t>
            </a:r>
          </a:p>
        </p:txBody>
      </p:sp>
      <p:sp>
        <p:nvSpPr>
          <p:cNvPr id="3" name="Text Placeholder 2">
            <a:extLst>
              <a:ext uri="{FF2B5EF4-FFF2-40B4-BE49-F238E27FC236}">
                <a16:creationId xmlns:a16="http://schemas.microsoft.com/office/drawing/2014/main" id="{92413943-E89C-62B8-4E7B-C242DC30E8C1}"/>
              </a:ext>
            </a:extLst>
          </p:cNvPr>
          <p:cNvSpPr>
            <a:spLocks noGrp="1"/>
          </p:cNvSpPr>
          <p:nvPr>
            <p:ph type="body" sz="quarter" idx="12"/>
          </p:nvPr>
        </p:nvSpPr>
        <p:spPr>
          <a:xfrm>
            <a:off x="457888" y="897083"/>
            <a:ext cx="11201588" cy="381000"/>
          </a:xfrm>
        </p:spPr>
        <p:txBody>
          <a:bodyPr/>
          <a:lstStyle/>
          <a:p>
            <a:r>
              <a:rPr lang="en-US" dirty="0" err="1"/>
              <a:t>Cronograma</a:t>
            </a:r>
            <a:r>
              <a:rPr lang="en-US" dirty="0"/>
              <a:t> APENAS </a:t>
            </a:r>
            <a:r>
              <a:rPr lang="en-US" dirty="0" err="1"/>
              <a:t>indicativo</a:t>
            </a:r>
            <a:r>
              <a:rPr lang="en-US" dirty="0"/>
              <a:t> — PoC de 4 </a:t>
            </a:r>
            <a:r>
              <a:rPr lang="en-US" dirty="0" err="1"/>
              <a:t>semanas</a:t>
            </a:r>
            <a:r>
              <a:rPr lang="en-US" dirty="0"/>
              <a:t> com </a:t>
            </a:r>
            <a:r>
              <a:rPr lang="en-US" dirty="0" err="1"/>
              <a:t>escopo</a:t>
            </a:r>
            <a:r>
              <a:rPr lang="en-US" dirty="0"/>
              <a:t> </a:t>
            </a:r>
            <a:r>
              <a:rPr lang="en-US" dirty="0" err="1"/>
              <a:t>fechado</a:t>
            </a:r>
            <a:endParaRPr lang="en-US" dirty="0"/>
          </a:p>
        </p:txBody>
      </p:sp>
      <p:graphicFrame>
        <p:nvGraphicFramePr>
          <p:cNvPr id="32" name="Table 31">
            <a:extLst>
              <a:ext uri="{FF2B5EF4-FFF2-40B4-BE49-F238E27FC236}">
                <a16:creationId xmlns:a16="http://schemas.microsoft.com/office/drawing/2014/main" id="{88BDAB23-82CF-446D-66CD-C71EA52F5AB4}"/>
              </a:ext>
            </a:extLst>
          </p:cNvPr>
          <p:cNvGraphicFramePr>
            <a:graphicFrameLocks noGrp="1"/>
          </p:cNvGraphicFramePr>
          <p:nvPr>
            <p:extLst>
              <p:ext uri="{D42A27DB-BD31-4B8C-83A1-F6EECF244321}">
                <p14:modId xmlns:p14="http://schemas.microsoft.com/office/powerpoint/2010/main" val="3752712587"/>
              </p:ext>
            </p:extLst>
          </p:nvPr>
        </p:nvGraphicFramePr>
        <p:xfrm>
          <a:off x="541900" y="2109995"/>
          <a:ext cx="10844784" cy="3930373"/>
        </p:xfrm>
        <a:graphic>
          <a:graphicData uri="http://schemas.openxmlformats.org/drawingml/2006/table">
            <a:tbl>
              <a:tblPr firstRow="1" bandRow="1">
                <a:tableStyleId>{073A0DAA-6AF3-43AB-8588-CEC1D06C72B9}</a:tableStyleId>
              </a:tblPr>
              <a:tblGrid>
                <a:gridCol w="2377440">
                  <a:extLst>
                    <a:ext uri="{9D8B030D-6E8A-4147-A177-3AD203B41FA5}">
                      <a16:colId xmlns:a16="http://schemas.microsoft.com/office/drawing/2014/main" val="3631347322"/>
                    </a:ext>
                  </a:extLst>
                </a:gridCol>
                <a:gridCol w="2116836">
                  <a:extLst>
                    <a:ext uri="{9D8B030D-6E8A-4147-A177-3AD203B41FA5}">
                      <a16:colId xmlns:a16="http://schemas.microsoft.com/office/drawing/2014/main" val="1558903175"/>
                    </a:ext>
                  </a:extLst>
                </a:gridCol>
                <a:gridCol w="2116836">
                  <a:extLst>
                    <a:ext uri="{9D8B030D-6E8A-4147-A177-3AD203B41FA5}">
                      <a16:colId xmlns:a16="http://schemas.microsoft.com/office/drawing/2014/main" val="626109664"/>
                    </a:ext>
                  </a:extLst>
                </a:gridCol>
                <a:gridCol w="2116836">
                  <a:extLst>
                    <a:ext uri="{9D8B030D-6E8A-4147-A177-3AD203B41FA5}">
                      <a16:colId xmlns:a16="http://schemas.microsoft.com/office/drawing/2014/main" val="3547638978"/>
                    </a:ext>
                  </a:extLst>
                </a:gridCol>
                <a:gridCol w="2116836">
                  <a:extLst>
                    <a:ext uri="{9D8B030D-6E8A-4147-A177-3AD203B41FA5}">
                      <a16:colId xmlns:a16="http://schemas.microsoft.com/office/drawing/2014/main" val="4183983851"/>
                    </a:ext>
                  </a:extLst>
                </a:gridCol>
              </a:tblGrid>
              <a:tr h="275647">
                <a:tc>
                  <a:txBody>
                    <a:bodyPr/>
                    <a:lstStyle/>
                    <a:p>
                      <a:pPr algn="ctr"/>
                      <a:endParaRPr lang="en-GB" sz="1000" b="1">
                        <a:solidFill>
                          <a:schemeClr val="bg1"/>
                        </a:solidFill>
                      </a:endParaRPr>
                    </a:p>
                  </a:txBody>
                  <a:tcPr marL="121920" marR="121920" marT="60960" marB="60960" anchor="ctr">
                    <a:solidFill>
                      <a:schemeClr val="tx1">
                        <a:lumMod val="60000"/>
                        <a:lumOff val="40000"/>
                      </a:schemeClr>
                    </a:solidFill>
                  </a:tcPr>
                </a:tc>
                <a:tc gridSpan="4">
                  <a:txBody>
                    <a:bodyPr/>
                    <a:lstStyle/>
                    <a:p>
                      <a:pPr marL="0" algn="ctr" rtl="0" eaLnBrk="1" latinLnBrk="0" hangingPunct="1"/>
                      <a:r>
                        <a:t>Mês 1</a:t>
                      </a:r>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defTabSz="914400" rtl="0" eaLnBrk="1" latinLnBrk="0" hangingPunct="1"/>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rtl="0" eaLnBrk="1" latinLnBrk="0" hangingPunct="1"/>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rtl="0" eaLnBrk="1" latinLnBrk="0" hangingPunct="1"/>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extLst>
                  <a:ext uri="{0D108BD9-81ED-4DB2-BD59-A6C34878D82A}">
                    <a16:rowId xmlns:a16="http://schemas.microsoft.com/office/drawing/2014/main" val="4096646787"/>
                  </a:ext>
                </a:extLst>
              </a:tr>
              <a:tr h="275647">
                <a:tc>
                  <a:txBody>
                    <a:bodyPr/>
                    <a:lstStyle/>
                    <a:p>
                      <a:pPr algn="ctr"/>
                      <a:r>
                        <a:rPr lang="en-GB" sz="1000" b="1">
                          <a:solidFill>
                            <a:schemeClr val="bg1"/>
                          </a:solidFill>
                        </a:rPr>
                        <a:t>Atividade</a:t>
                      </a:r>
                    </a:p>
                  </a:txBody>
                  <a:tcPr marL="121920" marR="121920" marT="60960" marB="60960" anchor="ctr">
                    <a:solidFill>
                      <a:schemeClr val="bg2">
                        <a:lumMod val="50000"/>
                      </a:schemeClr>
                    </a:solidFill>
                  </a:tcPr>
                </a:tc>
                <a:tc>
                  <a:txBody>
                    <a:bodyPr/>
                    <a:lstStyle/>
                    <a:p>
                      <a:pPr marL="0" algn="ctr" defTabSz="914400" rtl="0" eaLnBrk="1" latinLnBrk="0" hangingPunct="1"/>
                      <a:r>
                        <a:rPr lang="en-GB" sz="900" b="1" kern="1200">
                          <a:solidFill>
                            <a:schemeClr val="bg1"/>
                          </a:solidFill>
                          <a:latin typeface="+mn-lt"/>
                          <a:ea typeface="+mn-ea"/>
                          <a:cs typeface="+mn-cs"/>
                        </a:rPr>
                        <a:t>Semana 1</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Semana 2</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Semana 3</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Semana 4</a:t>
                      </a:r>
                    </a:p>
                  </a:txBody>
                  <a:tcPr marL="72000" marR="72000" marT="60960" marB="60960" anchor="ctr">
                    <a:solidFill>
                      <a:schemeClr val="bg2">
                        <a:lumMod val="75000"/>
                      </a:schemeClr>
                    </a:solidFill>
                  </a:tcPr>
                </a:tc>
                <a:extLst>
                  <a:ext uri="{0D108BD9-81ED-4DB2-BD59-A6C34878D82A}">
                    <a16:rowId xmlns:a16="http://schemas.microsoft.com/office/drawing/2014/main" val="2273532895"/>
                  </a:ext>
                </a:extLst>
              </a:tr>
              <a:tr h="371116">
                <a:tc>
                  <a:txBody>
                    <a:bodyPr/>
                    <a:lstStyle/>
                    <a:p>
                      <a:pPr algn="l"/>
                      <a:r>
                        <a:rPr lang="en-GB" sz="1000" b="1">
                          <a:solidFill>
                            <a:schemeClr val="bg1"/>
                          </a:solidFill>
                        </a:rPr>
                        <a:t>Governança e PMO</a:t>
                      </a: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240595015"/>
                  </a:ext>
                </a:extLst>
              </a:tr>
              <a:tr h="371116">
                <a:tc>
                  <a:txBody>
                    <a:bodyPr/>
                    <a:lstStyle/>
                    <a:p>
                      <a:pPr algn="l"/>
                      <a:r>
                        <a:rPr lang="en-US" sz="1000" b="1">
                          <a:solidFill>
                            <a:schemeClr val="bg1"/>
                          </a:solidFill>
                        </a:rPr>
                        <a:t>Mobilização</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608719029"/>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346967330"/>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3700435102"/>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028593892"/>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dirty="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148625865"/>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674745138"/>
                  </a:ext>
                </a:extLst>
              </a:tr>
              <a:tr h="371116">
                <a:tc>
                  <a:txBody>
                    <a:bodyPr/>
                    <a:lstStyle/>
                    <a:p>
                      <a:pPr algn="l"/>
                      <a:endParaRPr lang="en-GB" sz="1000" b="1" dirty="0">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dirty="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45046073"/>
                  </a:ext>
                </a:extLst>
              </a:tr>
              <a:tr h="234354">
                <a:tc>
                  <a:txBody>
                    <a:bodyPr/>
                    <a:lstStyle/>
                    <a:p>
                      <a:pPr lvl="0" algn="l">
                        <a:buNone/>
                      </a:pPr>
                      <a:endParaRPr lang="en-GB" sz="1000" b="1" dirty="0">
                        <a:solidFill>
                          <a:schemeClr val="bg1"/>
                        </a:solidFill>
                      </a:endParaRPr>
                    </a:p>
                  </a:txBody>
                  <a:tcPr marL="121920" marR="121920" marT="60959" marB="60959" anchor="ctr">
                    <a:solidFill>
                      <a:schemeClr val="tx1">
                        <a:lumMod val="60000"/>
                        <a:lumOff val="40000"/>
                      </a:schemeClr>
                    </a:solidFill>
                  </a:tcPr>
                </a:tc>
                <a:tc>
                  <a:txBody>
                    <a:bodyPr/>
                    <a:lstStyle/>
                    <a:p>
                      <a:pPr lvl="0" algn="l">
                        <a:buNone/>
                      </a:pPr>
                      <a:endParaRPr lang="en-GB" sz="1100"/>
                    </a:p>
                  </a:txBody>
                  <a:tcPr marL="72000" marR="72000" marT="60959" marB="60959">
                    <a:solidFill>
                      <a:schemeClr val="bg1">
                        <a:lumMod val="95000"/>
                      </a:schemeClr>
                    </a:solidFill>
                  </a:tcPr>
                </a:tc>
                <a:tc>
                  <a:txBody>
                    <a:bodyPr/>
                    <a:lstStyle/>
                    <a:p>
                      <a:pPr lvl="0" algn="l">
                        <a:buNone/>
                      </a:pPr>
                      <a:endParaRPr lang="en-GB" sz="1100" dirty="0"/>
                    </a:p>
                  </a:txBody>
                  <a:tcPr marL="72000" marR="72000" marT="60959" marB="60959">
                    <a:solidFill>
                      <a:schemeClr val="bg1">
                        <a:lumMod val="95000"/>
                      </a:schemeClr>
                    </a:solidFill>
                  </a:tcPr>
                </a:tc>
                <a:tc>
                  <a:txBody>
                    <a:bodyPr/>
                    <a:lstStyle/>
                    <a:p>
                      <a:pPr lvl="0" algn="l">
                        <a:buNone/>
                      </a:pPr>
                      <a:endParaRPr lang="en-GB" sz="1100"/>
                    </a:p>
                  </a:txBody>
                  <a:tcPr marL="72000" marR="72000" marT="60959" marB="60959">
                    <a:solidFill>
                      <a:schemeClr val="bg1">
                        <a:lumMod val="95000"/>
                      </a:schemeClr>
                    </a:solidFill>
                  </a:tcPr>
                </a:tc>
                <a:tc>
                  <a:txBody>
                    <a:bodyPr/>
                    <a:lstStyle/>
                    <a:p>
                      <a:pPr lvl="0" algn="l">
                        <a:buNone/>
                      </a:pPr>
                      <a:endParaRPr lang="en-GB" sz="1100" dirty="0"/>
                    </a:p>
                  </a:txBody>
                  <a:tcPr marL="72000" marR="72000" marT="60959" marB="60959">
                    <a:solidFill>
                      <a:schemeClr val="bg1">
                        <a:lumMod val="95000"/>
                      </a:schemeClr>
                    </a:solidFill>
                  </a:tcPr>
                </a:tc>
                <a:extLst>
                  <a:ext uri="{0D108BD9-81ED-4DB2-BD59-A6C34878D82A}">
                    <a16:rowId xmlns:a16="http://schemas.microsoft.com/office/drawing/2014/main" val="3381022898"/>
                  </a:ext>
                </a:extLst>
              </a:tr>
            </a:tbl>
          </a:graphicData>
        </a:graphic>
      </p:graphicFrame>
      <p:sp>
        <p:nvSpPr>
          <p:cNvPr id="37" name="Rectangle: Rounded Corners 9">
            <a:extLst>
              <a:ext uri="{FF2B5EF4-FFF2-40B4-BE49-F238E27FC236}">
                <a16:creationId xmlns:a16="http://schemas.microsoft.com/office/drawing/2014/main" id="{8689E6BB-F2E8-56C3-198D-232181B6C403}"/>
              </a:ext>
            </a:extLst>
          </p:cNvPr>
          <p:cNvSpPr/>
          <p:nvPr/>
        </p:nvSpPr>
        <p:spPr>
          <a:xfrm>
            <a:off x="10353293" y="5682777"/>
            <a:ext cx="100355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Relatório e readout</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38" name="Rectangle: Rounded Corners 10">
            <a:extLst>
              <a:ext uri="{FF2B5EF4-FFF2-40B4-BE49-F238E27FC236}">
                <a16:creationId xmlns:a16="http://schemas.microsoft.com/office/drawing/2014/main" id="{348F68C5-DB0F-E972-DA9B-A4716CFE3C70}"/>
              </a:ext>
            </a:extLst>
          </p:cNvPr>
          <p:cNvSpPr/>
          <p:nvPr/>
        </p:nvSpPr>
        <p:spPr>
          <a:xfrm>
            <a:off x="2944368" y="2721100"/>
            <a:ext cx="8412480" cy="256032"/>
          </a:xfrm>
          <a:prstGeom prst="roundRect">
            <a:avLst/>
          </a:prstGeom>
          <a:gradFill flip="none" rotWithShape="1">
            <a:gsLst>
              <a:gs pos="48000">
                <a:srgbClr val="7030A0"/>
              </a:gs>
              <a:gs pos="56000">
                <a:schemeClr val="tx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Governança, comitê semanal e gates de qualidade</a:t>
            </a:r>
          </a:p>
        </p:txBody>
      </p:sp>
      <p:sp>
        <p:nvSpPr>
          <p:cNvPr id="41" name="Rectangle: Rounded Corners 13">
            <a:extLst>
              <a:ext uri="{FF2B5EF4-FFF2-40B4-BE49-F238E27FC236}">
                <a16:creationId xmlns:a16="http://schemas.microsoft.com/office/drawing/2014/main" id="{7BEEE4C1-C776-0EE8-C0D4-792B7B754ED3}"/>
              </a:ext>
            </a:extLst>
          </p:cNvPr>
          <p:cNvSpPr/>
          <p:nvPr/>
        </p:nvSpPr>
        <p:spPr>
          <a:xfrm>
            <a:off x="6119622" y="3834448"/>
            <a:ext cx="2273655"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Arquitetura TO-BE, ADRs, OpenAPI</a:t>
            </a:r>
          </a:p>
        </p:txBody>
      </p:sp>
      <p:sp>
        <p:nvSpPr>
          <p:cNvPr id="43" name="Diamond 42">
            <a:extLst>
              <a:ext uri="{FF2B5EF4-FFF2-40B4-BE49-F238E27FC236}">
                <a16:creationId xmlns:a16="http://schemas.microsoft.com/office/drawing/2014/main" id="{E240005A-F077-675A-9CAD-0BD916C8AB69}"/>
              </a:ext>
            </a:extLst>
          </p:cNvPr>
          <p:cNvSpPr/>
          <p:nvPr/>
        </p:nvSpPr>
        <p:spPr>
          <a:xfrm>
            <a:off x="2867832"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45" name="Diamond 44">
            <a:extLst>
              <a:ext uri="{FF2B5EF4-FFF2-40B4-BE49-F238E27FC236}">
                <a16:creationId xmlns:a16="http://schemas.microsoft.com/office/drawing/2014/main" id="{7904916C-25F4-334F-4747-6FD82ECEF477}"/>
              </a:ext>
            </a:extLst>
          </p:cNvPr>
          <p:cNvSpPr/>
          <p:nvPr/>
        </p:nvSpPr>
        <p:spPr>
          <a:xfrm>
            <a:off x="7059168" y="1819656"/>
            <a:ext cx="182880" cy="182880"/>
          </a:xfrm>
          <a:prstGeom prst="diamon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46" name="Rectangle 45">
            <a:extLst>
              <a:ext uri="{FF2B5EF4-FFF2-40B4-BE49-F238E27FC236}">
                <a16:creationId xmlns:a16="http://schemas.microsoft.com/office/drawing/2014/main" id="{901B6DD1-CC83-D184-548A-6FE4B8516144}"/>
              </a:ext>
            </a:extLst>
          </p:cNvPr>
          <p:cNvSpPr/>
          <p:nvPr/>
        </p:nvSpPr>
        <p:spPr>
          <a:xfrm>
            <a:off x="8000085"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Segoe UI Light" panose="020B0502040204020203" pitchFamily="34" charset="0"/>
                <a:cs typeface="Segoe UI Light" panose="020B0502040204020203" pitchFamily="34" charset="0"/>
              </a:rPr>
              <a:t>Readiness Gate F2 &gt;=85%</a:t>
            </a:r>
            <a:endParaRPr lang="en-GB" sz="900">
              <a:latin typeface="Segoe UI Light" panose="020B0502040204020203" pitchFamily="34" charset="0"/>
              <a:cs typeface="Segoe UI Light" panose="020B0502040204020203" pitchFamily="34" charset="0"/>
            </a:endParaRPr>
          </a:p>
        </p:txBody>
      </p:sp>
      <p:sp>
        <p:nvSpPr>
          <p:cNvPr id="47" name="Rectangle 46">
            <a:extLst>
              <a:ext uri="{FF2B5EF4-FFF2-40B4-BE49-F238E27FC236}">
                <a16:creationId xmlns:a16="http://schemas.microsoft.com/office/drawing/2014/main" id="{573E1B8D-F2C7-F939-E953-41D1CB19B5D0}"/>
              </a:ext>
            </a:extLst>
          </p:cNvPr>
          <p:cNvSpPr/>
          <p:nvPr/>
        </p:nvSpPr>
        <p:spPr>
          <a:xfrm>
            <a:off x="10921319"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latin typeface="Segoe UI Light" panose="020B0502040204020203" pitchFamily="34" charset="0"/>
                <a:cs typeface="Segoe UI Light" panose="020B0502040204020203" pitchFamily="34" charset="0"/>
              </a:rPr>
              <a:t>Apresentação Executiva</a:t>
            </a:r>
            <a:endParaRPr lang="en-GB" sz="800">
              <a:latin typeface="Segoe UI Light" panose="020B0502040204020203" pitchFamily="34" charset="0"/>
              <a:cs typeface="Segoe UI Light" panose="020B0502040204020203" pitchFamily="34" charset="0"/>
            </a:endParaRPr>
          </a:p>
        </p:txBody>
      </p:sp>
      <p:sp>
        <p:nvSpPr>
          <p:cNvPr id="7" name="Rectangle: Rounded Corners 11">
            <a:extLst>
              <a:ext uri="{FF2B5EF4-FFF2-40B4-BE49-F238E27FC236}">
                <a16:creationId xmlns:a16="http://schemas.microsoft.com/office/drawing/2014/main" id="{7E674DAB-F386-C598-61EA-90B3E37D4E5A}"/>
              </a:ext>
            </a:extLst>
          </p:cNvPr>
          <p:cNvSpPr/>
          <p:nvPr/>
        </p:nvSpPr>
        <p:spPr>
          <a:xfrm>
            <a:off x="7813090" y="4576679"/>
            <a:ext cx="2061972"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prstClr val="white"/>
                </a:solidFill>
                <a:latin typeface="Segoe UI Light" panose="020B0502040204020203" pitchFamily="34" charset="0"/>
                <a:cs typeface="Segoe UI Light" panose="020B0502040204020203" pitchFamily="34" charset="0"/>
              </a:rPr>
              <a:t>Specs, </a:t>
            </a:r>
            <a:r>
              <a:rPr lang="en-US" sz="900" dirty="0" err="1">
                <a:solidFill>
                  <a:prstClr val="white"/>
                </a:solidFill>
                <a:latin typeface="Segoe UI Light" panose="020B0502040204020203" pitchFamily="34" charset="0"/>
                <a:cs typeface="Segoe UI Light" panose="020B0502040204020203" pitchFamily="34" charset="0"/>
              </a:rPr>
              <a:t>planos</a:t>
            </a:r>
            <a:r>
              <a:rPr lang="en-US" sz="900" dirty="0">
                <a:solidFill>
                  <a:prstClr val="white"/>
                </a:solidFill>
                <a:latin typeface="Segoe UI Light" panose="020B0502040204020203" pitchFamily="34" charset="0"/>
                <a:cs typeface="Segoe UI Light" panose="020B0502040204020203" pitchFamily="34" charset="0"/>
              </a:rPr>
              <a:t> e backlog </a:t>
            </a:r>
            <a:r>
              <a:rPr lang="en-US" sz="900" dirty="0" err="1">
                <a:solidFill>
                  <a:prstClr val="white"/>
                </a:solidFill>
                <a:latin typeface="Segoe UI Light" panose="020B0502040204020203" pitchFamily="34" charset="0"/>
                <a:cs typeface="Segoe UI Light" panose="020B0502040204020203" pitchFamily="34" charset="0"/>
              </a:rPr>
              <a:t>executável</a:t>
            </a:r>
            <a:endParaRPr kumimoji="0" lang="en-GB" sz="900" b="0" i="0" u="none" strike="noStrike" kern="120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8" name="Rectangle: Rounded Corners 11">
            <a:extLst>
              <a:ext uri="{FF2B5EF4-FFF2-40B4-BE49-F238E27FC236}">
                <a16:creationId xmlns:a16="http://schemas.microsoft.com/office/drawing/2014/main" id="{8E471C5E-DAAD-70BD-71BB-AFA266A454A9}"/>
              </a:ext>
            </a:extLst>
          </p:cNvPr>
          <p:cNvSpPr/>
          <p:nvPr/>
        </p:nvSpPr>
        <p:spPr>
          <a:xfrm>
            <a:off x="9294876" y="4947795"/>
            <a:ext cx="2061972"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Codegen + gate de build (BC piloto)</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51" name="Diamond 50">
            <a:extLst>
              <a:ext uri="{FF2B5EF4-FFF2-40B4-BE49-F238E27FC236}">
                <a16:creationId xmlns:a16="http://schemas.microsoft.com/office/drawing/2014/main" id="{902FA4CD-4E45-2652-F6FB-1B857D903CF9}"/>
              </a:ext>
            </a:extLst>
          </p:cNvPr>
          <p:cNvSpPr/>
          <p:nvPr/>
        </p:nvSpPr>
        <p:spPr>
          <a:xfrm>
            <a:off x="8329269" y="1819656"/>
            <a:ext cx="182880" cy="182880"/>
          </a:xfrm>
          <a:prstGeom prst="diamon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17" name="Diamond 16">
            <a:extLst>
              <a:ext uri="{FF2B5EF4-FFF2-40B4-BE49-F238E27FC236}">
                <a16:creationId xmlns:a16="http://schemas.microsoft.com/office/drawing/2014/main" id="{4C009108-B6EC-6FA5-D374-1617185E51AC}"/>
              </a:ext>
            </a:extLst>
          </p:cNvPr>
          <p:cNvSpPr/>
          <p:nvPr/>
        </p:nvSpPr>
        <p:spPr>
          <a:xfrm>
            <a:off x="9811054"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27" name="Diamond 26">
            <a:extLst>
              <a:ext uri="{FF2B5EF4-FFF2-40B4-BE49-F238E27FC236}">
                <a16:creationId xmlns:a16="http://schemas.microsoft.com/office/drawing/2014/main" id="{A8ECF818-7E11-33EB-7EBB-11CDAA424C14}"/>
              </a:ext>
            </a:extLst>
          </p:cNvPr>
          <p:cNvSpPr/>
          <p:nvPr/>
        </p:nvSpPr>
        <p:spPr>
          <a:xfrm>
            <a:off x="11250503"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60" name="Rectangle: Rounded Corners 9">
            <a:extLst>
              <a:ext uri="{FF2B5EF4-FFF2-40B4-BE49-F238E27FC236}">
                <a16:creationId xmlns:a16="http://schemas.microsoft.com/office/drawing/2014/main" id="{2E5DB48B-0425-5CE1-4238-935EACF3CCA9}"/>
              </a:ext>
            </a:extLst>
          </p:cNvPr>
          <p:cNvSpPr/>
          <p:nvPr/>
        </p:nvSpPr>
        <p:spPr>
          <a:xfrm>
            <a:off x="9929926" y="5318911"/>
            <a:ext cx="1426921" cy="256032"/>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prstClr val="white"/>
                </a:solidFill>
                <a:latin typeface="Segoe UI Light" panose="020B0502040204020203" pitchFamily="34" charset="0"/>
                <a:cs typeface="Segoe UI Light" panose="020B0502040204020203" pitchFamily="34" charset="0"/>
              </a:rPr>
              <a:t>Plano de testes, </a:t>
            </a:r>
            <a:r>
              <a:rPr lang="en-US" sz="900" dirty="0" err="1">
                <a:solidFill>
                  <a:prstClr val="white"/>
                </a:solidFill>
                <a:latin typeface="Segoe UI Light" panose="020B0502040204020203" pitchFamily="34" charset="0"/>
                <a:cs typeface="Segoe UI Light" panose="020B0502040204020203" pitchFamily="34" charset="0"/>
              </a:rPr>
              <a:t>IaC</a:t>
            </a:r>
            <a:r>
              <a:rPr lang="en-US" sz="900" dirty="0">
                <a:solidFill>
                  <a:prstClr val="white"/>
                </a:solidFill>
                <a:latin typeface="Segoe UI Light" panose="020B0502040204020203" pitchFamily="34" charset="0"/>
                <a:cs typeface="Segoe UI Light" panose="020B0502040204020203" pitchFamily="34" charset="0"/>
              </a:rPr>
              <a:t> e </a:t>
            </a:r>
            <a:r>
              <a:rPr lang="en-US" sz="900" dirty="0" err="1">
                <a:solidFill>
                  <a:prstClr val="white"/>
                </a:solidFill>
                <a:latin typeface="Segoe UI Light" panose="020B0502040204020203" pitchFamily="34" charset="0"/>
                <a:cs typeface="Segoe UI Light" panose="020B0502040204020203" pitchFamily="34" charset="0"/>
              </a:rPr>
              <a:t>evidências</a:t>
            </a:r>
            <a:endParaRPr kumimoji="0" lang="en-GB" sz="900" b="0" i="0" u="none" strike="noStrike" kern="120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5" name="Rectangle: Rounded Corners 11">
            <a:extLst>
              <a:ext uri="{FF2B5EF4-FFF2-40B4-BE49-F238E27FC236}">
                <a16:creationId xmlns:a16="http://schemas.microsoft.com/office/drawing/2014/main" id="{3DF6E4B5-0075-2138-5B80-1300E78B7D14}"/>
              </a:ext>
            </a:extLst>
          </p:cNvPr>
          <p:cNvSpPr/>
          <p:nvPr/>
        </p:nvSpPr>
        <p:spPr>
          <a:xfrm>
            <a:off x="7389723" y="4205564"/>
            <a:ext cx="100355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auto">
              <a:spcBef>
                <a:spcPts val="0"/>
              </a:spcBef>
              <a:spcAft>
                <a:spcPts val="0"/>
              </a:spcAft>
              <a:defRPr/>
            </a:pPr>
            <a:r>
              <a:rPr lang="en-US" sz="900">
                <a:solidFill>
                  <a:prstClr val="white"/>
                </a:solidFill>
                <a:latin typeface="Segoe UI Light"/>
                <a:cs typeface="Segoe UI Light"/>
              </a:rPr>
              <a:t>Protótipo navegável</a:t>
            </a:r>
            <a:endParaRPr lang="en-US"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graphicFrame>
        <p:nvGraphicFramePr>
          <p:cNvPr id="24" name="Table 6">
            <a:extLst>
              <a:ext uri="{FF2B5EF4-FFF2-40B4-BE49-F238E27FC236}">
                <a16:creationId xmlns:a16="http://schemas.microsoft.com/office/drawing/2014/main" id="{5E52B69E-88A7-BAD0-6EAC-E5072C5BFBB3}"/>
              </a:ext>
            </a:extLst>
          </p:cNvPr>
          <p:cNvGraphicFramePr>
            <a:graphicFrameLocks noGrp="1"/>
          </p:cNvGraphicFramePr>
          <p:nvPr/>
        </p:nvGraphicFramePr>
        <p:xfrm>
          <a:off x="10065301" y="149717"/>
          <a:ext cx="1946552" cy="1078675"/>
        </p:xfrm>
        <a:graphic>
          <a:graphicData uri="http://schemas.openxmlformats.org/drawingml/2006/table">
            <a:tbl>
              <a:tblPr firstRow="1" bandRow="1">
                <a:tableStyleId>{2D5ABB26-0587-4C30-8999-92F81FD0307C}</a:tableStyleId>
              </a:tblPr>
              <a:tblGrid>
                <a:gridCol w="356616">
                  <a:extLst>
                    <a:ext uri="{9D8B030D-6E8A-4147-A177-3AD203B41FA5}">
                      <a16:colId xmlns:a16="http://schemas.microsoft.com/office/drawing/2014/main" val="935709086"/>
                    </a:ext>
                  </a:extLst>
                </a:gridCol>
                <a:gridCol w="1589936">
                  <a:extLst>
                    <a:ext uri="{9D8B030D-6E8A-4147-A177-3AD203B41FA5}">
                      <a16:colId xmlns:a16="http://schemas.microsoft.com/office/drawing/2014/main" val="3370777087"/>
                    </a:ext>
                  </a:extLst>
                </a:gridCol>
              </a:tblGrid>
              <a:tr h="210883">
                <a:tc>
                  <a:txBody>
                    <a:bodyPr/>
                    <a:lstStyle/>
                    <a:p>
                      <a:endParaRPr lang="en-GB" sz="800"/>
                    </a:p>
                  </a:txBody>
                  <a:tcPr marL="36000" marR="36000" marT="36000" marB="36000">
                    <a:solidFill>
                      <a:schemeClr val="tx2"/>
                    </a:solidFill>
                  </a:tcPr>
                </a:tc>
                <a:tc>
                  <a:txBody>
                    <a:bodyPr/>
                    <a:lstStyle/>
                    <a:p>
                      <a:r>
                        <a:rPr lang="en-GB" sz="800"/>
                        <a:t>Atividade Avanade</a:t>
                      </a:r>
                    </a:p>
                  </a:txBody>
                  <a:tcPr marL="36000" marR="36000" marT="36000" marB="36000"/>
                </a:tc>
                <a:extLst>
                  <a:ext uri="{0D108BD9-81ED-4DB2-BD59-A6C34878D82A}">
                    <a16:rowId xmlns:a16="http://schemas.microsoft.com/office/drawing/2014/main" val="3787237740"/>
                  </a:ext>
                </a:extLst>
              </a:tr>
              <a:tr h="210883">
                <a:tc>
                  <a:txBody>
                    <a:bodyPr/>
                    <a:lstStyle/>
                    <a:p>
                      <a:endParaRPr lang="en-GB" sz="800"/>
                    </a:p>
                  </a:txBody>
                  <a:tcPr marL="36000" marR="36000" marT="36000" marB="36000">
                    <a:solidFill>
                      <a:srgbClr val="7030A0"/>
                    </a:solidFill>
                  </a:tcPr>
                </a:tc>
                <a:tc>
                  <a:txBody>
                    <a:bodyPr/>
                    <a:lstStyle/>
                    <a:p>
                      <a:r>
                        <a:rPr lang="en-GB" sz="800"/>
                        <a:t>Atividade ABC Bank</a:t>
                      </a:r>
                    </a:p>
                  </a:txBody>
                  <a:tcPr marL="36000" marR="36000" marT="36000" marB="36000"/>
                </a:tc>
                <a:extLst>
                  <a:ext uri="{0D108BD9-81ED-4DB2-BD59-A6C34878D82A}">
                    <a16:rowId xmlns:a16="http://schemas.microsoft.com/office/drawing/2014/main" val="3389252791"/>
                  </a:ext>
                </a:extLst>
              </a:tr>
              <a:tr h="210883">
                <a:tc>
                  <a:txBody>
                    <a:bodyPr/>
                    <a:lstStyle/>
                    <a:p>
                      <a:endParaRPr lang="en-GB" sz="800"/>
                    </a:p>
                  </a:txBody>
                  <a:tcPr marL="36000" marR="36000" marT="36000" marB="36000"/>
                </a:tc>
                <a:tc>
                  <a:txBody>
                    <a:bodyPr/>
                    <a:lstStyle/>
                    <a:p>
                      <a:r>
                        <a:rPr lang="en-GB" sz="800"/>
                        <a:t>Gate de qualidade</a:t>
                      </a:r>
                    </a:p>
                  </a:txBody>
                  <a:tcPr marL="36000" marR="36000" marT="36000" marB="36000"/>
                </a:tc>
                <a:extLst>
                  <a:ext uri="{0D108BD9-81ED-4DB2-BD59-A6C34878D82A}">
                    <a16:rowId xmlns:a16="http://schemas.microsoft.com/office/drawing/2014/main" val="2071856756"/>
                  </a:ext>
                </a:extLst>
              </a:tr>
              <a:tr h="210883">
                <a:tc>
                  <a:txBody>
                    <a:bodyPr/>
                    <a:lstStyle/>
                    <a:p>
                      <a:endParaRPr lang="en-GB" sz="800"/>
                    </a:p>
                  </a:txBody>
                  <a:tcPr marL="36000" marR="36000" marT="36000" marB="36000"/>
                </a:tc>
                <a:tc>
                  <a:txBody>
                    <a:bodyPr/>
                    <a:lstStyle/>
                    <a:p>
                      <a:r>
                        <a:rPr lang="en-GB" sz="800"/>
                        <a:t>Work Product</a:t>
                      </a:r>
                    </a:p>
                  </a:txBody>
                  <a:tcPr marL="36000" marR="36000" marT="36000" marB="36000"/>
                </a:tc>
                <a:extLst>
                  <a:ext uri="{0D108BD9-81ED-4DB2-BD59-A6C34878D82A}">
                    <a16:rowId xmlns:a16="http://schemas.microsoft.com/office/drawing/2014/main" val="301481095"/>
                  </a:ext>
                </a:extLst>
              </a:tr>
              <a:tr h="235143">
                <a:tc>
                  <a:txBody>
                    <a:bodyPr/>
                    <a:lstStyle/>
                    <a:p>
                      <a:endParaRPr lang="en-GB" sz="800"/>
                    </a:p>
                  </a:txBody>
                  <a:tcPr marL="36000" marR="36000" marT="36000" marB="36000"/>
                </a:tc>
                <a:tc>
                  <a:txBody>
                    <a:bodyPr/>
                    <a:lstStyle/>
                    <a:p>
                      <a:r>
                        <a:rPr lang="en-GB" sz="800"/>
                        <a:t>Entregável</a:t>
                      </a:r>
                    </a:p>
                  </a:txBody>
                  <a:tcPr marL="36000" marR="36000" marT="36000" marB="36000"/>
                </a:tc>
                <a:extLst>
                  <a:ext uri="{0D108BD9-81ED-4DB2-BD59-A6C34878D82A}">
                    <a16:rowId xmlns:a16="http://schemas.microsoft.com/office/drawing/2014/main" val="1186744219"/>
                  </a:ext>
                </a:extLst>
              </a:tr>
            </a:tbl>
          </a:graphicData>
        </a:graphic>
      </p:graphicFrame>
      <p:sp>
        <p:nvSpPr>
          <p:cNvPr id="15" name="Rectangle 14">
            <a:extLst>
              <a:ext uri="{FF2B5EF4-FFF2-40B4-BE49-F238E27FC236}">
                <a16:creationId xmlns:a16="http://schemas.microsoft.com/office/drawing/2014/main" id="{508666CA-CD39-954E-B184-1D9213E6A611}"/>
              </a:ext>
            </a:extLst>
          </p:cNvPr>
          <p:cNvSpPr/>
          <p:nvPr/>
        </p:nvSpPr>
        <p:spPr>
          <a:xfrm>
            <a:off x="9481870" y="1298448"/>
            <a:ext cx="841248" cy="475488"/>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latin typeface="Segoe UI Light" panose="020B0502040204020203" pitchFamily="34" charset="0"/>
                <a:cs typeface="Segoe UI Light" panose="020B0502040204020203" pitchFamily="34" charset="0"/>
              </a:rPr>
              <a:t>Exit Gate F3S 100%</a:t>
            </a:r>
          </a:p>
        </p:txBody>
      </p:sp>
      <p:sp>
        <p:nvSpPr>
          <p:cNvPr id="23" name="Rectangle 22">
            <a:extLst>
              <a:ext uri="{FF2B5EF4-FFF2-40B4-BE49-F238E27FC236}">
                <a16:creationId xmlns:a16="http://schemas.microsoft.com/office/drawing/2014/main" id="{481C42ED-65E9-0CE2-B423-EA093F0AD5A6}"/>
              </a:ext>
            </a:extLst>
          </p:cNvPr>
          <p:cNvSpPr/>
          <p:nvPr/>
        </p:nvSpPr>
        <p:spPr>
          <a:xfrm>
            <a:off x="2538648"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Segoe UI Light" panose="020B0502040204020203" pitchFamily="34" charset="0"/>
                <a:cs typeface="Segoe UI Light" panose="020B0502040204020203" pitchFamily="34" charset="0"/>
              </a:rPr>
              <a:t>Kickoff</a:t>
            </a:r>
            <a:endParaRPr lang="en-GB" sz="900">
              <a:latin typeface="Segoe UI Light" panose="020B0502040204020203" pitchFamily="34" charset="0"/>
              <a:cs typeface="Segoe UI Light" panose="020B0502040204020203" pitchFamily="34" charset="0"/>
            </a:endParaRPr>
          </a:p>
        </p:txBody>
      </p:sp>
      <p:sp>
        <p:nvSpPr>
          <p:cNvPr id="61" name="Rectangle: Rounded Corners 13">
            <a:extLst>
              <a:ext uri="{FF2B5EF4-FFF2-40B4-BE49-F238E27FC236}">
                <a16:creationId xmlns:a16="http://schemas.microsoft.com/office/drawing/2014/main" id="{60FEAC5D-31D6-9EE1-ADF8-B23F21A6B171}"/>
              </a:ext>
            </a:extLst>
          </p:cNvPr>
          <p:cNvSpPr/>
          <p:nvPr/>
        </p:nvSpPr>
        <p:spPr>
          <a:xfrm>
            <a:off x="2944368" y="3092216"/>
            <a:ext cx="2061972" cy="256032"/>
          </a:xfrm>
          <a:prstGeom prst="roundRect">
            <a:avLst/>
          </a:prstGeom>
          <a:solidFill>
            <a:schemeClr val="tx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tx1"/>
                </a:solidFill>
                <a:effectLst/>
                <a:uLnTx/>
                <a:uFillTx/>
                <a:latin typeface="Segoe UI Light" panose="020B0502040204020203" pitchFamily="34" charset="0"/>
                <a:cs typeface="Segoe UI Light" panose="020B0502040204020203" pitchFamily="34" charset="0"/>
              </a:rPr>
              <a:t>Mobilização e ambiente de IA</a:t>
            </a:r>
          </a:p>
        </p:txBody>
      </p:sp>
      <p:sp>
        <p:nvSpPr>
          <p:cNvPr id="4" name="Rectangle: Rounded Corners 13">
            <a:extLst>
              <a:ext uri="{FF2B5EF4-FFF2-40B4-BE49-F238E27FC236}">
                <a16:creationId xmlns:a16="http://schemas.microsoft.com/office/drawing/2014/main" id="{244AFAD1-344A-259C-80F0-5A43A963BA9B}"/>
              </a:ext>
            </a:extLst>
          </p:cNvPr>
          <p:cNvSpPr/>
          <p:nvPr/>
        </p:nvSpPr>
        <p:spPr>
          <a:xfrm>
            <a:off x="3791102" y="3463332"/>
            <a:ext cx="333207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Extração AST + diagnóstico AS-IS</a:t>
            </a:r>
          </a:p>
        </p:txBody>
      </p:sp>
      <p:sp>
        <p:nvSpPr>
          <p:cNvPr id="40" name="Rectangle 39">
            <a:extLst>
              <a:ext uri="{FF2B5EF4-FFF2-40B4-BE49-F238E27FC236}">
                <a16:creationId xmlns:a16="http://schemas.microsoft.com/office/drawing/2014/main" id="{5FCA6F5C-7971-D6F4-FED8-A5D8A6D263D5}"/>
              </a:ext>
            </a:extLst>
          </p:cNvPr>
          <p:cNvSpPr/>
          <p:nvPr/>
        </p:nvSpPr>
        <p:spPr>
          <a:xfrm>
            <a:off x="6729984"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Segoe UI Light" panose="020B0502040204020203" pitchFamily="34" charset="0"/>
                <a:cs typeface="Segoe UI Light" panose="020B0502040204020203" pitchFamily="34" charset="0"/>
              </a:rPr>
              <a:t>Security Gate F1</a:t>
            </a:r>
            <a:endParaRPr lang="en-GB" sz="9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20811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58D48A-E3E9-A341-0B95-9ED9FEC95F34}"/>
              </a:ext>
            </a:extLst>
          </p:cNvPr>
          <p:cNvSpPr>
            <a:spLocks noGrp="1"/>
          </p:cNvSpPr>
          <p:nvPr>
            <p:ph idx="1"/>
          </p:nvPr>
        </p:nvSpPr>
        <p:spPr/>
        <p:txBody>
          <a:bodyPr numCol="2" spcCol="180000"/>
          <a:lstStyle/>
          <a:p>
            <a:pPr marL="342900" indent="-342900">
              <a:buFont typeface="Arial" panose="020B0604020202020204" pitchFamily="34" charset="0"/>
              <a:buChar char="•"/>
            </a:pPr>
            <a:r>
              <a:rPr lang="en-US" sz="1600" dirty="0"/>
              <a:t>Geração de </a:t>
            </a:r>
            <a:r>
              <a:rPr lang="en-US" sz="1600" dirty="0" err="1"/>
              <a:t>código</a:t>
            </a:r>
            <a:r>
              <a:rPr lang="en-US" sz="1600" dirty="0"/>
              <a:t> </a:t>
            </a:r>
            <a:r>
              <a:rPr lang="en-US" sz="1600" dirty="0" err="1"/>
              <a:t>em</a:t>
            </a:r>
            <a:r>
              <a:rPr lang="en-US" sz="1600" dirty="0"/>
              <a:t> </a:t>
            </a:r>
            <a:r>
              <a:rPr lang="en-US" sz="1600" dirty="0" err="1"/>
              <a:t>massa</a:t>
            </a:r>
            <a:r>
              <a:rPr lang="en-US" sz="1600" dirty="0"/>
              <a:t> do backlog </a:t>
            </a:r>
            <a:r>
              <a:rPr lang="en-US" sz="1600" dirty="0" err="1"/>
              <a:t>completo</a:t>
            </a:r>
            <a:r>
              <a:rPr lang="en-US" sz="1600" dirty="0"/>
              <a:t> — F4 se </a:t>
            </a:r>
            <a:r>
              <a:rPr lang="en-US" sz="1600" dirty="0" err="1"/>
              <a:t>limita</a:t>
            </a:r>
            <a:r>
              <a:rPr lang="en-US" sz="1600" dirty="0"/>
              <a:t> a UM bounded context </a:t>
            </a:r>
            <a:r>
              <a:rPr lang="en-US" sz="1600" dirty="0" err="1"/>
              <a:t>piloto</a:t>
            </a:r>
            <a:endParaRPr lang="en-US" sz="1600" dirty="0"/>
          </a:p>
          <a:p>
            <a:pPr marL="342900" indent="-342900">
              <a:buFont typeface="Arial" panose="020B0604020202020204" pitchFamily="34" charset="0"/>
              <a:buChar char="•"/>
            </a:pPr>
            <a:r>
              <a:rPr lang="en-US" sz="1600" dirty="0"/>
              <a:t>Geração de </a:t>
            </a:r>
            <a:r>
              <a:rPr lang="en-US" sz="1600" dirty="0" err="1"/>
              <a:t>código</a:t>
            </a:r>
            <a:r>
              <a:rPr lang="en-US" sz="1600" dirty="0"/>
              <a:t> para Java/Spring Boot, Python/</a:t>
            </a:r>
            <a:r>
              <a:rPr lang="en-US" sz="1600" dirty="0" err="1"/>
              <a:t>FastAPI</a:t>
            </a:r>
            <a:r>
              <a:rPr lang="en-US" sz="1600" dirty="0"/>
              <a:t>, Go/Gin </a:t>
            </a:r>
            <a:r>
              <a:rPr lang="en-US" sz="1600" dirty="0" err="1"/>
              <a:t>ou</a:t>
            </a:r>
            <a:r>
              <a:rPr lang="en-US" sz="1600" dirty="0"/>
              <a:t> </a:t>
            </a:r>
            <a:r>
              <a:rPr lang="en-US" sz="1600" dirty="0" err="1"/>
              <a:t>NestJS</a:t>
            </a:r>
            <a:r>
              <a:rPr lang="en-US" sz="1600" dirty="0"/>
              <a:t> (</a:t>
            </a:r>
            <a:r>
              <a:rPr lang="en-US" sz="1600" dirty="0" err="1"/>
              <a:t>não</a:t>
            </a:r>
            <a:r>
              <a:rPr lang="en-US" sz="1600" dirty="0"/>
              <a:t> </a:t>
            </a:r>
            <a:r>
              <a:rPr lang="en-US" sz="1600" dirty="0" err="1"/>
              <a:t>estão</a:t>
            </a:r>
            <a:r>
              <a:rPr lang="en-US" sz="1600" dirty="0"/>
              <a:t> </a:t>
            </a:r>
            <a:r>
              <a:rPr lang="en-US" sz="1600" dirty="0" err="1"/>
              <a:t>em</a:t>
            </a:r>
            <a:r>
              <a:rPr lang="en-US" sz="1600" dirty="0"/>
              <a:t> GA </a:t>
            </a:r>
            <a:r>
              <a:rPr lang="en-US" sz="1600" dirty="0" err="1"/>
              <a:t>na</a:t>
            </a:r>
            <a:r>
              <a:rPr lang="en-US" sz="1600" dirty="0"/>
              <a:t> </a:t>
            </a:r>
            <a:r>
              <a:rPr lang="en-US" sz="1600" dirty="0" err="1"/>
              <a:t>plataforma</a:t>
            </a:r>
            <a:r>
              <a:rPr lang="en-US" sz="1600" dirty="0"/>
              <a:t>)</a:t>
            </a:r>
          </a:p>
          <a:p>
            <a:pPr marL="342900" indent="-342900">
              <a:buFont typeface="Arial" panose="020B0604020202020204" pitchFamily="34" charset="0"/>
              <a:buChar char="•"/>
            </a:pPr>
            <a:r>
              <a:rPr lang="en-US" sz="1600" dirty="0"/>
              <a:t>Cutover </a:t>
            </a:r>
            <a:r>
              <a:rPr lang="en-US" sz="1600" dirty="0" err="1"/>
              <a:t>produtivo</a:t>
            </a:r>
            <a:r>
              <a:rPr lang="en-US" sz="1600" dirty="0"/>
              <a:t>, go-live </a:t>
            </a:r>
            <a:r>
              <a:rPr lang="en-US" sz="1600" dirty="0" err="1"/>
              <a:t>ou</a:t>
            </a:r>
            <a:r>
              <a:rPr lang="en-US" sz="1600" dirty="0"/>
              <a:t> </a:t>
            </a:r>
            <a:r>
              <a:rPr lang="en-US" sz="1600" dirty="0" err="1"/>
              <a:t>descomissionamento</a:t>
            </a:r>
            <a:r>
              <a:rPr lang="en-US" sz="1600" dirty="0"/>
              <a:t> da </a:t>
            </a:r>
            <a:r>
              <a:rPr lang="en-US" sz="1600" dirty="0" err="1"/>
              <a:t>aplicação</a:t>
            </a:r>
            <a:r>
              <a:rPr lang="en-US" sz="1600" dirty="0"/>
              <a:t> </a:t>
            </a:r>
            <a:r>
              <a:rPr lang="en-US" sz="1600" dirty="0" err="1"/>
              <a:t>legada</a:t>
            </a:r>
            <a:endParaRPr lang="en-US" sz="1600" dirty="0"/>
          </a:p>
          <a:p>
            <a:pPr marL="342900" indent="-342900">
              <a:buFont typeface="Arial" panose="020B0604020202020204" pitchFamily="34" charset="0"/>
              <a:buChar char="•"/>
            </a:pPr>
            <a:r>
              <a:rPr lang="en-US" sz="1600" dirty="0" err="1"/>
              <a:t>Migração</a:t>
            </a:r>
            <a:r>
              <a:rPr lang="en-US" sz="1600" dirty="0"/>
              <a:t> de dados reais, </a:t>
            </a:r>
            <a:r>
              <a:rPr lang="en-US" sz="1600" dirty="0" err="1"/>
              <a:t>expurgo</a:t>
            </a:r>
            <a:r>
              <a:rPr lang="en-US" sz="1600" dirty="0"/>
              <a:t>, </a:t>
            </a:r>
            <a:r>
              <a:rPr lang="en-US" sz="1600" dirty="0" err="1"/>
              <a:t>arquivamento</a:t>
            </a:r>
            <a:r>
              <a:rPr lang="en-US" sz="1600" dirty="0"/>
              <a:t> </a:t>
            </a:r>
            <a:r>
              <a:rPr lang="en-US" sz="1600" dirty="0" err="1"/>
              <a:t>ou</a:t>
            </a:r>
            <a:r>
              <a:rPr lang="en-US" sz="1600" dirty="0"/>
              <a:t> </a:t>
            </a:r>
            <a:r>
              <a:rPr lang="en-US" sz="1600" dirty="0" err="1"/>
              <a:t>higienização</a:t>
            </a:r>
            <a:r>
              <a:rPr lang="en-US" sz="1600" dirty="0"/>
              <a:t> de </a:t>
            </a:r>
            <a:r>
              <a:rPr lang="en-US" sz="1600" dirty="0" err="1"/>
              <a:t>qualquer</a:t>
            </a:r>
            <a:r>
              <a:rPr lang="en-US" sz="1600" dirty="0"/>
              <a:t> </a:t>
            </a:r>
            <a:r>
              <a:rPr lang="en-US" sz="1600" dirty="0" err="1"/>
              <a:t>natureza</a:t>
            </a:r>
            <a:endParaRPr lang="en-US" sz="1600" dirty="0"/>
          </a:p>
          <a:p>
            <a:pPr marL="342900" indent="-342900">
              <a:buFont typeface="Arial" panose="020B0604020202020204" pitchFamily="34" charset="0"/>
              <a:buChar char="•"/>
            </a:pPr>
            <a:r>
              <a:rPr lang="en-US" sz="1600" dirty="0" err="1"/>
              <a:t>Execução</a:t>
            </a:r>
            <a:r>
              <a:rPr lang="en-US" sz="1600" dirty="0"/>
              <a:t> dos scans </a:t>
            </a:r>
            <a:r>
              <a:rPr lang="en-US" sz="1600" dirty="0" err="1"/>
              <a:t>corporativos</a:t>
            </a:r>
            <a:r>
              <a:rPr lang="en-US" sz="1600" dirty="0"/>
              <a:t> de SAST/DAST e do teste de </a:t>
            </a:r>
            <a:r>
              <a:rPr lang="en-US" sz="1600" dirty="0" err="1"/>
              <a:t>intrusão</a:t>
            </a:r>
            <a:r>
              <a:rPr lang="en-US" sz="1600" dirty="0"/>
              <a:t> do banco (a PoC </a:t>
            </a:r>
            <a:r>
              <a:rPr lang="en-US" sz="1600" dirty="0" err="1"/>
              <a:t>entrega</a:t>
            </a:r>
            <a:r>
              <a:rPr lang="en-US" sz="1600" dirty="0"/>
              <a:t> o </a:t>
            </a:r>
            <a:r>
              <a:rPr lang="en-US" sz="1600" dirty="0" err="1"/>
              <a:t>escopo</a:t>
            </a:r>
            <a:r>
              <a:rPr lang="en-US" sz="1600" dirty="0"/>
              <a:t>, o checklist e o backlog de </a:t>
            </a:r>
            <a:r>
              <a:rPr lang="en-US" sz="1600" dirty="0" err="1"/>
              <a:t>remediação</a:t>
            </a:r>
            <a:r>
              <a:rPr lang="en-US" sz="1600" dirty="0"/>
              <a:t>)</a:t>
            </a:r>
          </a:p>
          <a:p>
            <a:pPr marL="342900" indent="-342900">
              <a:buFont typeface="Arial" panose="020B0604020202020204" pitchFamily="34" charset="0"/>
              <a:buChar char="•"/>
            </a:pPr>
            <a:r>
              <a:rPr lang="en-US" sz="1600" dirty="0" err="1"/>
              <a:t>Substituição</a:t>
            </a:r>
            <a:r>
              <a:rPr lang="en-US" sz="1600" dirty="0"/>
              <a:t> dos </a:t>
            </a:r>
            <a:r>
              <a:rPr lang="en-US" sz="1600" dirty="0" err="1"/>
              <a:t>processos</a:t>
            </a:r>
            <a:r>
              <a:rPr lang="en-US" sz="1600" dirty="0"/>
              <a:t> de </a:t>
            </a:r>
            <a:r>
              <a:rPr lang="en-US" sz="1600" dirty="0" err="1"/>
              <a:t>homologação</a:t>
            </a:r>
            <a:r>
              <a:rPr lang="en-US" sz="1600" dirty="0"/>
              <a:t>, </a:t>
            </a:r>
            <a:r>
              <a:rPr lang="en-US" sz="1600" dirty="0" err="1"/>
              <a:t>gestão</a:t>
            </a:r>
            <a:r>
              <a:rPr lang="en-US" sz="1600" dirty="0"/>
              <a:t> de </a:t>
            </a:r>
            <a:r>
              <a:rPr lang="en-US" sz="1600" dirty="0" err="1"/>
              <a:t>mudança</a:t>
            </a:r>
            <a:r>
              <a:rPr lang="en-US" sz="1600" dirty="0"/>
              <a:t> </a:t>
            </a:r>
            <a:r>
              <a:rPr lang="en-US" sz="1600" dirty="0" err="1"/>
              <a:t>ou</a:t>
            </a:r>
            <a:r>
              <a:rPr lang="en-US" sz="1600" dirty="0"/>
              <a:t> </a:t>
            </a:r>
            <a:r>
              <a:rPr lang="en-US" sz="1600" dirty="0" err="1"/>
              <a:t>aprovação</a:t>
            </a:r>
            <a:r>
              <a:rPr lang="en-US" sz="1600" dirty="0"/>
              <a:t> de release do banco</a:t>
            </a:r>
          </a:p>
          <a:p>
            <a:pPr marL="342900" indent="-342900">
              <a:buFont typeface="Arial" panose="020B0604020202020204" pitchFamily="34" charset="0"/>
              <a:buChar char="•"/>
            </a:pPr>
            <a:r>
              <a:rPr lang="en-US" sz="1600" dirty="0" err="1"/>
              <a:t>Remediação</a:t>
            </a:r>
            <a:r>
              <a:rPr lang="en-US" sz="1600" dirty="0"/>
              <a:t> das </a:t>
            </a:r>
            <a:r>
              <a:rPr lang="en-US" sz="1600" dirty="0" err="1"/>
              <a:t>vulnerabilidades</a:t>
            </a:r>
            <a:r>
              <a:rPr lang="en-US" sz="1600" dirty="0"/>
              <a:t> </a:t>
            </a:r>
            <a:r>
              <a:rPr lang="en-US" sz="1600" dirty="0" err="1"/>
              <a:t>encontradas</a:t>
            </a:r>
            <a:r>
              <a:rPr lang="en-US" sz="1600" dirty="0"/>
              <a:t> </a:t>
            </a:r>
            <a:r>
              <a:rPr lang="en-US" sz="1600" dirty="0" err="1"/>
              <a:t>na</a:t>
            </a:r>
            <a:r>
              <a:rPr lang="en-US" sz="1600" dirty="0"/>
              <a:t> </a:t>
            </a:r>
            <a:r>
              <a:rPr lang="en-US" sz="1600" dirty="0" err="1"/>
              <a:t>aplicação</a:t>
            </a:r>
            <a:r>
              <a:rPr lang="en-US" sz="1600" dirty="0"/>
              <a:t> </a:t>
            </a:r>
            <a:r>
              <a:rPr lang="en-US" sz="1600" dirty="0" err="1"/>
              <a:t>legada</a:t>
            </a:r>
            <a:endParaRPr lang="en-US" sz="1600" dirty="0"/>
          </a:p>
          <a:p>
            <a:pPr marL="342900" indent="-342900">
              <a:buFont typeface="Arial" panose="020B0604020202020204" pitchFamily="34" charset="0"/>
              <a:buChar char="•"/>
            </a:pPr>
            <a:r>
              <a:rPr lang="en-US" sz="1600" dirty="0" err="1"/>
              <a:t>Refatoração</a:t>
            </a:r>
            <a:r>
              <a:rPr lang="en-US" sz="1600" dirty="0"/>
              <a:t> </a:t>
            </a:r>
            <a:r>
              <a:rPr lang="en-US" sz="1600" dirty="0" err="1"/>
              <a:t>ou</a:t>
            </a:r>
            <a:r>
              <a:rPr lang="en-US" sz="1600" dirty="0"/>
              <a:t> </a:t>
            </a:r>
            <a:r>
              <a:rPr lang="en-US" sz="1600" dirty="0" err="1"/>
              <a:t>manutenção</a:t>
            </a:r>
            <a:r>
              <a:rPr lang="en-US" sz="1600" dirty="0"/>
              <a:t> da base de </a:t>
            </a:r>
            <a:r>
              <a:rPr lang="en-US" sz="1600" dirty="0" err="1"/>
              <a:t>código</a:t>
            </a:r>
            <a:r>
              <a:rPr lang="en-US" sz="1600" dirty="0"/>
              <a:t> </a:t>
            </a:r>
            <a:r>
              <a:rPr lang="en-US" sz="1600" dirty="0" err="1"/>
              <a:t>legada</a:t>
            </a:r>
            <a:endParaRPr lang="en-US" sz="1600" dirty="0"/>
          </a:p>
          <a:p>
            <a:pPr marL="342900" indent="-342900">
              <a:buFont typeface="Arial" panose="020B0604020202020204" pitchFamily="34" charset="0"/>
              <a:buChar char="•"/>
            </a:pPr>
            <a:r>
              <a:rPr lang="en-US" sz="1600" dirty="0" err="1"/>
              <a:t>Aquisição</a:t>
            </a:r>
            <a:r>
              <a:rPr lang="en-US" sz="1600" dirty="0"/>
              <a:t> </a:t>
            </a:r>
            <a:r>
              <a:rPr lang="en-US" sz="1600" dirty="0" err="1"/>
              <a:t>ou</a:t>
            </a:r>
            <a:r>
              <a:rPr lang="en-US" sz="1600" dirty="0"/>
              <a:t> </a:t>
            </a:r>
            <a:r>
              <a:rPr lang="en-US" sz="1600" dirty="0" err="1"/>
              <a:t>contratação</a:t>
            </a:r>
            <a:r>
              <a:rPr lang="en-US" sz="1600" dirty="0"/>
              <a:t> de </a:t>
            </a:r>
            <a:r>
              <a:rPr lang="en-US" sz="1600" dirty="0" err="1"/>
              <a:t>licenças</a:t>
            </a:r>
            <a:r>
              <a:rPr lang="en-US" sz="1600" dirty="0"/>
              <a:t> (Azure, Microsoft, ferramentas de </a:t>
            </a:r>
            <a:r>
              <a:rPr lang="en-US" sz="1600" dirty="0" err="1"/>
              <a:t>terceiros</a:t>
            </a:r>
            <a:r>
              <a:rPr lang="en-US" sz="1600" dirty="0"/>
              <a:t>)</a:t>
            </a:r>
          </a:p>
          <a:p>
            <a:pPr marL="342900" indent="-342900">
              <a:buFont typeface="Arial" panose="020B0604020202020204" pitchFamily="34" charset="0"/>
              <a:buChar char="•"/>
            </a:pPr>
            <a:r>
              <a:rPr lang="en-US" sz="1600" dirty="0" err="1"/>
              <a:t>Provisionamento</a:t>
            </a:r>
            <a:r>
              <a:rPr lang="en-US" sz="1600" dirty="0"/>
              <a:t> </a:t>
            </a:r>
            <a:r>
              <a:rPr lang="en-US" sz="1600" dirty="0" err="1"/>
              <a:t>ou</a:t>
            </a:r>
            <a:r>
              <a:rPr lang="en-US" sz="1600" dirty="0"/>
              <a:t> </a:t>
            </a:r>
            <a:r>
              <a:rPr lang="en-US" sz="1600" dirty="0" err="1"/>
              <a:t>gestão</a:t>
            </a:r>
            <a:r>
              <a:rPr lang="en-US" sz="1600" dirty="0"/>
              <a:t> de ambientes </a:t>
            </a:r>
            <a:r>
              <a:rPr lang="en-US" sz="1600" dirty="0" err="1"/>
              <a:t>produtivos</a:t>
            </a:r>
            <a:endParaRPr lang="en-US" sz="1600" dirty="0"/>
          </a:p>
          <a:p>
            <a:pPr marL="342900" indent="-342900">
              <a:buFont typeface="Arial" panose="020B0604020202020204" pitchFamily="34" charset="0"/>
              <a:buChar char="•"/>
            </a:pPr>
            <a:r>
              <a:rPr lang="en-US" sz="1600" dirty="0" err="1"/>
              <a:t>Integração</a:t>
            </a:r>
            <a:r>
              <a:rPr lang="en-US" sz="1600" dirty="0"/>
              <a:t> com </a:t>
            </a:r>
            <a:r>
              <a:rPr lang="en-US" sz="1600" dirty="0" err="1"/>
              <a:t>sistemas</a:t>
            </a:r>
            <a:r>
              <a:rPr lang="en-US" sz="1600" dirty="0"/>
              <a:t> de core banking, </a:t>
            </a:r>
            <a:r>
              <a:rPr lang="en-US" sz="1600" dirty="0" err="1"/>
              <a:t>meios</a:t>
            </a:r>
            <a:r>
              <a:rPr lang="en-US" sz="1600" dirty="0"/>
              <a:t> de </a:t>
            </a:r>
            <a:r>
              <a:rPr lang="en-US" sz="1600" dirty="0" err="1"/>
              <a:t>pagamento</a:t>
            </a:r>
            <a:r>
              <a:rPr lang="en-US" sz="1600" dirty="0"/>
              <a:t> </a:t>
            </a:r>
            <a:r>
              <a:rPr lang="en-US" sz="1600" dirty="0" err="1"/>
              <a:t>ou</a:t>
            </a:r>
            <a:r>
              <a:rPr lang="en-US" sz="1600" dirty="0"/>
              <a:t> provedores </a:t>
            </a:r>
            <a:r>
              <a:rPr lang="en-US" sz="1600" dirty="0" err="1"/>
              <a:t>externos</a:t>
            </a:r>
            <a:endParaRPr lang="en-US" sz="1600" dirty="0"/>
          </a:p>
          <a:p>
            <a:pPr marL="342900" indent="-342900">
              <a:buFont typeface="Arial" panose="020B0604020202020204" pitchFamily="34" charset="0"/>
              <a:buChar char="•"/>
            </a:pPr>
            <a:r>
              <a:rPr lang="en-US" sz="1600" dirty="0" err="1"/>
              <a:t>Execução</a:t>
            </a:r>
            <a:r>
              <a:rPr lang="en-US" sz="1600" dirty="0"/>
              <a:t> de UAT com </a:t>
            </a:r>
            <a:r>
              <a:rPr lang="en-US" sz="1600" dirty="0" err="1"/>
              <a:t>usuários</a:t>
            </a:r>
            <a:r>
              <a:rPr lang="en-US" sz="1600" dirty="0"/>
              <a:t> de </a:t>
            </a:r>
            <a:r>
              <a:rPr lang="en-US" sz="1600" dirty="0" err="1"/>
              <a:t>negócio</a:t>
            </a:r>
            <a:r>
              <a:rPr lang="en-US" sz="1600" dirty="0"/>
              <a:t>; </a:t>
            </a:r>
            <a:r>
              <a:rPr lang="en-US" sz="1600" dirty="0" err="1"/>
              <a:t>treinamento</a:t>
            </a:r>
            <a:r>
              <a:rPr lang="en-US" sz="1600" dirty="0"/>
              <a:t> de </a:t>
            </a:r>
            <a:r>
              <a:rPr lang="en-US" sz="1600" dirty="0" err="1"/>
              <a:t>usuários</a:t>
            </a:r>
            <a:r>
              <a:rPr lang="en-US" sz="1600" dirty="0"/>
              <a:t>, </a:t>
            </a:r>
            <a:r>
              <a:rPr lang="en-US" sz="1600" dirty="0" err="1"/>
              <a:t>comunicação</a:t>
            </a:r>
            <a:r>
              <a:rPr lang="en-US" sz="1600" dirty="0"/>
              <a:t> </a:t>
            </a:r>
            <a:r>
              <a:rPr lang="en-US" sz="1600" dirty="0" err="1"/>
              <a:t>ou</a:t>
            </a:r>
            <a:r>
              <a:rPr lang="en-US" sz="1600" dirty="0"/>
              <a:t> </a:t>
            </a:r>
            <a:r>
              <a:rPr lang="en-US" sz="1600" dirty="0" err="1"/>
              <a:t>gestão</a:t>
            </a:r>
            <a:r>
              <a:rPr lang="en-US" sz="1600" dirty="0"/>
              <a:t> da </a:t>
            </a:r>
            <a:r>
              <a:rPr lang="en-US" sz="1600" dirty="0" err="1"/>
              <a:t>mudança</a:t>
            </a:r>
            <a:endParaRPr lang="en-US" sz="1600" dirty="0"/>
          </a:p>
          <a:p>
            <a:pPr marL="342900" indent="-342900">
              <a:buFont typeface="Arial" panose="020B0604020202020204" pitchFamily="34" charset="0"/>
              <a:buChar char="•"/>
            </a:pPr>
            <a:r>
              <a:rPr lang="en-US" sz="1600" dirty="0" err="1">
                <a:solidFill>
                  <a:schemeClr val="dk1"/>
                </a:solidFill>
              </a:rPr>
              <a:t>Redesenho</a:t>
            </a:r>
            <a:r>
              <a:rPr lang="en-US" sz="1600" dirty="0">
                <a:solidFill>
                  <a:schemeClr val="dk1"/>
                </a:solidFill>
              </a:rPr>
              <a:t> de </a:t>
            </a:r>
            <a:r>
              <a:rPr lang="en-US" sz="1600" dirty="0" err="1">
                <a:solidFill>
                  <a:schemeClr val="dk1"/>
                </a:solidFill>
              </a:rPr>
              <a:t>processos</a:t>
            </a:r>
            <a:r>
              <a:rPr lang="en-US" sz="1600" dirty="0">
                <a:solidFill>
                  <a:schemeClr val="dk1"/>
                </a:solidFill>
              </a:rPr>
              <a:t> de </a:t>
            </a:r>
            <a:r>
              <a:rPr lang="en-US" sz="1600" dirty="0" err="1">
                <a:solidFill>
                  <a:schemeClr val="dk1"/>
                </a:solidFill>
              </a:rPr>
              <a:t>negócio</a:t>
            </a:r>
            <a:r>
              <a:rPr lang="en-US" sz="1600" dirty="0">
                <a:solidFill>
                  <a:schemeClr val="dk1"/>
                </a:solidFill>
              </a:rPr>
              <a:t>, target operating model </a:t>
            </a:r>
            <a:r>
              <a:rPr lang="en-US" sz="1600" dirty="0" err="1">
                <a:solidFill>
                  <a:schemeClr val="dk1"/>
                </a:solidFill>
              </a:rPr>
              <a:t>ou</a:t>
            </a:r>
            <a:r>
              <a:rPr lang="en-US" sz="1600" dirty="0">
                <a:solidFill>
                  <a:schemeClr val="dk1"/>
                </a:solidFill>
              </a:rPr>
              <a:t> </a:t>
            </a:r>
            <a:r>
              <a:rPr lang="en-US" sz="1600" dirty="0" err="1">
                <a:solidFill>
                  <a:schemeClr val="dk1"/>
                </a:solidFill>
              </a:rPr>
              <a:t>desenho</a:t>
            </a:r>
            <a:r>
              <a:rPr lang="en-US" sz="1600" dirty="0">
                <a:solidFill>
                  <a:schemeClr val="dk1"/>
                </a:solidFill>
              </a:rPr>
              <a:t> </a:t>
            </a:r>
            <a:r>
              <a:rPr lang="en-US" sz="1600" dirty="0" err="1">
                <a:solidFill>
                  <a:schemeClr val="dk1"/>
                </a:solidFill>
              </a:rPr>
              <a:t>organizacional</a:t>
            </a:r>
            <a:endParaRPr lang="en-US" sz="1600" dirty="0">
              <a:solidFill>
                <a:schemeClr val="dk1"/>
              </a:solidFill>
            </a:endParaRPr>
          </a:p>
          <a:p>
            <a:pPr marL="342900" indent="-342900">
              <a:buFont typeface="Arial" panose="020B0604020202020204" pitchFamily="34" charset="0"/>
              <a:buChar char="•"/>
            </a:pPr>
            <a:r>
              <a:rPr lang="en-US" sz="1600" dirty="0">
                <a:solidFill>
                  <a:schemeClr val="dk1"/>
                </a:solidFill>
              </a:rPr>
              <a:t>Suporte N1 / N2, </a:t>
            </a:r>
            <a:r>
              <a:rPr lang="en-US" sz="1600" dirty="0" err="1">
                <a:solidFill>
                  <a:schemeClr val="dk1"/>
                </a:solidFill>
              </a:rPr>
              <a:t>hypercare</a:t>
            </a:r>
            <a:r>
              <a:rPr lang="en-US" sz="1600" dirty="0">
                <a:solidFill>
                  <a:schemeClr val="dk1"/>
                </a:solidFill>
              </a:rPr>
              <a:t> </a:t>
            </a:r>
            <a:r>
              <a:rPr lang="en-US" sz="1600" dirty="0" err="1">
                <a:solidFill>
                  <a:schemeClr val="dk1"/>
                </a:solidFill>
              </a:rPr>
              <a:t>ou</a:t>
            </a:r>
            <a:r>
              <a:rPr lang="en-US" sz="1600" dirty="0">
                <a:solidFill>
                  <a:schemeClr val="dk1"/>
                </a:solidFill>
              </a:rPr>
              <a:t> </a:t>
            </a:r>
            <a:r>
              <a:rPr lang="en-US" sz="1600" dirty="0" err="1">
                <a:solidFill>
                  <a:schemeClr val="dk1"/>
                </a:solidFill>
              </a:rPr>
              <a:t>sustentação</a:t>
            </a:r>
            <a:r>
              <a:rPr lang="en-US" sz="1600" dirty="0">
                <a:solidFill>
                  <a:schemeClr val="dk1"/>
                </a:solidFill>
              </a:rPr>
              <a:t> da </a:t>
            </a:r>
            <a:r>
              <a:rPr lang="en-US" sz="1600" dirty="0" err="1">
                <a:solidFill>
                  <a:schemeClr val="dk1"/>
                </a:solidFill>
              </a:rPr>
              <a:t>aplicação</a:t>
            </a:r>
            <a:r>
              <a:rPr lang="en-US" sz="1600" dirty="0">
                <a:solidFill>
                  <a:schemeClr val="dk1"/>
                </a:solidFill>
              </a:rPr>
              <a:t> </a:t>
            </a:r>
            <a:r>
              <a:rPr lang="en-US" sz="1600" dirty="0" err="1">
                <a:solidFill>
                  <a:schemeClr val="dk1"/>
                </a:solidFill>
              </a:rPr>
              <a:t>após</a:t>
            </a:r>
            <a:r>
              <a:rPr lang="en-US" sz="1600" dirty="0">
                <a:solidFill>
                  <a:schemeClr val="dk1"/>
                </a:solidFill>
              </a:rPr>
              <a:t> a PoC</a:t>
            </a:r>
          </a:p>
          <a:p>
            <a:pPr marL="342900" indent="-342900">
              <a:buFont typeface="Arial" panose="020B0604020202020204" pitchFamily="34" charset="0"/>
              <a:buChar char="•"/>
            </a:pPr>
            <a:r>
              <a:rPr lang="en-US" sz="1600" dirty="0" err="1">
                <a:solidFill>
                  <a:schemeClr val="dk1"/>
                </a:solidFill>
              </a:rPr>
              <a:t>Aceite</a:t>
            </a:r>
            <a:r>
              <a:rPr lang="en-US" sz="1600" dirty="0">
                <a:solidFill>
                  <a:schemeClr val="dk1"/>
                </a:solidFill>
              </a:rPr>
              <a:t> formal do </a:t>
            </a:r>
            <a:r>
              <a:rPr lang="en-US" sz="1600" dirty="0" err="1">
                <a:solidFill>
                  <a:schemeClr val="dk1"/>
                </a:solidFill>
              </a:rPr>
              <a:t>catálogo</a:t>
            </a:r>
            <a:r>
              <a:rPr lang="en-US" sz="1600" dirty="0">
                <a:solidFill>
                  <a:schemeClr val="dk1"/>
                </a:solidFill>
              </a:rPr>
              <a:t> de </a:t>
            </a:r>
            <a:r>
              <a:rPr lang="en-US" sz="1600" dirty="0" err="1">
                <a:solidFill>
                  <a:schemeClr val="dk1"/>
                </a:solidFill>
              </a:rPr>
              <a:t>regras</a:t>
            </a:r>
            <a:r>
              <a:rPr lang="en-US" sz="1600" dirty="0">
                <a:solidFill>
                  <a:schemeClr val="dk1"/>
                </a:solidFill>
              </a:rPr>
              <a:t> de </a:t>
            </a:r>
            <a:r>
              <a:rPr lang="en-US" sz="1600" dirty="0" err="1">
                <a:solidFill>
                  <a:schemeClr val="dk1"/>
                </a:solidFill>
              </a:rPr>
              <a:t>negócio</a:t>
            </a:r>
            <a:r>
              <a:rPr lang="en-US" sz="1600" dirty="0">
                <a:solidFill>
                  <a:schemeClr val="dk1"/>
                </a:solidFill>
              </a:rPr>
              <a:t> pela </a:t>
            </a:r>
            <a:r>
              <a:rPr lang="en-US" sz="1600" dirty="0" err="1">
                <a:solidFill>
                  <a:schemeClr val="dk1"/>
                </a:solidFill>
              </a:rPr>
              <a:t>área</a:t>
            </a:r>
            <a:r>
              <a:rPr lang="en-US" sz="1600" dirty="0">
                <a:solidFill>
                  <a:schemeClr val="dk1"/>
                </a:solidFill>
              </a:rPr>
              <a:t> de </a:t>
            </a:r>
            <a:r>
              <a:rPr lang="en-US" sz="1600" dirty="0" err="1">
                <a:solidFill>
                  <a:schemeClr val="dk1"/>
                </a:solidFill>
              </a:rPr>
              <a:t>negócio</a:t>
            </a:r>
            <a:r>
              <a:rPr lang="en-US" sz="1600" dirty="0">
                <a:solidFill>
                  <a:schemeClr val="dk1"/>
                </a:solidFill>
              </a:rPr>
              <a:t>; </a:t>
            </a:r>
            <a:r>
              <a:rPr lang="en-US" sz="1600" dirty="0" err="1">
                <a:solidFill>
                  <a:schemeClr val="dk1"/>
                </a:solidFill>
              </a:rPr>
              <a:t>qualquer</a:t>
            </a:r>
            <a:r>
              <a:rPr lang="en-US" sz="1600" dirty="0">
                <a:solidFill>
                  <a:schemeClr val="dk1"/>
                </a:solidFill>
              </a:rPr>
              <a:t> </a:t>
            </a:r>
            <a:r>
              <a:rPr lang="en-US" sz="1600" dirty="0" err="1">
                <a:solidFill>
                  <a:schemeClr val="dk1"/>
                </a:solidFill>
              </a:rPr>
              <a:t>compromisso</a:t>
            </a:r>
            <a:r>
              <a:rPr lang="en-US" sz="1600" dirty="0">
                <a:solidFill>
                  <a:schemeClr val="dk1"/>
                </a:solidFill>
              </a:rPr>
              <a:t> de performance </a:t>
            </a:r>
            <a:r>
              <a:rPr lang="en-US" sz="1600" dirty="0" err="1">
                <a:solidFill>
                  <a:schemeClr val="dk1"/>
                </a:solidFill>
              </a:rPr>
              <a:t>ou</a:t>
            </a:r>
            <a:r>
              <a:rPr lang="en-US" sz="1600" dirty="0">
                <a:solidFill>
                  <a:schemeClr val="dk1"/>
                </a:solidFill>
              </a:rPr>
              <a:t> SLA do </a:t>
            </a:r>
            <a:r>
              <a:rPr lang="en-US" sz="1600" dirty="0" err="1">
                <a:solidFill>
                  <a:schemeClr val="dk1"/>
                </a:solidFill>
              </a:rPr>
              <a:t>código</a:t>
            </a:r>
            <a:r>
              <a:rPr lang="en-US" sz="1600" dirty="0">
                <a:solidFill>
                  <a:schemeClr val="dk1"/>
                </a:solidFill>
              </a:rPr>
              <a:t> </a:t>
            </a:r>
            <a:r>
              <a:rPr lang="en-US" sz="1600" dirty="0" err="1">
                <a:solidFill>
                  <a:schemeClr val="dk1"/>
                </a:solidFill>
              </a:rPr>
              <a:t>gerado</a:t>
            </a:r>
            <a:r>
              <a:rPr lang="en-US" sz="1600" dirty="0">
                <a:solidFill>
                  <a:schemeClr val="dk1"/>
                </a:solidFill>
              </a:rPr>
              <a:t>; </a:t>
            </a:r>
            <a:r>
              <a:rPr lang="en-US" sz="1600" dirty="0" err="1">
                <a:solidFill>
                  <a:schemeClr val="dk1"/>
                </a:solidFill>
              </a:rPr>
              <a:t>modernização</a:t>
            </a:r>
            <a:r>
              <a:rPr lang="en-US" sz="1600" dirty="0">
                <a:solidFill>
                  <a:schemeClr val="dk1"/>
                </a:solidFill>
              </a:rPr>
              <a:t> de </a:t>
            </a:r>
            <a:r>
              <a:rPr lang="en-US" sz="1600" dirty="0" err="1">
                <a:solidFill>
                  <a:schemeClr val="dk1"/>
                </a:solidFill>
              </a:rPr>
              <a:t>aplicações</a:t>
            </a:r>
            <a:r>
              <a:rPr lang="en-US" sz="1600" dirty="0">
                <a:solidFill>
                  <a:schemeClr val="dk1"/>
                </a:solidFill>
              </a:rPr>
              <a:t> </a:t>
            </a:r>
            <a:r>
              <a:rPr lang="en-US" sz="1600" dirty="0" err="1">
                <a:solidFill>
                  <a:schemeClr val="dk1"/>
                </a:solidFill>
              </a:rPr>
              <a:t>além</a:t>
            </a:r>
            <a:r>
              <a:rPr lang="en-US" sz="1600" dirty="0">
                <a:solidFill>
                  <a:schemeClr val="dk1"/>
                </a:solidFill>
              </a:rPr>
              <a:t> da </a:t>
            </a:r>
            <a:r>
              <a:rPr lang="en-US" sz="1600" dirty="0" err="1">
                <a:solidFill>
                  <a:schemeClr val="dk1"/>
                </a:solidFill>
              </a:rPr>
              <a:t>piloto</a:t>
            </a:r>
            <a:r>
              <a:rPr lang="en-US" sz="1600" dirty="0">
                <a:solidFill>
                  <a:schemeClr val="dk1"/>
                </a:solidFill>
              </a:rPr>
              <a:t> </a:t>
            </a:r>
            <a:r>
              <a:rPr lang="en-US" sz="1600" dirty="0" err="1">
                <a:solidFill>
                  <a:schemeClr val="dk1"/>
                </a:solidFill>
              </a:rPr>
              <a:t>selecionada</a:t>
            </a:r>
            <a:endParaRPr lang="en-US" sz="1600" dirty="0">
              <a:solidFill>
                <a:schemeClr val="dk1"/>
              </a:solidFill>
            </a:endParaRPr>
          </a:p>
        </p:txBody>
      </p:sp>
      <p:sp>
        <p:nvSpPr>
          <p:cNvPr id="3" name="Title 2">
            <a:extLst>
              <a:ext uri="{FF2B5EF4-FFF2-40B4-BE49-F238E27FC236}">
                <a16:creationId xmlns:a16="http://schemas.microsoft.com/office/drawing/2014/main" id="{D2534F90-62BB-9AB7-C969-BD9FC0A17332}"/>
              </a:ext>
            </a:extLst>
          </p:cNvPr>
          <p:cNvSpPr>
            <a:spLocks noGrp="1"/>
          </p:cNvSpPr>
          <p:nvPr>
            <p:ph type="title"/>
          </p:nvPr>
        </p:nvSpPr>
        <p:spPr/>
        <p:txBody>
          <a:bodyPr/>
          <a:lstStyle/>
          <a:p>
            <a:r>
              <a:rPr lang="en-US"/>
              <a:t>Fora de Escopo para o Brazil Engineering Hub</a:t>
            </a:r>
          </a:p>
        </p:txBody>
      </p:sp>
      <p:sp>
        <p:nvSpPr>
          <p:cNvPr id="4" name="Slide Number Placeholder 3">
            <a:extLst>
              <a:ext uri="{FF2B5EF4-FFF2-40B4-BE49-F238E27FC236}">
                <a16:creationId xmlns:a16="http://schemas.microsoft.com/office/drawing/2014/main" id="{CEB7EBF0-4DBC-4972-E40F-A7BF5E48601B}"/>
              </a:ext>
            </a:extLst>
          </p:cNvPr>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3161570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C7B0-54ED-EB6F-1AA4-7817EC93E5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CEC753-B20A-CEBB-7F27-32921B65C044}"/>
              </a:ext>
            </a:extLst>
          </p:cNvPr>
          <p:cNvSpPr>
            <a:spLocks noGrp="1"/>
          </p:cNvSpPr>
          <p:nvPr>
            <p:ph type="title"/>
          </p:nvPr>
        </p:nvSpPr>
        <p:spPr>
          <a:xfrm>
            <a:off x="691376" y="202037"/>
            <a:ext cx="10783229" cy="687854"/>
          </a:xfrm>
        </p:spPr>
        <p:txBody>
          <a:bodyPr/>
          <a:lstStyle/>
          <a:p>
            <a:r>
              <a:rPr lang="en-US"/>
              <a:t>Alocação BEH</a:t>
            </a:r>
          </a:p>
        </p:txBody>
      </p:sp>
      <p:sp>
        <p:nvSpPr>
          <p:cNvPr id="4" name="Slide Number Placeholder 3">
            <a:extLst>
              <a:ext uri="{FF2B5EF4-FFF2-40B4-BE49-F238E27FC236}">
                <a16:creationId xmlns:a16="http://schemas.microsoft.com/office/drawing/2014/main" id="{59ABA8C9-6CFC-264F-2D3E-2ED88FD4E87B}"/>
              </a:ext>
            </a:extLst>
          </p:cNvPr>
          <p:cNvSpPr>
            <a:spLocks noGrp="1"/>
          </p:cNvSpPr>
          <p:nvPr>
            <p:ph type="sldNum" sz="quarter" idx="10"/>
          </p:nvPr>
        </p:nvSpPr>
        <p:spPr/>
        <p:txBody>
          <a:bodyPr/>
          <a:lstStyle/>
          <a:p>
            <a:fld id="{0EE23A24-5E29-4F5A-B780-9568AE9A51DD}" type="slidenum">
              <a:rPr lang="en-US" smtClean="0"/>
              <a:pPr/>
              <a:t>7</a:t>
            </a:fld>
            <a:endParaRPr lang="en-US"/>
          </a:p>
        </p:txBody>
      </p:sp>
      <p:graphicFrame>
        <p:nvGraphicFramePr>
          <p:cNvPr id="7" name="Table 6">
            <a:extLst>
              <a:ext uri="{FF2B5EF4-FFF2-40B4-BE49-F238E27FC236}">
                <a16:creationId xmlns:a16="http://schemas.microsoft.com/office/drawing/2014/main" id="{2CB60F78-601C-3189-BD93-CC4FC5A6628F}"/>
              </a:ext>
            </a:extLst>
          </p:cNvPr>
          <p:cNvGraphicFramePr>
            <a:graphicFrameLocks noGrp="1"/>
          </p:cNvGraphicFramePr>
          <p:nvPr>
            <p:extLst>
              <p:ext uri="{D42A27DB-BD31-4B8C-83A1-F6EECF244321}">
                <p14:modId xmlns:p14="http://schemas.microsoft.com/office/powerpoint/2010/main" val="3005359700"/>
              </p:ext>
            </p:extLst>
          </p:nvPr>
        </p:nvGraphicFramePr>
        <p:xfrm>
          <a:off x="695325" y="1234440"/>
          <a:ext cx="10790237" cy="2655096"/>
        </p:xfrm>
        <a:graphic>
          <a:graphicData uri="http://schemas.openxmlformats.org/drawingml/2006/table">
            <a:tbl>
              <a:tblPr/>
              <a:tblGrid>
                <a:gridCol w="1397297">
                  <a:extLst>
                    <a:ext uri="{9D8B030D-6E8A-4147-A177-3AD203B41FA5}">
                      <a16:colId xmlns:a16="http://schemas.microsoft.com/office/drawing/2014/main" val="3863372768"/>
                    </a:ext>
                  </a:extLst>
                </a:gridCol>
                <a:gridCol w="3485480">
                  <a:extLst>
                    <a:ext uri="{9D8B030D-6E8A-4147-A177-3AD203B41FA5}">
                      <a16:colId xmlns:a16="http://schemas.microsoft.com/office/drawing/2014/main" val="3929019091"/>
                    </a:ext>
                  </a:extLst>
                </a:gridCol>
                <a:gridCol w="1746621">
                  <a:extLst>
                    <a:ext uri="{9D8B030D-6E8A-4147-A177-3AD203B41FA5}">
                      <a16:colId xmlns:a16="http://schemas.microsoft.com/office/drawing/2014/main" val="3684648447"/>
                    </a:ext>
                  </a:extLst>
                </a:gridCol>
                <a:gridCol w="1280856">
                  <a:extLst>
                    <a:ext uri="{9D8B030D-6E8A-4147-A177-3AD203B41FA5}">
                      <a16:colId xmlns:a16="http://schemas.microsoft.com/office/drawing/2014/main" val="3501771912"/>
                    </a:ext>
                  </a:extLst>
                </a:gridCol>
                <a:gridCol w="496816">
                  <a:extLst>
                    <a:ext uri="{9D8B030D-6E8A-4147-A177-3AD203B41FA5}">
                      <a16:colId xmlns:a16="http://schemas.microsoft.com/office/drawing/2014/main" val="2505464406"/>
                    </a:ext>
                  </a:extLst>
                </a:gridCol>
                <a:gridCol w="644309">
                  <a:extLst>
                    <a:ext uri="{9D8B030D-6E8A-4147-A177-3AD203B41FA5}">
                      <a16:colId xmlns:a16="http://schemas.microsoft.com/office/drawing/2014/main" val="2155345516"/>
                    </a:ext>
                  </a:extLst>
                </a:gridCol>
                <a:gridCol w="496816">
                  <a:extLst>
                    <a:ext uri="{9D8B030D-6E8A-4147-A177-3AD203B41FA5}">
                      <a16:colId xmlns:a16="http://schemas.microsoft.com/office/drawing/2014/main" val="125176961"/>
                    </a:ext>
                  </a:extLst>
                </a:gridCol>
                <a:gridCol w="644309">
                  <a:extLst>
                    <a:ext uri="{9D8B030D-6E8A-4147-A177-3AD203B41FA5}">
                      <a16:colId xmlns:a16="http://schemas.microsoft.com/office/drawing/2014/main" val="1416080105"/>
                    </a:ext>
                  </a:extLst>
                </a:gridCol>
                <a:gridCol w="597733">
                  <a:extLst>
                    <a:ext uri="{9D8B030D-6E8A-4147-A177-3AD203B41FA5}">
                      <a16:colId xmlns:a16="http://schemas.microsoft.com/office/drawing/2014/main" val="1180812155"/>
                    </a:ext>
                  </a:extLst>
                </a:gridCol>
              </a:tblGrid>
              <a:tr h="167595">
                <a:tc gridSpan="9">
                  <a:txBody>
                    <a:bodyPr/>
                    <a:lstStyle/>
                    <a:p>
                      <a:pPr algn="ctr" fontAlgn="ctr">
                        <a:buNone/>
                      </a:pPr>
                      <a:r>
                        <a:rPr lang="en-US" sz="1000" b="1" i="0" u="none" strike="noStrike">
                          <a:solidFill>
                            <a:srgbClr val="FFFFFF"/>
                          </a:solidFill>
                          <a:effectLst/>
                          <a:latin typeface="Calibri" panose="020F0502020204030204" pitchFamily="34" charset="0"/>
                        </a:rPr>
                        <a:t>Alocação do Projeto — PoC de 4 semanas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58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65531637"/>
                  </a:ext>
                </a:extLst>
              </a:tr>
              <a:tr h="155181">
                <a:tc>
                  <a:txBody>
                    <a:bodyPr/>
                    <a:lstStyle/>
                    <a:p>
                      <a:pPr algn="ctr" fontAlgn="ctr">
                        <a:buNone/>
                      </a:pPr>
                      <a:r>
                        <a:rPr lang="en-US" sz="900" b="1" i="0" u="none" strike="noStrike">
                          <a:solidFill>
                            <a:srgbClr val="000000"/>
                          </a:solidFill>
                          <a:effectLst/>
                          <a:latin typeface="Calibri" panose="020F0502020204030204" pitchFamily="34" charset="0"/>
                        </a:rPr>
                        <a:t>Frente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Descrição do papel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Papel atribuído no projeto</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Nível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Local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Rate Card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Bill Code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Base de tempo</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Total de horas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566363"/>
                  </a:ext>
                </a:extLst>
              </a:tr>
              <a:tr h="182880">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283609"/>
                  </a:ext>
                </a:extLst>
              </a:tr>
              <a:tr h="182880">
                <a:tc>
                  <a:txBody>
                    <a:bodyPr/>
                    <a:lstStyle/>
                    <a:p>
                      <a:pPr algn="ctr" fontAlgn="ctr">
                        <a:buNone/>
                      </a:pPr>
                      <a:r>
                        <a:rPr lang="en-US" sz="900" b="0" i="0" u="none" strike="noStrike" dirty="0">
                          <a:solidFill>
                            <a:srgbClr val="FF5800"/>
                          </a:solidFill>
                          <a:effectLst/>
                          <a:latin typeface="Calibri" panose="020F0502020204030204" pitchFamily="34" charset="0"/>
                        </a:rPr>
                        <a:t>01 – IMF Factory</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Factory Lead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SME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64</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160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2256465"/>
                  </a:ext>
                </a:extLst>
              </a:tr>
              <a:tr h="182880">
                <a:tc>
                  <a:txBody>
                    <a:bodyPr/>
                    <a:lstStyle/>
                    <a:p>
                      <a:pPr algn="ctr" fontAlgn="ctr">
                        <a:buNone/>
                      </a:pPr>
                      <a:r>
                        <a:rPr lang="en-US" sz="900" b="0" i="0" u="none" strike="noStrike" dirty="0">
                          <a:solidFill>
                            <a:srgbClr val="FF5800"/>
                          </a:solidFill>
                          <a:effectLst/>
                          <a:latin typeface="Calibri" panose="020F0502020204030204" pitchFamily="34" charset="0"/>
                        </a:rPr>
                        <a:t>AVA Fabric Factory</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Apps Factory Migration</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Shared Service - Onshore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40 h/</a:t>
                      </a:r>
                      <a:r>
                        <a:rPr lang="en-US" sz="900" b="0" i="0" u="none" strike="noStrike" dirty="0" err="1">
                          <a:solidFill>
                            <a:srgbClr val="FF5800"/>
                          </a:solidFill>
                          <a:effectLst/>
                          <a:latin typeface="Calibri" panose="020F0502020204030204" pitchFamily="34" charset="0"/>
                        </a:rPr>
                        <a:t>semana</a:t>
                      </a: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320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7517802"/>
                  </a:ext>
                </a:extLst>
              </a:tr>
              <a:tr h="182880">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7663851"/>
                  </a:ext>
                </a:extLst>
              </a:tr>
              <a:tr h="182880">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1080955"/>
                  </a:ext>
                </a:extLst>
              </a:tr>
              <a:tr h="182880">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2246568"/>
                  </a:ext>
                </a:extLst>
              </a:tr>
              <a:tr h="182880">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0358764"/>
                  </a:ext>
                </a:extLst>
              </a:tr>
              <a:tr h="182880">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223066"/>
                  </a:ext>
                </a:extLst>
              </a:tr>
              <a:tr h="182880">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7212670"/>
                  </a:ext>
                </a:extLst>
              </a:tr>
              <a:tr h="182880">
                <a:tc>
                  <a:txBody>
                    <a:bodyPr/>
                    <a:lstStyle/>
                    <a:p>
                      <a:pPr algn="ctr" fontAlgn="ctr">
                        <a:buNone/>
                      </a:pPr>
                      <a:endParaRPr lang="en-US" sz="900" b="0" i="0" u="none" strike="noStrike">
                        <a:solidFill>
                          <a:srgbClr val="FF5800"/>
                        </a:solidFill>
                        <a:effectLst/>
                        <a:latin typeface="Calibri" panose="020F0502020204030204" pitchFamily="34" charset="0"/>
                      </a:endParaRP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44244"/>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TOTAL</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dirty="0"/>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480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976037"/>
                  </a:ext>
                </a:extLst>
              </a:tr>
            </a:tbl>
          </a:graphicData>
        </a:graphic>
      </p:graphicFrame>
    </p:spTree>
    <p:extLst>
      <p:ext uri="{BB962C8B-B14F-4D97-AF65-F5344CB8AC3E}">
        <p14:creationId xmlns:p14="http://schemas.microsoft.com/office/powerpoint/2010/main" val="12543696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1866EC-50E0-DF5F-6D94-AF34963D9F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D6941-9B7A-F9FF-4A58-28BDE2E7254A}"/>
              </a:ext>
            </a:extLst>
          </p:cNvPr>
          <p:cNvSpPr>
            <a:spLocks noGrp="1"/>
          </p:cNvSpPr>
          <p:nvPr>
            <p:ph type="title"/>
          </p:nvPr>
        </p:nvSpPr>
        <p:spPr>
          <a:xfrm>
            <a:off x="691376" y="202037"/>
            <a:ext cx="10783229" cy="687854"/>
          </a:xfrm>
        </p:spPr>
        <p:txBody>
          <a:bodyPr/>
          <a:lstStyle/>
          <a:p>
            <a:r>
              <a:rPr lang="en-US"/>
              <a:t>Alocação BEH</a:t>
            </a:r>
          </a:p>
        </p:txBody>
      </p:sp>
      <p:sp>
        <p:nvSpPr>
          <p:cNvPr id="4" name="Slide Number Placeholder 3">
            <a:extLst>
              <a:ext uri="{FF2B5EF4-FFF2-40B4-BE49-F238E27FC236}">
                <a16:creationId xmlns:a16="http://schemas.microsoft.com/office/drawing/2014/main" id="{608A5E6A-995A-9565-1189-D5E9DEBAAF36}"/>
              </a:ext>
            </a:extLst>
          </p:cNvPr>
          <p:cNvSpPr>
            <a:spLocks noGrp="1"/>
          </p:cNvSpPr>
          <p:nvPr>
            <p:ph type="sldNum" sz="quarter" idx="10"/>
          </p:nvPr>
        </p:nvSpPr>
        <p:spPr/>
        <p:txBody>
          <a:bodyPr/>
          <a:lstStyle/>
          <a:p>
            <a:fld id="{0EE23A24-5E29-4F5A-B780-9568AE9A51DD}" type="slidenum">
              <a:rPr lang="en-US" smtClean="0"/>
              <a:pPr/>
              <a:t>8</a:t>
            </a:fld>
            <a:endParaRPr lang="en-US"/>
          </a:p>
        </p:txBody>
      </p:sp>
      <p:graphicFrame>
        <p:nvGraphicFramePr>
          <p:cNvPr id="7" name="Table 6">
            <a:extLst>
              <a:ext uri="{FF2B5EF4-FFF2-40B4-BE49-F238E27FC236}">
                <a16:creationId xmlns:a16="http://schemas.microsoft.com/office/drawing/2014/main" id="{1F9E7AE5-D998-ADA1-F899-5F767984FA02}"/>
              </a:ext>
            </a:extLst>
          </p:cNvPr>
          <p:cNvGraphicFramePr>
            <a:graphicFrameLocks noGrp="1"/>
          </p:cNvGraphicFramePr>
          <p:nvPr/>
        </p:nvGraphicFramePr>
        <p:xfrm>
          <a:off x="695325" y="1234440"/>
          <a:ext cx="10790237" cy="2837976"/>
        </p:xfrm>
        <a:graphic>
          <a:graphicData uri="http://schemas.openxmlformats.org/drawingml/2006/table">
            <a:tbl>
              <a:tblPr/>
              <a:tblGrid>
                <a:gridCol w="1397297">
                  <a:extLst>
                    <a:ext uri="{9D8B030D-6E8A-4147-A177-3AD203B41FA5}">
                      <a16:colId xmlns:a16="http://schemas.microsoft.com/office/drawing/2014/main" val="3863372768"/>
                    </a:ext>
                  </a:extLst>
                </a:gridCol>
                <a:gridCol w="3485480">
                  <a:extLst>
                    <a:ext uri="{9D8B030D-6E8A-4147-A177-3AD203B41FA5}">
                      <a16:colId xmlns:a16="http://schemas.microsoft.com/office/drawing/2014/main" val="3929019091"/>
                    </a:ext>
                  </a:extLst>
                </a:gridCol>
                <a:gridCol w="1746621">
                  <a:extLst>
                    <a:ext uri="{9D8B030D-6E8A-4147-A177-3AD203B41FA5}">
                      <a16:colId xmlns:a16="http://schemas.microsoft.com/office/drawing/2014/main" val="3684648447"/>
                    </a:ext>
                  </a:extLst>
                </a:gridCol>
                <a:gridCol w="1280856">
                  <a:extLst>
                    <a:ext uri="{9D8B030D-6E8A-4147-A177-3AD203B41FA5}">
                      <a16:colId xmlns:a16="http://schemas.microsoft.com/office/drawing/2014/main" val="3501771912"/>
                    </a:ext>
                  </a:extLst>
                </a:gridCol>
                <a:gridCol w="496816">
                  <a:extLst>
                    <a:ext uri="{9D8B030D-6E8A-4147-A177-3AD203B41FA5}">
                      <a16:colId xmlns:a16="http://schemas.microsoft.com/office/drawing/2014/main" val="2505464406"/>
                    </a:ext>
                  </a:extLst>
                </a:gridCol>
                <a:gridCol w="644309">
                  <a:extLst>
                    <a:ext uri="{9D8B030D-6E8A-4147-A177-3AD203B41FA5}">
                      <a16:colId xmlns:a16="http://schemas.microsoft.com/office/drawing/2014/main" val="2155345516"/>
                    </a:ext>
                  </a:extLst>
                </a:gridCol>
                <a:gridCol w="496816">
                  <a:extLst>
                    <a:ext uri="{9D8B030D-6E8A-4147-A177-3AD203B41FA5}">
                      <a16:colId xmlns:a16="http://schemas.microsoft.com/office/drawing/2014/main" val="125176961"/>
                    </a:ext>
                  </a:extLst>
                </a:gridCol>
                <a:gridCol w="644309">
                  <a:extLst>
                    <a:ext uri="{9D8B030D-6E8A-4147-A177-3AD203B41FA5}">
                      <a16:colId xmlns:a16="http://schemas.microsoft.com/office/drawing/2014/main" val="1416080105"/>
                    </a:ext>
                  </a:extLst>
                </a:gridCol>
                <a:gridCol w="597733">
                  <a:extLst>
                    <a:ext uri="{9D8B030D-6E8A-4147-A177-3AD203B41FA5}">
                      <a16:colId xmlns:a16="http://schemas.microsoft.com/office/drawing/2014/main" val="1180812155"/>
                    </a:ext>
                  </a:extLst>
                </a:gridCol>
              </a:tblGrid>
              <a:tr h="167595">
                <a:tc gridSpan="9">
                  <a:txBody>
                    <a:bodyPr/>
                    <a:lstStyle/>
                    <a:p>
                      <a:pPr algn="ctr" fontAlgn="ctr">
                        <a:buNone/>
                      </a:pPr>
                      <a:r>
                        <a:rPr lang="en-US" sz="1000" b="1" i="0" u="none" strike="noStrike">
                          <a:solidFill>
                            <a:srgbClr val="FFFFFF"/>
                          </a:solidFill>
                          <a:effectLst/>
                          <a:latin typeface="Calibri" panose="020F0502020204030204" pitchFamily="34" charset="0"/>
                        </a:rPr>
                        <a:t>Alocação do Projeto — PoC de 4 semanas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58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65531637"/>
                  </a:ext>
                </a:extLst>
              </a:tr>
              <a:tr h="155181">
                <a:tc>
                  <a:txBody>
                    <a:bodyPr/>
                    <a:lstStyle/>
                    <a:p>
                      <a:pPr algn="ctr" fontAlgn="ctr">
                        <a:buNone/>
                      </a:pPr>
                      <a:r>
                        <a:rPr lang="en-US" sz="900" b="1" i="0" u="none" strike="noStrike">
                          <a:solidFill>
                            <a:srgbClr val="000000"/>
                          </a:solidFill>
                          <a:effectLst/>
                          <a:latin typeface="Calibri" panose="020F0502020204030204" pitchFamily="34" charset="0"/>
                        </a:rPr>
                        <a:t>Frente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Descrição do papel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Papel atribuído no projeto</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Nível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Local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Rate Card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Bill Code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Base de tempo</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Total de horas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566363"/>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Governança 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PM</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Project / Program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64</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283609"/>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01 - AVA Fabric</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err="1">
                          <a:solidFill>
                            <a:srgbClr val="FF5800"/>
                          </a:solidFill>
                          <a:effectLst/>
                          <a:latin typeface="Calibri" panose="020F0502020204030204" pitchFamily="34" charset="0"/>
                        </a:rPr>
                        <a:t>Líder</a:t>
                      </a:r>
                      <a:r>
                        <a:rPr lang="en-US" sz="900" b="0" i="0" u="none" strike="noStrike" dirty="0">
                          <a:solidFill>
                            <a:srgbClr val="FF5800"/>
                          </a:solidFill>
                          <a:effectLst/>
                          <a:latin typeface="Calibri" panose="020F0502020204030204" pitchFamily="34" charset="0"/>
                        </a:rPr>
                        <a:t> da </a:t>
                      </a:r>
                      <a:r>
                        <a:rPr lang="en-US" sz="900" b="0" i="0" u="none" strike="noStrike" dirty="0" err="1">
                          <a:solidFill>
                            <a:srgbClr val="FF5800"/>
                          </a:solidFill>
                          <a:effectLst/>
                          <a:latin typeface="Calibri" panose="020F0502020204030204" pitchFamily="34" charset="0"/>
                        </a:rPr>
                        <a:t>esteira</a:t>
                      </a: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Architect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64</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2256465"/>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01 - AVA Fabric</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Engenheiro de plataforma (runner, gates)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Associate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7517802"/>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02 - AS-IS (F0-F1)</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Analista de legado (.NET / Delphi / VB)</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7663851"/>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03 - TO-BE (F2-F3S)</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Arquiteto TO-BE / SpecKit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Architect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1080955"/>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04 - Codegen (F4)</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err="1">
                          <a:solidFill>
                            <a:srgbClr val="FF5800"/>
                          </a:solidFill>
                          <a:effectLst/>
                          <a:latin typeface="Calibri" panose="020F0502020204030204" pitchFamily="34" charset="0"/>
                        </a:rPr>
                        <a:t>Desenvolvedor</a:t>
                      </a:r>
                      <a:r>
                        <a:rPr lang="en-US" sz="900" b="0" i="0" u="none" strike="noStrike" dirty="0">
                          <a:solidFill>
                            <a:srgbClr val="FF5800"/>
                          </a:solidFill>
                          <a:effectLst/>
                          <a:latin typeface="Calibri" panose="020F0502020204030204" pitchFamily="34" charset="0"/>
                        </a:rPr>
                        <a:t> .NET </a:t>
                      </a:r>
                      <a:r>
                        <a:rPr lang="en-US" sz="900" b="0" i="0" u="none" strike="noStrike" dirty="0" err="1">
                          <a:solidFill>
                            <a:srgbClr val="FF5800"/>
                          </a:solidFill>
                          <a:effectLst/>
                          <a:latin typeface="Calibri" panose="020F0502020204030204" pitchFamily="34" charset="0"/>
                        </a:rPr>
                        <a:t>sênior</a:t>
                      </a:r>
                      <a:r>
                        <a:rPr lang="en-US" sz="900" b="0" i="0" u="none" strike="noStrike" dirty="0">
                          <a:solidFill>
                            <a:srgbClr val="FF5800"/>
                          </a:solidFill>
                          <a:effectLst/>
                          <a:latin typeface="Calibri" panose="020F0502020204030204" pitchFamily="34" charset="0"/>
                        </a:rPr>
                        <a:t> (gate de build)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2246568"/>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04 - Codegen (F4)</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Desenvolvedor Angular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0358764"/>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05 - QA (F5)</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Engenheiro de QA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Test Engineer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223066"/>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06 - DevOps (F6)</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DevOps / IaC (Terraform)</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Infrastructure Cloud Engineer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7212670"/>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07 - Segurança (F7)</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Segurança e compliance (LGPD / OWASP)</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Security Consulting Practitioner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Associate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44244"/>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AVA Fabric Factory</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Execução da esteira — 110 agentes de IA, 9 fases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AVA Fabric Factory</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Shared Service - Onshore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Brasil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h/semana</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6225091"/>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TOTAL</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11 </a:t>
                      </a:r>
                      <a:r>
                        <a:rPr lang="en-US" sz="900" b="0" i="0" u="none" strike="noStrike" dirty="0" err="1">
                          <a:solidFill>
                            <a:srgbClr val="FF5800"/>
                          </a:solidFill>
                          <a:effectLst/>
                          <a:latin typeface="Calibri" panose="020F0502020204030204" pitchFamily="34" charset="0"/>
                        </a:rPr>
                        <a:t>papéis</a:t>
                      </a:r>
                      <a:r>
                        <a:rPr lang="en-US" sz="900" b="0" i="0" u="none" strike="noStrike" dirty="0">
                          <a:solidFill>
                            <a:srgbClr val="FF5800"/>
                          </a:solidFill>
                          <a:effectLst/>
                          <a:latin typeface="Calibri" panose="020F0502020204030204" pitchFamily="34" charset="0"/>
                        </a:rPr>
                        <a:t> · 4 </a:t>
                      </a:r>
                      <a:r>
                        <a:rPr lang="en-US" sz="900" b="0" i="0" u="none" strike="noStrike" dirty="0" err="1">
                          <a:solidFill>
                            <a:srgbClr val="FF5800"/>
                          </a:solidFill>
                          <a:effectLst/>
                          <a:latin typeface="Calibri" panose="020F0502020204030204" pitchFamily="34" charset="0"/>
                        </a:rPr>
                        <a:t>semanas</a:t>
                      </a:r>
                      <a:endParaRPr lang="en-US" sz="900" b="0" i="0" u="none" strike="noStrike" dirty="0">
                        <a:solidFill>
                          <a:srgbClr val="FF5800"/>
                        </a:solidFill>
                        <a:effectLst/>
                        <a:latin typeface="Calibri" panose="020F0502020204030204" pitchFamily="34" charset="0"/>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dirty="0">
                          <a:solidFill>
                            <a:srgbClr val="FF5800"/>
                          </a:solidFill>
                          <a:effectLst/>
                          <a:latin typeface="Calibri" panose="020F0502020204030204" pitchFamily="34" charset="0"/>
                        </a:rPr>
                        <a:t>800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976037"/>
                  </a:ext>
                </a:extLst>
              </a:tr>
            </a:tbl>
          </a:graphicData>
        </a:graphic>
      </p:graphicFrame>
    </p:spTree>
    <p:extLst>
      <p:ext uri="{BB962C8B-B14F-4D97-AF65-F5344CB8AC3E}">
        <p14:creationId xmlns:p14="http://schemas.microsoft.com/office/powerpoint/2010/main" val="221640035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ounded Rectangle 126">
            <a:extLst>
              <a:ext uri="{FF2B5EF4-FFF2-40B4-BE49-F238E27FC236}">
                <a16:creationId xmlns:a16="http://schemas.microsoft.com/office/drawing/2014/main" id="{7D0B884C-2F04-7E02-73AD-938276FEDD68}"/>
              </a:ext>
            </a:extLst>
          </p:cNvPr>
          <p:cNvSpPr/>
          <p:nvPr/>
        </p:nvSpPr>
        <p:spPr>
          <a:xfrm>
            <a:off x="803774" y="2670601"/>
            <a:ext cx="10038736" cy="3728119"/>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3" name="Rounded Rectangle 122">
            <a:extLst>
              <a:ext uri="{FF2B5EF4-FFF2-40B4-BE49-F238E27FC236}">
                <a16:creationId xmlns:a16="http://schemas.microsoft.com/office/drawing/2014/main" id="{AB4C4BF9-ED1D-2CC9-54F1-9EBA39A0605E}"/>
              </a:ext>
            </a:extLst>
          </p:cNvPr>
          <p:cNvSpPr/>
          <p:nvPr/>
        </p:nvSpPr>
        <p:spPr>
          <a:xfrm>
            <a:off x="806245" y="1595306"/>
            <a:ext cx="10038736" cy="1044115"/>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2" name="Rounded Rectangle 121">
            <a:extLst>
              <a:ext uri="{FF2B5EF4-FFF2-40B4-BE49-F238E27FC236}">
                <a16:creationId xmlns:a16="http://schemas.microsoft.com/office/drawing/2014/main" id="{BFB10095-A6F1-BB53-08FA-505D90DB939E}"/>
              </a:ext>
            </a:extLst>
          </p:cNvPr>
          <p:cNvSpPr/>
          <p:nvPr/>
        </p:nvSpPr>
        <p:spPr>
          <a:xfrm>
            <a:off x="806246" y="816769"/>
            <a:ext cx="10038736" cy="700071"/>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8A9E583F-59AC-D0FC-44B9-AC030D05973D}"/>
              </a:ext>
            </a:extLst>
          </p:cNvPr>
          <p:cNvSpPr>
            <a:spLocks noGrp="1"/>
          </p:cNvSpPr>
          <p:nvPr>
            <p:ph type="title"/>
          </p:nvPr>
        </p:nvSpPr>
        <p:spPr>
          <a:xfrm>
            <a:off x="470793" y="199292"/>
            <a:ext cx="11200711" cy="987692"/>
          </a:xfrm>
          <a:prstGeom prst="rect">
            <a:avLst/>
          </a:prstGeom>
        </p:spPr>
        <p:txBody>
          <a:bodyPr/>
          <a:lstStyle/>
          <a:p>
            <a:r>
              <a:rPr lang="en-ZA"/>
              <a:t>Organização do Projeto</a:t>
            </a:r>
            <a:endParaRPr lang="en-US"/>
          </a:p>
        </p:txBody>
      </p:sp>
      <p:sp>
        <p:nvSpPr>
          <p:cNvPr id="3" name="Title 54">
            <a:extLst>
              <a:ext uri="{FF2B5EF4-FFF2-40B4-BE49-F238E27FC236}">
                <a16:creationId xmlns:a16="http://schemas.microsoft.com/office/drawing/2014/main" id="{BA551802-B966-D852-5ABC-9CC3747A9936}"/>
              </a:ext>
            </a:extLst>
          </p:cNvPr>
          <p:cNvSpPr txBox="1">
            <a:spLocks/>
          </p:cNvSpPr>
          <p:nvPr/>
        </p:nvSpPr>
        <p:spPr>
          <a:xfrm>
            <a:off x="371832" y="474580"/>
            <a:ext cx="11284993" cy="597159"/>
          </a:xfrm>
        </p:spPr>
        <p:txBody>
          <a:bodyPr/>
          <a:lstStyle>
            <a:defPPr>
              <a:defRPr lang="en-US"/>
            </a:defPPr>
            <a:lvl1pPr marL="0" algn="l" defTabSz="1219170" rtl="0" eaLnBrk="1" latinLnBrk="0" hangingPunct="1">
              <a:lnSpc>
                <a:spcPct val="120000"/>
              </a:lnSpc>
              <a:spcBef>
                <a:spcPts val="267"/>
              </a:spcBef>
              <a:spcAft>
                <a:spcPts val="267"/>
              </a:spcAft>
              <a:buNone/>
              <a:defRPr sz="2667" kern="1200" baseline="0">
                <a:solidFill>
                  <a:schemeClr val="bg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595959"/>
              </a:solidFill>
              <a:latin typeface="Segoe UI Black"/>
            </a:endParaRPr>
          </a:p>
        </p:txBody>
      </p:sp>
      <p:sp>
        <p:nvSpPr>
          <p:cNvPr id="15" name="Rectangle: Rounded Corners 53">
            <a:extLst>
              <a:ext uri="{FF2B5EF4-FFF2-40B4-BE49-F238E27FC236}">
                <a16:creationId xmlns:a16="http://schemas.microsoft.com/office/drawing/2014/main" id="{FE53CC52-1133-FB59-0767-5D471D3C71DF}"/>
              </a:ext>
            </a:extLst>
          </p:cNvPr>
          <p:cNvSpPr/>
          <p:nvPr/>
        </p:nvSpPr>
        <p:spPr>
          <a:xfrm>
            <a:off x="10938716" y="4871657"/>
            <a:ext cx="989631" cy="388237"/>
          </a:xfrm>
          <a:prstGeom prst="roundRect">
            <a:avLst/>
          </a:prstGeom>
          <a:solidFill>
            <a:srgbClr val="0070C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ABC Bank</a:t>
            </a:r>
          </a:p>
        </p:txBody>
      </p:sp>
      <p:sp>
        <p:nvSpPr>
          <p:cNvPr id="16" name="Rectangle: Rounded Corners 54">
            <a:extLst>
              <a:ext uri="{FF2B5EF4-FFF2-40B4-BE49-F238E27FC236}">
                <a16:creationId xmlns:a16="http://schemas.microsoft.com/office/drawing/2014/main" id="{07BF1B75-8126-B5F6-8A72-A0DC63C0CDF5}"/>
              </a:ext>
            </a:extLst>
          </p:cNvPr>
          <p:cNvSpPr/>
          <p:nvPr/>
        </p:nvSpPr>
        <p:spPr>
          <a:xfrm>
            <a:off x="10938715" y="5351109"/>
            <a:ext cx="989631" cy="388237"/>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a:t>
            </a:r>
          </a:p>
        </p:txBody>
      </p:sp>
      <p:sp>
        <p:nvSpPr>
          <p:cNvPr id="24" name="AutoShape 79">
            <a:extLst>
              <a:ext uri="{FF2B5EF4-FFF2-40B4-BE49-F238E27FC236}">
                <a16:creationId xmlns:a16="http://schemas.microsoft.com/office/drawing/2014/main" id="{47F0D75E-E8D2-692A-BDBD-49C1C6FF15DA}"/>
              </a:ext>
            </a:extLst>
          </p:cNvPr>
          <p:cNvSpPr>
            <a:spLocks noChangeArrowheads="1"/>
          </p:cNvSpPr>
          <p:nvPr/>
        </p:nvSpPr>
        <p:spPr bwMode="auto">
          <a:xfrm>
            <a:off x="2964741" y="1732718"/>
            <a:ext cx="1658956" cy="337940"/>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Gerente de Projeto</a:t>
            </a:r>
          </a:p>
        </p:txBody>
      </p:sp>
      <p:sp>
        <p:nvSpPr>
          <p:cNvPr id="25" name="Rectangle: Rounded Corners 65">
            <a:extLst>
              <a:ext uri="{FF2B5EF4-FFF2-40B4-BE49-F238E27FC236}">
                <a16:creationId xmlns:a16="http://schemas.microsoft.com/office/drawing/2014/main" id="{3421EF99-EADD-504D-45D3-F0727FA4B2D7}"/>
              </a:ext>
            </a:extLst>
          </p:cNvPr>
          <p:cNvSpPr>
            <a:spLocks/>
          </p:cNvSpPr>
          <p:nvPr/>
        </p:nvSpPr>
        <p:spPr>
          <a:xfrm>
            <a:off x="9055530" y="2926674"/>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Arquiteto Corporativo</a:t>
            </a:r>
          </a:p>
        </p:txBody>
      </p:sp>
      <p:sp>
        <p:nvSpPr>
          <p:cNvPr id="26" name="Rectangle: Rounded Corners 66">
            <a:extLst>
              <a:ext uri="{FF2B5EF4-FFF2-40B4-BE49-F238E27FC236}">
                <a16:creationId xmlns:a16="http://schemas.microsoft.com/office/drawing/2014/main" id="{8DAF5143-A53D-C5A9-BDA6-EBDB3EA8C5A2}"/>
              </a:ext>
            </a:extLst>
          </p:cNvPr>
          <p:cNvSpPr>
            <a:spLocks/>
          </p:cNvSpPr>
          <p:nvPr/>
        </p:nvSpPr>
        <p:spPr>
          <a:xfrm>
            <a:off x="9055530" y="3220271"/>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srgbClr val="FFFFFF"/>
                </a:solidFill>
                <a:latin typeface="Segoe UI" panose="020B0502040204020203" pitchFamily="34" charset="0"/>
                <a:ea typeface="ＭＳ Ｐゴシック"/>
                <a:cs typeface="Segoe UI" panose="020B0502040204020203" pitchFamily="34" charset="0"/>
              </a:rPr>
              <a:t>CISO / DPO</a:t>
            </a:r>
          </a:p>
        </p:txBody>
      </p:sp>
      <p:sp>
        <p:nvSpPr>
          <p:cNvPr id="28" name="AutoShape 79">
            <a:extLst>
              <a:ext uri="{FF2B5EF4-FFF2-40B4-BE49-F238E27FC236}">
                <a16:creationId xmlns:a16="http://schemas.microsoft.com/office/drawing/2014/main" id="{E4282B70-347A-7DAF-FE99-A4A206A159E9}"/>
              </a:ext>
            </a:extLst>
          </p:cNvPr>
          <p:cNvSpPr>
            <a:spLocks noChangeArrowheads="1"/>
          </p:cNvSpPr>
          <p:nvPr/>
        </p:nvSpPr>
        <p:spPr bwMode="auto">
          <a:xfrm>
            <a:off x="5639138" y="1042087"/>
            <a:ext cx="1430010"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Patrocinador Executivo</a:t>
            </a:r>
          </a:p>
        </p:txBody>
      </p:sp>
      <p:cxnSp>
        <p:nvCxnSpPr>
          <p:cNvPr id="31" name="Straight Connector 30">
            <a:extLst>
              <a:ext uri="{FF2B5EF4-FFF2-40B4-BE49-F238E27FC236}">
                <a16:creationId xmlns:a16="http://schemas.microsoft.com/office/drawing/2014/main" id="{A866F361-CB8A-B7DA-6CD3-68AE96B05EBE}"/>
              </a:ext>
            </a:extLst>
          </p:cNvPr>
          <p:cNvCxnSpPr>
            <a:cxnSpLocks/>
          </p:cNvCxnSpPr>
          <p:nvPr/>
        </p:nvCxnSpPr>
        <p:spPr>
          <a:xfrm>
            <a:off x="8681654" y="3499022"/>
            <a:ext cx="0" cy="0"/>
          </a:xfrm>
          <a:prstGeom prst="line">
            <a:avLst/>
          </a:prstGeom>
          <a:noFill/>
          <a:ln w="9525" cap="flat" cmpd="sng" algn="ctr">
            <a:solidFill>
              <a:srgbClr val="890078">
                <a:shade val="95000"/>
                <a:satMod val="105000"/>
              </a:srgbClr>
            </a:solidFill>
            <a:prstDash val="solid"/>
          </a:ln>
          <a:effectLst/>
        </p:spPr>
      </p:cxnSp>
      <p:sp>
        <p:nvSpPr>
          <p:cNvPr id="32" name="Rectangle: Rounded Corners 79">
            <a:extLst>
              <a:ext uri="{FF2B5EF4-FFF2-40B4-BE49-F238E27FC236}">
                <a16:creationId xmlns:a16="http://schemas.microsoft.com/office/drawing/2014/main" id="{35E0FB1D-CB5B-10E4-07E1-F92C65B294A2}"/>
              </a:ext>
            </a:extLst>
          </p:cNvPr>
          <p:cNvSpPr>
            <a:spLocks/>
          </p:cNvSpPr>
          <p:nvPr/>
        </p:nvSpPr>
        <p:spPr>
          <a:xfrm>
            <a:off x="9055530" y="3503097"/>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SMEs de Negócio (regras)</a:t>
            </a:r>
          </a:p>
        </p:txBody>
      </p:sp>
      <p:sp>
        <p:nvSpPr>
          <p:cNvPr id="33" name="Rectangle: Rounded Corners 80">
            <a:extLst>
              <a:ext uri="{FF2B5EF4-FFF2-40B4-BE49-F238E27FC236}">
                <a16:creationId xmlns:a16="http://schemas.microsoft.com/office/drawing/2014/main" id="{DEBACA4D-11BE-9A86-4939-A1D59144F067}"/>
              </a:ext>
            </a:extLst>
          </p:cNvPr>
          <p:cNvSpPr>
            <a:spLocks/>
          </p:cNvSpPr>
          <p:nvPr/>
        </p:nvSpPr>
        <p:spPr>
          <a:xfrm>
            <a:off x="9055530" y="378592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Tech Leads dos Squads</a:t>
            </a:r>
          </a:p>
        </p:txBody>
      </p:sp>
      <p:sp>
        <p:nvSpPr>
          <p:cNvPr id="34" name="TextBox 82">
            <a:extLst>
              <a:ext uri="{FF2B5EF4-FFF2-40B4-BE49-F238E27FC236}">
                <a16:creationId xmlns:a16="http://schemas.microsoft.com/office/drawing/2014/main" id="{FFCA7144-F65C-7DC1-1B29-886816FD9A09}"/>
              </a:ext>
            </a:extLst>
          </p:cNvPr>
          <p:cNvSpPr txBox="1"/>
          <p:nvPr/>
        </p:nvSpPr>
        <p:spPr>
          <a:xfrm>
            <a:off x="11155085" y="4534661"/>
            <a:ext cx="50174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Legenda</a:t>
            </a:r>
          </a:p>
        </p:txBody>
      </p:sp>
      <p:sp>
        <p:nvSpPr>
          <p:cNvPr id="37" name="AutoShape 79">
            <a:extLst>
              <a:ext uri="{FF2B5EF4-FFF2-40B4-BE49-F238E27FC236}">
                <a16:creationId xmlns:a16="http://schemas.microsoft.com/office/drawing/2014/main" id="{361A2087-B234-072C-37E7-26F9CDC21CC2}"/>
              </a:ext>
            </a:extLst>
          </p:cNvPr>
          <p:cNvSpPr>
            <a:spLocks noChangeArrowheads="1"/>
          </p:cNvSpPr>
          <p:nvPr/>
        </p:nvSpPr>
        <p:spPr bwMode="auto">
          <a:xfrm>
            <a:off x="8935214" y="1028413"/>
            <a:ext cx="1658956" cy="348840"/>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Patrocinador de TI (ABC Bank)</a:t>
            </a:r>
          </a:p>
        </p:txBody>
      </p:sp>
      <p:sp>
        <p:nvSpPr>
          <p:cNvPr id="38" name="AutoShape 79">
            <a:extLst>
              <a:ext uri="{FF2B5EF4-FFF2-40B4-BE49-F238E27FC236}">
                <a16:creationId xmlns:a16="http://schemas.microsoft.com/office/drawing/2014/main" id="{12BD1974-9A89-B715-91FD-5916745ADD1B}"/>
              </a:ext>
            </a:extLst>
          </p:cNvPr>
          <p:cNvSpPr>
            <a:spLocks noChangeArrowheads="1"/>
          </p:cNvSpPr>
          <p:nvPr/>
        </p:nvSpPr>
        <p:spPr bwMode="auto">
          <a:xfrm>
            <a:off x="7165986" y="1028412"/>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srgbClr val="FFFFFF"/>
                </a:solidFill>
                <a:latin typeface="Segoe UI" panose="020B0502040204020203" pitchFamily="34" charset="0"/>
                <a:ea typeface="ＭＳ Ｐゴシック"/>
                <a:cs typeface="Segoe UI" panose="020B0502040204020203" pitchFamily="34" charset="0"/>
              </a:rPr>
              <a:t>Patrocinador Executivo (ABC Bank)</a:t>
            </a:r>
            <a:endParaRPr lang="en-GB" altLang="ja-JP" sz="1000">
              <a:solidFill>
                <a:srgbClr val="FFFFFF"/>
              </a:solidFill>
              <a:latin typeface="Segoe UI" panose="020B0502040204020203" pitchFamily="34" charset="0"/>
              <a:ea typeface="ＭＳ Ｐゴシック" charset="0"/>
              <a:cs typeface="Segoe UI" panose="020B0502040204020203" pitchFamily="34" charset="0"/>
            </a:endParaRPr>
          </a:p>
        </p:txBody>
      </p:sp>
      <p:sp>
        <p:nvSpPr>
          <p:cNvPr id="39" name="AutoShape 79">
            <a:extLst>
              <a:ext uri="{FF2B5EF4-FFF2-40B4-BE49-F238E27FC236}">
                <a16:creationId xmlns:a16="http://schemas.microsoft.com/office/drawing/2014/main" id="{6F7729DD-F6FA-20BC-A8D5-4EEFD331186B}"/>
              </a:ext>
            </a:extLst>
          </p:cNvPr>
          <p:cNvSpPr>
            <a:spLocks noChangeArrowheads="1"/>
          </p:cNvSpPr>
          <p:nvPr/>
        </p:nvSpPr>
        <p:spPr bwMode="auto">
          <a:xfrm>
            <a:off x="6690434" y="1735415"/>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Líder do Programa (ABC Bank)</a:t>
            </a:r>
          </a:p>
        </p:txBody>
      </p:sp>
      <p:sp>
        <p:nvSpPr>
          <p:cNvPr id="40" name="AutoShape 79">
            <a:extLst>
              <a:ext uri="{FF2B5EF4-FFF2-40B4-BE49-F238E27FC236}">
                <a16:creationId xmlns:a16="http://schemas.microsoft.com/office/drawing/2014/main" id="{65A8A4EE-764B-B16D-4685-F0726D90B19A}"/>
              </a:ext>
            </a:extLst>
          </p:cNvPr>
          <p:cNvSpPr>
            <a:spLocks noChangeArrowheads="1"/>
          </p:cNvSpPr>
          <p:nvPr/>
        </p:nvSpPr>
        <p:spPr bwMode="auto">
          <a:xfrm>
            <a:off x="8423582" y="1742868"/>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Gerente de Projeto (ABC Bank)</a:t>
            </a:r>
          </a:p>
        </p:txBody>
      </p:sp>
      <p:sp>
        <p:nvSpPr>
          <p:cNvPr id="42" name="Rectangle: Rounded Corners 91">
            <a:extLst>
              <a:ext uri="{FF2B5EF4-FFF2-40B4-BE49-F238E27FC236}">
                <a16:creationId xmlns:a16="http://schemas.microsoft.com/office/drawing/2014/main" id="{F3A440E1-ABE4-4FA3-53E3-4A43C2E62322}"/>
              </a:ext>
            </a:extLst>
          </p:cNvPr>
          <p:cNvSpPr>
            <a:spLocks/>
          </p:cNvSpPr>
          <p:nvPr/>
        </p:nvSpPr>
        <p:spPr>
          <a:xfrm>
            <a:off x="9059906" y="410159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TI - Infraestrutura</a:t>
            </a:r>
          </a:p>
        </p:txBody>
      </p:sp>
      <p:sp>
        <p:nvSpPr>
          <p:cNvPr id="43" name="AutoShape 79">
            <a:extLst>
              <a:ext uri="{FF2B5EF4-FFF2-40B4-BE49-F238E27FC236}">
                <a16:creationId xmlns:a16="http://schemas.microsoft.com/office/drawing/2014/main" id="{19576D72-7B5F-8EA1-82A2-BDEE24F14C8B}"/>
              </a:ext>
            </a:extLst>
          </p:cNvPr>
          <p:cNvSpPr>
            <a:spLocks noChangeArrowheads="1"/>
          </p:cNvSpPr>
          <p:nvPr/>
        </p:nvSpPr>
        <p:spPr bwMode="auto">
          <a:xfrm>
            <a:off x="4758202" y="2164662"/>
            <a:ext cx="1658956" cy="343753"/>
          </a:xfrm>
          <a:prstGeom prst="roundRect">
            <a:avLst>
              <a:gd name="adj" fmla="val 16667"/>
            </a:avLst>
          </a:prstGeom>
          <a:solidFill>
            <a:schemeClr val="tx2"/>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dirty="0" err="1">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Arquiteto</a:t>
            </a: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 de </a:t>
            </a:r>
            <a:r>
              <a:rPr kumimoji="0" lang="en-GB" altLang="ja-JP" sz="1000" u="none" strike="noStrike" kern="0" cap="none" spc="0" normalizeH="0" baseline="0" noProof="0" dirty="0" err="1">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Solução</a:t>
            </a:r>
            <a:endPar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endParaRPr>
          </a:p>
        </p:txBody>
      </p:sp>
      <p:sp>
        <p:nvSpPr>
          <p:cNvPr id="49" name="AutoShape 79">
            <a:extLst>
              <a:ext uri="{FF2B5EF4-FFF2-40B4-BE49-F238E27FC236}">
                <a16:creationId xmlns:a16="http://schemas.microsoft.com/office/drawing/2014/main" id="{EC1D0065-3650-3AC4-B7CC-5769CBE7AA54}"/>
              </a:ext>
            </a:extLst>
          </p:cNvPr>
          <p:cNvSpPr>
            <a:spLocks noChangeArrowheads="1"/>
          </p:cNvSpPr>
          <p:nvPr/>
        </p:nvSpPr>
        <p:spPr bwMode="auto">
          <a:xfrm>
            <a:off x="4758202" y="1730034"/>
            <a:ext cx="1658956"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Líder de Entrega</a:t>
            </a:r>
          </a:p>
        </p:txBody>
      </p:sp>
      <p:sp>
        <p:nvSpPr>
          <p:cNvPr id="86" name="AutoShape 79">
            <a:extLst>
              <a:ext uri="{FF2B5EF4-FFF2-40B4-BE49-F238E27FC236}">
                <a16:creationId xmlns:a16="http://schemas.microsoft.com/office/drawing/2014/main" id="{3BF5A8E7-FBCF-2610-55D8-B7C3CAB30133}"/>
              </a:ext>
            </a:extLst>
          </p:cNvPr>
          <p:cNvSpPr>
            <a:spLocks noChangeArrowheads="1"/>
          </p:cNvSpPr>
          <p:nvPr/>
        </p:nvSpPr>
        <p:spPr bwMode="auto">
          <a:xfrm>
            <a:off x="4111848" y="1046160"/>
            <a:ext cx="1430893" cy="343753"/>
          </a:xfrm>
          <a:prstGeom prst="roundRect">
            <a:avLst>
              <a:gd name="adj" fmla="val 16667"/>
            </a:avLst>
          </a:prstGeom>
          <a:solidFill>
            <a:srgbClr val="FF580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PDL</a:t>
            </a:r>
          </a:p>
        </p:txBody>
      </p:sp>
      <p:sp>
        <p:nvSpPr>
          <p:cNvPr id="105" name="Rectangle: Rounded Corners 54">
            <a:extLst>
              <a:ext uri="{FF2B5EF4-FFF2-40B4-BE49-F238E27FC236}">
                <a16:creationId xmlns:a16="http://schemas.microsoft.com/office/drawing/2014/main" id="{1EFC4A26-401C-2C97-0B61-9EDFADAF12E6}"/>
              </a:ext>
            </a:extLst>
          </p:cNvPr>
          <p:cNvSpPr/>
          <p:nvPr/>
        </p:nvSpPr>
        <p:spPr>
          <a:xfrm>
            <a:off x="10938715" y="5834046"/>
            <a:ext cx="989631" cy="388237"/>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 | Brasil</a:t>
            </a:r>
          </a:p>
        </p:txBody>
      </p:sp>
      <p:sp>
        <p:nvSpPr>
          <p:cNvPr id="108" name="Rectangle: Rounded Corners 96">
            <a:extLst>
              <a:ext uri="{FF2B5EF4-FFF2-40B4-BE49-F238E27FC236}">
                <a16:creationId xmlns:a16="http://schemas.microsoft.com/office/drawing/2014/main" id="{4EDD871B-FC4A-FD2E-2A40-07CD978BD1EA}"/>
              </a:ext>
            </a:extLst>
          </p:cNvPr>
          <p:cNvSpPr>
            <a:spLocks/>
          </p:cNvSpPr>
          <p:nvPr/>
        </p:nvSpPr>
        <p:spPr>
          <a:xfrm>
            <a:off x="3882177" y="2764242"/>
            <a:ext cx="1384088" cy="3314442"/>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effectLst/>
                <a:uLnTx/>
                <a:uFillTx/>
                <a:latin typeface="Segoe UI" panose="020B0502040204020203" pitchFamily="34" charset="0"/>
                <a:cs typeface="Segoe UI" panose="020B0502040204020203" pitchFamily="34" charset="0"/>
              </a:rPr>
              <a:t>.NET</a:t>
            </a:r>
            <a:endParaRPr kumimoji="0" lang="en-US" sz="800" u="none" strike="noStrike" kern="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109" name="Rectangle: Rounded Corners 96">
            <a:extLst>
              <a:ext uri="{FF2B5EF4-FFF2-40B4-BE49-F238E27FC236}">
                <a16:creationId xmlns:a16="http://schemas.microsoft.com/office/drawing/2014/main" id="{B7FBA014-918F-22C6-57FB-2C6010A91403}"/>
              </a:ext>
            </a:extLst>
          </p:cNvPr>
          <p:cNvSpPr>
            <a:spLocks/>
          </p:cNvSpPr>
          <p:nvPr/>
        </p:nvSpPr>
        <p:spPr>
          <a:xfrm>
            <a:off x="714817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Segurança e Compliance</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11" name="Rectangle: Rounded Corners 96">
            <a:extLst>
              <a:ext uri="{FF2B5EF4-FFF2-40B4-BE49-F238E27FC236}">
                <a16:creationId xmlns:a16="http://schemas.microsoft.com/office/drawing/2014/main" id="{B5647E9B-483B-4F18-7EE6-698AB269E3C7}"/>
              </a:ext>
            </a:extLst>
          </p:cNvPr>
          <p:cNvSpPr>
            <a:spLocks/>
          </p:cNvSpPr>
          <p:nvPr/>
        </p:nvSpPr>
        <p:spPr>
          <a:xfrm>
            <a:off x="215974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effectLst/>
                <a:uLnTx/>
                <a:uFillTx/>
                <a:latin typeface="Segoe UI" panose="020B0502040204020203" pitchFamily="34" charset="0"/>
                <a:cs typeface="Segoe UI" panose="020B0502040204020203" pitchFamily="34" charset="0"/>
              </a:rPr>
              <a:t>Java </a:t>
            </a:r>
            <a:endParaRPr kumimoji="0" lang="en-US" sz="800" u="none" strike="noStrike" kern="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118" name="AutoShape 79">
            <a:extLst>
              <a:ext uri="{FF2B5EF4-FFF2-40B4-BE49-F238E27FC236}">
                <a16:creationId xmlns:a16="http://schemas.microsoft.com/office/drawing/2014/main" id="{694CCA1C-9B78-C7AB-5260-E097DC1310FD}"/>
              </a:ext>
            </a:extLst>
          </p:cNvPr>
          <p:cNvSpPr>
            <a:spLocks noChangeArrowheads="1"/>
          </p:cNvSpPr>
          <p:nvPr/>
        </p:nvSpPr>
        <p:spPr bwMode="auto">
          <a:xfrm>
            <a:off x="2554442" y="1040312"/>
            <a:ext cx="1431674"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QAD</a:t>
            </a:r>
          </a:p>
        </p:txBody>
      </p:sp>
      <p:sp>
        <p:nvSpPr>
          <p:cNvPr id="120" name="AutoShape 79">
            <a:extLst>
              <a:ext uri="{FF2B5EF4-FFF2-40B4-BE49-F238E27FC236}">
                <a16:creationId xmlns:a16="http://schemas.microsoft.com/office/drawing/2014/main" id="{B9086251-6427-0DCA-11E0-43F702A7B524}"/>
              </a:ext>
            </a:extLst>
          </p:cNvPr>
          <p:cNvSpPr>
            <a:spLocks noChangeArrowheads="1"/>
          </p:cNvSpPr>
          <p:nvPr/>
        </p:nvSpPr>
        <p:spPr bwMode="auto">
          <a:xfrm>
            <a:off x="2964741" y="2161864"/>
            <a:ext cx="1658956" cy="343753"/>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Gestão de Entrega BEH</a:t>
            </a:r>
          </a:p>
        </p:txBody>
      </p:sp>
      <p:sp>
        <p:nvSpPr>
          <p:cNvPr id="124" name="TextBox 82">
            <a:extLst>
              <a:ext uri="{FF2B5EF4-FFF2-40B4-BE49-F238E27FC236}">
                <a16:creationId xmlns:a16="http://schemas.microsoft.com/office/drawing/2014/main" id="{7F3F505B-6535-F131-17BA-A9E6EE616D8C}"/>
              </a:ext>
            </a:extLst>
          </p:cNvPr>
          <p:cNvSpPr txBox="1"/>
          <p:nvPr/>
        </p:nvSpPr>
        <p:spPr>
          <a:xfrm>
            <a:off x="947599" y="2898178"/>
            <a:ext cx="94481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Time de Entrega</a:t>
            </a:r>
          </a:p>
        </p:txBody>
      </p:sp>
      <p:sp>
        <p:nvSpPr>
          <p:cNvPr id="125" name="TextBox 82">
            <a:extLst>
              <a:ext uri="{FF2B5EF4-FFF2-40B4-BE49-F238E27FC236}">
                <a16:creationId xmlns:a16="http://schemas.microsoft.com/office/drawing/2014/main" id="{A045F667-DA0C-310E-181E-BEA9D369F82B}"/>
              </a:ext>
            </a:extLst>
          </p:cNvPr>
          <p:cNvSpPr txBox="1"/>
          <p:nvPr/>
        </p:nvSpPr>
        <p:spPr>
          <a:xfrm>
            <a:off x="961508" y="2020551"/>
            <a:ext cx="147348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Gestão do Projeto</a:t>
            </a:r>
          </a:p>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e Supervisão Técnica</a:t>
            </a:r>
          </a:p>
        </p:txBody>
      </p:sp>
      <p:sp>
        <p:nvSpPr>
          <p:cNvPr id="126" name="TextBox 82">
            <a:extLst>
              <a:ext uri="{FF2B5EF4-FFF2-40B4-BE49-F238E27FC236}">
                <a16:creationId xmlns:a16="http://schemas.microsoft.com/office/drawing/2014/main" id="{281C5E52-C0F5-D15D-CFAF-B220C9D2622B}"/>
              </a:ext>
            </a:extLst>
          </p:cNvPr>
          <p:cNvSpPr txBox="1"/>
          <p:nvPr/>
        </p:nvSpPr>
        <p:spPr>
          <a:xfrm>
            <a:off x="947599" y="1041859"/>
            <a:ext cx="135037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Comitê</a:t>
            </a:r>
          </a:p>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Diretor do Programa</a:t>
            </a:r>
          </a:p>
        </p:txBody>
      </p:sp>
      <p:sp>
        <p:nvSpPr>
          <p:cNvPr id="129" name="AutoShape 79">
            <a:extLst>
              <a:ext uri="{FF2B5EF4-FFF2-40B4-BE49-F238E27FC236}">
                <a16:creationId xmlns:a16="http://schemas.microsoft.com/office/drawing/2014/main" id="{B65A1E04-5A68-CD1F-6E89-2D1119626D06}"/>
              </a:ext>
            </a:extLst>
          </p:cNvPr>
          <p:cNvSpPr>
            <a:spLocks noChangeArrowheads="1"/>
          </p:cNvSpPr>
          <p:nvPr/>
        </p:nvSpPr>
        <p:spPr bwMode="auto">
          <a:xfrm>
            <a:off x="6686817" y="2170960"/>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Arquiteto Corporativo (ABC Bank)</a:t>
            </a:r>
          </a:p>
        </p:txBody>
      </p:sp>
      <p:sp>
        <p:nvSpPr>
          <p:cNvPr id="4" name="Rectangle: Rounded Corners 96">
            <a:extLst>
              <a:ext uri="{FF2B5EF4-FFF2-40B4-BE49-F238E27FC236}">
                <a16:creationId xmlns:a16="http://schemas.microsoft.com/office/drawing/2014/main" id="{277AAAA6-D891-27E8-3153-2A21539CB509}"/>
              </a:ext>
            </a:extLst>
          </p:cNvPr>
          <p:cNvSpPr>
            <a:spLocks/>
          </p:cNvSpPr>
          <p:nvPr/>
        </p:nvSpPr>
        <p:spPr>
          <a:xfrm>
            <a:off x="9252029" y="4858433"/>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err="1">
                <a:ln>
                  <a:noFill/>
                </a:ln>
                <a:solidFill>
                  <a:prstClr val="white"/>
                </a:solidFill>
                <a:effectLst/>
                <a:uLnTx/>
                <a:uFillTx/>
                <a:latin typeface="Segoe UI" panose="020B0502040204020203" pitchFamily="34" charset="0"/>
                <a:cs typeface="Segoe UI" panose="020B0502040204020203" pitchFamily="34" charset="0"/>
              </a:rPr>
              <a:t>Engenheiro</a:t>
            </a: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 DevOps</a:t>
            </a:r>
          </a:p>
        </p:txBody>
      </p:sp>
      <p:sp>
        <p:nvSpPr>
          <p:cNvPr id="5" name="Rectangle: Rounded Corners 96">
            <a:extLst>
              <a:ext uri="{FF2B5EF4-FFF2-40B4-BE49-F238E27FC236}">
                <a16:creationId xmlns:a16="http://schemas.microsoft.com/office/drawing/2014/main" id="{1CE7146F-5602-6CB0-0E55-C2A1E7A992AB}"/>
              </a:ext>
            </a:extLst>
          </p:cNvPr>
          <p:cNvSpPr>
            <a:spLocks/>
          </p:cNvSpPr>
          <p:nvPr/>
        </p:nvSpPr>
        <p:spPr>
          <a:xfrm>
            <a:off x="9252029" y="5227515"/>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err="1">
                <a:ln>
                  <a:noFill/>
                </a:ln>
                <a:solidFill>
                  <a:prstClr val="white"/>
                </a:solidFill>
                <a:effectLst/>
                <a:uLnTx/>
                <a:uFillTx/>
                <a:latin typeface="Segoe UI" panose="020B0502040204020203" pitchFamily="34" charset="0"/>
                <a:cs typeface="Segoe UI" panose="020B0502040204020203" pitchFamily="34" charset="0"/>
              </a:rPr>
              <a:t>IaC</a:t>
            </a: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 (Terraform)</a:t>
            </a:r>
            <a:endParaRPr kumimoji="0" lang="en-US" sz="8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9" name="Rectangle: Rounded Corners 96">
            <a:extLst>
              <a:ext uri="{FF2B5EF4-FFF2-40B4-BE49-F238E27FC236}">
                <a16:creationId xmlns:a16="http://schemas.microsoft.com/office/drawing/2014/main" id="{E2E52C2E-A132-9B18-40F2-1B836819A0FD}"/>
              </a:ext>
            </a:extLst>
          </p:cNvPr>
          <p:cNvSpPr>
            <a:spLocks/>
          </p:cNvSpPr>
          <p:nvPr/>
        </p:nvSpPr>
        <p:spPr>
          <a:xfrm>
            <a:off x="9055530" y="4508200"/>
            <a:ext cx="1614575" cy="1570484"/>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DevOps e IaC</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6" name="Rectangle: Rounded Corners 96">
            <a:extLst>
              <a:ext uri="{FF2B5EF4-FFF2-40B4-BE49-F238E27FC236}">
                <a16:creationId xmlns:a16="http://schemas.microsoft.com/office/drawing/2014/main" id="{87392273-5E86-E629-383A-919207D49770}"/>
              </a:ext>
            </a:extLst>
          </p:cNvPr>
          <p:cNvSpPr>
            <a:spLocks/>
          </p:cNvSpPr>
          <p:nvPr/>
        </p:nvSpPr>
        <p:spPr>
          <a:xfrm>
            <a:off x="5403956" y="2717887"/>
            <a:ext cx="1384088" cy="3314442"/>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lang="en-US" sz="1000" kern="0" dirty="0">
                <a:latin typeface="Segoe UI" panose="020B0502040204020203" pitchFamily="34" charset="0"/>
                <a:cs typeface="Segoe UI" panose="020B0502040204020203" pitchFamily="34" charset="0"/>
              </a:rPr>
              <a:t>VB</a:t>
            </a:r>
            <a:endParaRPr kumimoji="0" lang="en-US" sz="800" u="none" strike="noStrike" kern="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46" name="Rectangle: Rounded Corners 96">
            <a:extLst>
              <a:ext uri="{FF2B5EF4-FFF2-40B4-BE49-F238E27FC236}">
                <a16:creationId xmlns:a16="http://schemas.microsoft.com/office/drawing/2014/main" id="{483BF169-1D19-C263-DF90-BDCEDD392252}"/>
              </a:ext>
            </a:extLst>
          </p:cNvPr>
          <p:cNvSpPr>
            <a:spLocks/>
          </p:cNvSpPr>
          <p:nvPr/>
        </p:nvSpPr>
        <p:spPr>
          <a:xfrm>
            <a:off x="2429641" y="5463921"/>
            <a:ext cx="4434831" cy="38322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Migration Factory </a:t>
            </a:r>
            <a:b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b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Applications </a:t>
            </a:r>
          </a:p>
        </p:txBody>
      </p:sp>
      <p:sp>
        <p:nvSpPr>
          <p:cNvPr id="10" name="Rectangle: Rounded Corners 96">
            <a:extLst>
              <a:ext uri="{FF2B5EF4-FFF2-40B4-BE49-F238E27FC236}">
                <a16:creationId xmlns:a16="http://schemas.microsoft.com/office/drawing/2014/main" id="{3E4F00A3-7231-98D1-9702-2BEE40A6EB1F}"/>
              </a:ext>
            </a:extLst>
          </p:cNvPr>
          <p:cNvSpPr>
            <a:spLocks/>
          </p:cNvSpPr>
          <p:nvPr/>
        </p:nvSpPr>
        <p:spPr>
          <a:xfrm>
            <a:off x="7335211" y="3134156"/>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lang="en-US" sz="1000" kern="0" dirty="0">
                <a:solidFill>
                  <a:prstClr val="white"/>
                </a:solidFill>
                <a:latin typeface="Segoe UI" panose="020B0502040204020203" pitchFamily="34" charset="0"/>
                <a:cs typeface="Segoe UI" panose="020B0502040204020203" pitchFamily="34" charset="0"/>
              </a:rPr>
              <a:t>Security Lead</a:t>
            </a:r>
            <a:endPar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 name="Rectangle: Rounded Corners 96">
            <a:extLst>
              <a:ext uri="{FF2B5EF4-FFF2-40B4-BE49-F238E27FC236}">
                <a16:creationId xmlns:a16="http://schemas.microsoft.com/office/drawing/2014/main" id="{856A3CD2-C02F-70F5-8689-160C6F988961}"/>
              </a:ext>
            </a:extLst>
          </p:cNvPr>
          <p:cNvSpPr>
            <a:spLocks/>
          </p:cNvSpPr>
          <p:nvPr/>
        </p:nvSpPr>
        <p:spPr>
          <a:xfrm>
            <a:off x="2801155" y="3248988"/>
            <a:ext cx="342819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lang="en-US" sz="1000" kern="0" dirty="0">
                <a:solidFill>
                  <a:prstClr val="white"/>
                </a:solidFill>
                <a:latin typeface="Segoe UI" panose="020B0502040204020203" pitchFamily="34" charset="0"/>
                <a:cs typeface="Segoe UI" panose="020B0502040204020203" pitchFamily="34" charset="0"/>
              </a:rPr>
              <a:t>Tech Lead</a:t>
            </a:r>
            <a:endPar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 name="Rectangle: Rounded Corners 96">
            <a:extLst>
              <a:ext uri="{FF2B5EF4-FFF2-40B4-BE49-F238E27FC236}">
                <a16:creationId xmlns:a16="http://schemas.microsoft.com/office/drawing/2014/main" id="{1AE7B10B-35D8-F341-9569-C44286F32B3E}"/>
              </a:ext>
            </a:extLst>
          </p:cNvPr>
          <p:cNvSpPr>
            <a:spLocks/>
          </p:cNvSpPr>
          <p:nvPr/>
        </p:nvSpPr>
        <p:spPr>
          <a:xfrm>
            <a:off x="2817522" y="3655214"/>
            <a:ext cx="3411828"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Sr. Developer .NET </a:t>
            </a:r>
            <a:endParaRPr kumimoji="0" lang="en-US" sz="8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Rectangle: Rounded Corners 96">
            <a:extLst>
              <a:ext uri="{FF2B5EF4-FFF2-40B4-BE49-F238E27FC236}">
                <a16:creationId xmlns:a16="http://schemas.microsoft.com/office/drawing/2014/main" id="{14D71646-3E89-74A8-127D-B0A1C9D0B1CE}"/>
              </a:ext>
            </a:extLst>
          </p:cNvPr>
          <p:cNvSpPr>
            <a:spLocks/>
          </p:cNvSpPr>
          <p:nvPr/>
        </p:nvSpPr>
        <p:spPr>
          <a:xfrm>
            <a:off x="2817522" y="4073192"/>
            <a:ext cx="3411828"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Sr. Developer Java </a:t>
            </a:r>
            <a:endParaRPr kumimoji="0" lang="en-US" sz="8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7" name="Rectangle: Rounded Corners 96">
            <a:extLst>
              <a:ext uri="{FF2B5EF4-FFF2-40B4-BE49-F238E27FC236}">
                <a16:creationId xmlns:a16="http://schemas.microsoft.com/office/drawing/2014/main" id="{7EFBDE2E-A2CE-A650-4512-FED292A60E3A}"/>
              </a:ext>
            </a:extLst>
          </p:cNvPr>
          <p:cNvSpPr>
            <a:spLocks/>
          </p:cNvSpPr>
          <p:nvPr/>
        </p:nvSpPr>
        <p:spPr>
          <a:xfrm>
            <a:off x="2817522" y="4516955"/>
            <a:ext cx="3411828"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Sr. Developer VB </a:t>
            </a:r>
            <a:endParaRPr kumimoji="0" lang="en-US" sz="8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8" name="Rectangle: Rounded Corners 96">
            <a:extLst>
              <a:ext uri="{FF2B5EF4-FFF2-40B4-BE49-F238E27FC236}">
                <a16:creationId xmlns:a16="http://schemas.microsoft.com/office/drawing/2014/main" id="{A2F74722-1D53-014D-BF88-3FDE2C98C67B}"/>
              </a:ext>
            </a:extLst>
          </p:cNvPr>
          <p:cNvSpPr>
            <a:spLocks/>
          </p:cNvSpPr>
          <p:nvPr/>
        </p:nvSpPr>
        <p:spPr>
          <a:xfrm>
            <a:off x="7335211" y="3597826"/>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Security Architect</a:t>
            </a:r>
            <a:endParaRPr kumimoji="0" lang="en-US" sz="8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7058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61BC7B-B98C-5E7B-E756-6FF3F8E34869}"/>
            </a:ext>
          </a:extLst>
        </p:cNvPr>
        <p:cNvGrpSpPr/>
        <p:nvPr/>
      </p:nvGrpSpPr>
      <p:grpSpPr>
        <a:xfrm>
          <a:off x="0" y="0"/>
          <a:ext cx="0" cy="0"/>
          <a:chOff x="0" y="0"/>
          <a:chExt cx="0" cy="0"/>
        </a:xfrm>
      </p:grpSpPr>
      <p:sp>
        <p:nvSpPr>
          <p:cNvPr id="127" name="Rounded Rectangle 126">
            <a:extLst>
              <a:ext uri="{FF2B5EF4-FFF2-40B4-BE49-F238E27FC236}">
                <a16:creationId xmlns:a16="http://schemas.microsoft.com/office/drawing/2014/main" id="{7B9887AC-5363-1C69-0707-7E607635B8EB}"/>
              </a:ext>
            </a:extLst>
          </p:cNvPr>
          <p:cNvSpPr/>
          <p:nvPr/>
        </p:nvSpPr>
        <p:spPr>
          <a:xfrm>
            <a:off x="799117" y="2674637"/>
            <a:ext cx="10038736" cy="3728119"/>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3" name="Rounded Rectangle 122">
            <a:extLst>
              <a:ext uri="{FF2B5EF4-FFF2-40B4-BE49-F238E27FC236}">
                <a16:creationId xmlns:a16="http://schemas.microsoft.com/office/drawing/2014/main" id="{FA4026D1-0A56-02FA-140B-B4553D7D04E1}"/>
              </a:ext>
            </a:extLst>
          </p:cNvPr>
          <p:cNvSpPr/>
          <p:nvPr/>
        </p:nvSpPr>
        <p:spPr>
          <a:xfrm>
            <a:off x="806245" y="1595306"/>
            <a:ext cx="10038736" cy="1044115"/>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2" name="Rounded Rectangle 121">
            <a:extLst>
              <a:ext uri="{FF2B5EF4-FFF2-40B4-BE49-F238E27FC236}">
                <a16:creationId xmlns:a16="http://schemas.microsoft.com/office/drawing/2014/main" id="{58F26B40-2E0E-B8F8-C10E-35B83AB910E8}"/>
              </a:ext>
            </a:extLst>
          </p:cNvPr>
          <p:cNvSpPr/>
          <p:nvPr/>
        </p:nvSpPr>
        <p:spPr>
          <a:xfrm>
            <a:off x="806246" y="816769"/>
            <a:ext cx="10038736" cy="700071"/>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15CDAB50-B6BC-7180-417B-F7AF7067E756}"/>
              </a:ext>
            </a:extLst>
          </p:cNvPr>
          <p:cNvSpPr>
            <a:spLocks noGrp="1"/>
          </p:cNvSpPr>
          <p:nvPr>
            <p:ph type="title"/>
          </p:nvPr>
        </p:nvSpPr>
        <p:spPr>
          <a:xfrm>
            <a:off x="470793" y="199292"/>
            <a:ext cx="11200711" cy="987692"/>
          </a:xfrm>
          <a:prstGeom prst="rect">
            <a:avLst/>
          </a:prstGeom>
        </p:spPr>
        <p:txBody>
          <a:bodyPr/>
          <a:lstStyle/>
          <a:p>
            <a:r>
              <a:rPr lang="en-ZA"/>
              <a:t>Organização do Projeto</a:t>
            </a:r>
            <a:endParaRPr lang="en-US"/>
          </a:p>
        </p:txBody>
      </p:sp>
      <p:sp>
        <p:nvSpPr>
          <p:cNvPr id="3" name="Title 54">
            <a:extLst>
              <a:ext uri="{FF2B5EF4-FFF2-40B4-BE49-F238E27FC236}">
                <a16:creationId xmlns:a16="http://schemas.microsoft.com/office/drawing/2014/main" id="{C7B7A27E-721B-982F-122A-CA3932673085}"/>
              </a:ext>
            </a:extLst>
          </p:cNvPr>
          <p:cNvSpPr txBox="1">
            <a:spLocks/>
          </p:cNvSpPr>
          <p:nvPr/>
        </p:nvSpPr>
        <p:spPr>
          <a:xfrm>
            <a:off x="371832" y="474580"/>
            <a:ext cx="11284993" cy="597159"/>
          </a:xfrm>
        </p:spPr>
        <p:txBody>
          <a:bodyPr/>
          <a:lstStyle>
            <a:defPPr>
              <a:defRPr lang="en-US"/>
            </a:defPPr>
            <a:lvl1pPr marL="0" algn="l" defTabSz="1219170" rtl="0" eaLnBrk="1" latinLnBrk="0" hangingPunct="1">
              <a:lnSpc>
                <a:spcPct val="120000"/>
              </a:lnSpc>
              <a:spcBef>
                <a:spcPts val="267"/>
              </a:spcBef>
              <a:spcAft>
                <a:spcPts val="267"/>
              </a:spcAft>
              <a:buNone/>
              <a:defRPr sz="2667" kern="1200" baseline="0">
                <a:solidFill>
                  <a:schemeClr val="bg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595959"/>
              </a:solidFill>
              <a:latin typeface="Segoe UI Black"/>
            </a:endParaRPr>
          </a:p>
        </p:txBody>
      </p:sp>
      <p:sp>
        <p:nvSpPr>
          <p:cNvPr id="15" name="Rectangle: Rounded Corners 53">
            <a:extLst>
              <a:ext uri="{FF2B5EF4-FFF2-40B4-BE49-F238E27FC236}">
                <a16:creationId xmlns:a16="http://schemas.microsoft.com/office/drawing/2014/main" id="{946C1A95-CCCF-4C55-C01F-8C55081E2EFD}"/>
              </a:ext>
            </a:extLst>
          </p:cNvPr>
          <p:cNvSpPr/>
          <p:nvPr/>
        </p:nvSpPr>
        <p:spPr>
          <a:xfrm>
            <a:off x="10938716" y="4871657"/>
            <a:ext cx="989631" cy="388237"/>
          </a:xfrm>
          <a:prstGeom prst="roundRect">
            <a:avLst/>
          </a:prstGeom>
          <a:solidFill>
            <a:srgbClr val="0070C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ABC Bank</a:t>
            </a:r>
          </a:p>
        </p:txBody>
      </p:sp>
      <p:sp>
        <p:nvSpPr>
          <p:cNvPr id="16" name="Rectangle: Rounded Corners 54">
            <a:extLst>
              <a:ext uri="{FF2B5EF4-FFF2-40B4-BE49-F238E27FC236}">
                <a16:creationId xmlns:a16="http://schemas.microsoft.com/office/drawing/2014/main" id="{E95E720A-47BB-B655-330E-9F60EF40F73C}"/>
              </a:ext>
            </a:extLst>
          </p:cNvPr>
          <p:cNvSpPr/>
          <p:nvPr/>
        </p:nvSpPr>
        <p:spPr>
          <a:xfrm>
            <a:off x="10938715" y="5351109"/>
            <a:ext cx="989631" cy="388237"/>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a:t>
            </a:r>
          </a:p>
        </p:txBody>
      </p:sp>
      <p:sp>
        <p:nvSpPr>
          <p:cNvPr id="24" name="AutoShape 79">
            <a:extLst>
              <a:ext uri="{FF2B5EF4-FFF2-40B4-BE49-F238E27FC236}">
                <a16:creationId xmlns:a16="http://schemas.microsoft.com/office/drawing/2014/main" id="{F11824AC-80A2-B22C-EA7A-E6A8513A2BD6}"/>
              </a:ext>
            </a:extLst>
          </p:cNvPr>
          <p:cNvSpPr>
            <a:spLocks noChangeArrowheads="1"/>
          </p:cNvSpPr>
          <p:nvPr/>
        </p:nvSpPr>
        <p:spPr bwMode="auto">
          <a:xfrm>
            <a:off x="2964741" y="1732718"/>
            <a:ext cx="1658956" cy="337940"/>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Gerente de Projeto</a:t>
            </a:r>
          </a:p>
        </p:txBody>
      </p:sp>
      <p:sp>
        <p:nvSpPr>
          <p:cNvPr id="25" name="Rectangle: Rounded Corners 65">
            <a:extLst>
              <a:ext uri="{FF2B5EF4-FFF2-40B4-BE49-F238E27FC236}">
                <a16:creationId xmlns:a16="http://schemas.microsoft.com/office/drawing/2014/main" id="{71408AF5-394F-39B3-933F-4548487DFE2B}"/>
              </a:ext>
            </a:extLst>
          </p:cNvPr>
          <p:cNvSpPr>
            <a:spLocks/>
          </p:cNvSpPr>
          <p:nvPr/>
        </p:nvSpPr>
        <p:spPr>
          <a:xfrm>
            <a:off x="9055530" y="2926674"/>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Arquiteto Corporativo</a:t>
            </a:r>
          </a:p>
        </p:txBody>
      </p:sp>
      <p:sp>
        <p:nvSpPr>
          <p:cNvPr id="26" name="Rectangle: Rounded Corners 66">
            <a:extLst>
              <a:ext uri="{FF2B5EF4-FFF2-40B4-BE49-F238E27FC236}">
                <a16:creationId xmlns:a16="http://schemas.microsoft.com/office/drawing/2014/main" id="{160790A7-FE8E-7817-9C47-74F3F0D267A5}"/>
              </a:ext>
            </a:extLst>
          </p:cNvPr>
          <p:cNvSpPr>
            <a:spLocks/>
          </p:cNvSpPr>
          <p:nvPr/>
        </p:nvSpPr>
        <p:spPr>
          <a:xfrm>
            <a:off x="9055530" y="3220271"/>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srgbClr val="FFFFFF"/>
                </a:solidFill>
                <a:latin typeface="Segoe UI" panose="020B0502040204020203" pitchFamily="34" charset="0"/>
                <a:ea typeface="ＭＳ Ｐゴシック"/>
                <a:cs typeface="Segoe UI" panose="020B0502040204020203" pitchFamily="34" charset="0"/>
              </a:rPr>
              <a:t>CISO / DPO</a:t>
            </a:r>
          </a:p>
        </p:txBody>
      </p:sp>
      <p:sp>
        <p:nvSpPr>
          <p:cNvPr id="28" name="AutoShape 79">
            <a:extLst>
              <a:ext uri="{FF2B5EF4-FFF2-40B4-BE49-F238E27FC236}">
                <a16:creationId xmlns:a16="http://schemas.microsoft.com/office/drawing/2014/main" id="{DA865921-06A1-2984-3A1B-AD34DE43887F}"/>
              </a:ext>
            </a:extLst>
          </p:cNvPr>
          <p:cNvSpPr>
            <a:spLocks noChangeArrowheads="1"/>
          </p:cNvSpPr>
          <p:nvPr/>
        </p:nvSpPr>
        <p:spPr bwMode="auto">
          <a:xfrm>
            <a:off x="5639138" y="1042087"/>
            <a:ext cx="1430010"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Patrocinador Executivo</a:t>
            </a:r>
          </a:p>
        </p:txBody>
      </p:sp>
      <p:sp>
        <p:nvSpPr>
          <p:cNvPr id="30" name="Rectangle: Rounded Corners 71">
            <a:extLst>
              <a:ext uri="{FF2B5EF4-FFF2-40B4-BE49-F238E27FC236}">
                <a16:creationId xmlns:a16="http://schemas.microsoft.com/office/drawing/2014/main" id="{A49D1E5F-44E7-73ED-F074-E64840DBC55D}"/>
              </a:ext>
            </a:extLst>
          </p:cNvPr>
          <p:cNvSpPr>
            <a:spLocks/>
          </p:cNvSpPr>
          <p:nvPr/>
        </p:nvSpPr>
        <p:spPr>
          <a:xfrm>
            <a:off x="4109994" y="3082844"/>
            <a:ext cx="2784558" cy="298042"/>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Líder de Codegen (F4-F5)</a:t>
            </a:r>
          </a:p>
        </p:txBody>
      </p:sp>
      <p:cxnSp>
        <p:nvCxnSpPr>
          <p:cNvPr id="31" name="Straight Connector 30">
            <a:extLst>
              <a:ext uri="{FF2B5EF4-FFF2-40B4-BE49-F238E27FC236}">
                <a16:creationId xmlns:a16="http://schemas.microsoft.com/office/drawing/2014/main" id="{412ACB43-860A-6B22-9EA8-57328D433FE6}"/>
              </a:ext>
            </a:extLst>
          </p:cNvPr>
          <p:cNvCxnSpPr>
            <a:cxnSpLocks/>
          </p:cNvCxnSpPr>
          <p:nvPr/>
        </p:nvCxnSpPr>
        <p:spPr>
          <a:xfrm>
            <a:off x="8681654" y="3499022"/>
            <a:ext cx="0" cy="0"/>
          </a:xfrm>
          <a:prstGeom prst="line">
            <a:avLst/>
          </a:prstGeom>
          <a:noFill/>
          <a:ln w="9525" cap="flat" cmpd="sng" algn="ctr">
            <a:solidFill>
              <a:srgbClr val="890078">
                <a:shade val="95000"/>
                <a:satMod val="105000"/>
              </a:srgbClr>
            </a:solidFill>
            <a:prstDash val="solid"/>
          </a:ln>
          <a:effectLst/>
        </p:spPr>
      </p:cxnSp>
      <p:sp>
        <p:nvSpPr>
          <p:cNvPr id="32" name="Rectangle: Rounded Corners 79">
            <a:extLst>
              <a:ext uri="{FF2B5EF4-FFF2-40B4-BE49-F238E27FC236}">
                <a16:creationId xmlns:a16="http://schemas.microsoft.com/office/drawing/2014/main" id="{5D6DC254-7D29-0A87-A818-D73DAFB59758}"/>
              </a:ext>
            </a:extLst>
          </p:cNvPr>
          <p:cNvSpPr>
            <a:spLocks/>
          </p:cNvSpPr>
          <p:nvPr/>
        </p:nvSpPr>
        <p:spPr>
          <a:xfrm>
            <a:off x="9055530" y="3503097"/>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SMEs de Negócio (regras)</a:t>
            </a:r>
          </a:p>
        </p:txBody>
      </p:sp>
      <p:sp>
        <p:nvSpPr>
          <p:cNvPr id="33" name="Rectangle: Rounded Corners 80">
            <a:extLst>
              <a:ext uri="{FF2B5EF4-FFF2-40B4-BE49-F238E27FC236}">
                <a16:creationId xmlns:a16="http://schemas.microsoft.com/office/drawing/2014/main" id="{FF73D4B1-8662-FF3E-F983-1FF1890D83D9}"/>
              </a:ext>
            </a:extLst>
          </p:cNvPr>
          <p:cNvSpPr>
            <a:spLocks/>
          </p:cNvSpPr>
          <p:nvPr/>
        </p:nvSpPr>
        <p:spPr>
          <a:xfrm>
            <a:off x="9055530" y="378592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Tech Leads dos Squads</a:t>
            </a:r>
          </a:p>
        </p:txBody>
      </p:sp>
      <p:sp>
        <p:nvSpPr>
          <p:cNvPr id="34" name="TextBox 82">
            <a:extLst>
              <a:ext uri="{FF2B5EF4-FFF2-40B4-BE49-F238E27FC236}">
                <a16:creationId xmlns:a16="http://schemas.microsoft.com/office/drawing/2014/main" id="{8364543F-4D12-B0AD-9A28-8775E9404FB7}"/>
              </a:ext>
            </a:extLst>
          </p:cNvPr>
          <p:cNvSpPr txBox="1"/>
          <p:nvPr/>
        </p:nvSpPr>
        <p:spPr>
          <a:xfrm>
            <a:off x="11155085" y="4534661"/>
            <a:ext cx="50174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Legenda</a:t>
            </a:r>
          </a:p>
        </p:txBody>
      </p:sp>
      <p:sp>
        <p:nvSpPr>
          <p:cNvPr id="37" name="AutoShape 79">
            <a:extLst>
              <a:ext uri="{FF2B5EF4-FFF2-40B4-BE49-F238E27FC236}">
                <a16:creationId xmlns:a16="http://schemas.microsoft.com/office/drawing/2014/main" id="{3DF5B6DA-2CCE-04DB-69FD-7A5F46398649}"/>
              </a:ext>
            </a:extLst>
          </p:cNvPr>
          <p:cNvSpPr>
            <a:spLocks noChangeArrowheads="1"/>
          </p:cNvSpPr>
          <p:nvPr/>
        </p:nvSpPr>
        <p:spPr bwMode="auto">
          <a:xfrm>
            <a:off x="8935214" y="1028413"/>
            <a:ext cx="1658956" cy="348840"/>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Patrocinador de TI (ABC Bank)</a:t>
            </a:r>
          </a:p>
        </p:txBody>
      </p:sp>
      <p:sp>
        <p:nvSpPr>
          <p:cNvPr id="38" name="AutoShape 79">
            <a:extLst>
              <a:ext uri="{FF2B5EF4-FFF2-40B4-BE49-F238E27FC236}">
                <a16:creationId xmlns:a16="http://schemas.microsoft.com/office/drawing/2014/main" id="{43DFE265-A199-756E-240C-AC7C93F8A925}"/>
              </a:ext>
            </a:extLst>
          </p:cNvPr>
          <p:cNvSpPr>
            <a:spLocks noChangeArrowheads="1"/>
          </p:cNvSpPr>
          <p:nvPr/>
        </p:nvSpPr>
        <p:spPr bwMode="auto">
          <a:xfrm>
            <a:off x="7165986" y="1028412"/>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srgbClr val="FFFFFF"/>
                </a:solidFill>
                <a:latin typeface="Segoe UI" panose="020B0502040204020203" pitchFamily="34" charset="0"/>
                <a:ea typeface="ＭＳ Ｐゴシック"/>
                <a:cs typeface="Segoe UI" panose="020B0502040204020203" pitchFamily="34" charset="0"/>
              </a:rPr>
              <a:t>Patrocinador Executivo (ABC Bank)</a:t>
            </a:r>
            <a:endParaRPr lang="en-GB" altLang="ja-JP" sz="1000">
              <a:solidFill>
                <a:srgbClr val="FFFFFF"/>
              </a:solidFill>
              <a:latin typeface="Segoe UI" panose="020B0502040204020203" pitchFamily="34" charset="0"/>
              <a:ea typeface="ＭＳ Ｐゴシック" charset="0"/>
              <a:cs typeface="Segoe UI" panose="020B0502040204020203" pitchFamily="34" charset="0"/>
            </a:endParaRPr>
          </a:p>
        </p:txBody>
      </p:sp>
      <p:sp>
        <p:nvSpPr>
          <p:cNvPr id="39" name="AutoShape 79">
            <a:extLst>
              <a:ext uri="{FF2B5EF4-FFF2-40B4-BE49-F238E27FC236}">
                <a16:creationId xmlns:a16="http://schemas.microsoft.com/office/drawing/2014/main" id="{A8D0C5FC-6A6A-82B2-37AF-DEDCF1C9CBE9}"/>
              </a:ext>
            </a:extLst>
          </p:cNvPr>
          <p:cNvSpPr>
            <a:spLocks noChangeArrowheads="1"/>
          </p:cNvSpPr>
          <p:nvPr/>
        </p:nvSpPr>
        <p:spPr bwMode="auto">
          <a:xfrm>
            <a:off x="6690434" y="1735415"/>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Líder do Programa (ABC Bank)</a:t>
            </a:r>
          </a:p>
        </p:txBody>
      </p:sp>
      <p:sp>
        <p:nvSpPr>
          <p:cNvPr id="40" name="AutoShape 79">
            <a:extLst>
              <a:ext uri="{FF2B5EF4-FFF2-40B4-BE49-F238E27FC236}">
                <a16:creationId xmlns:a16="http://schemas.microsoft.com/office/drawing/2014/main" id="{2A8F4AE0-A5AE-9F62-C596-16B8D89A2D59}"/>
              </a:ext>
            </a:extLst>
          </p:cNvPr>
          <p:cNvSpPr>
            <a:spLocks noChangeArrowheads="1"/>
          </p:cNvSpPr>
          <p:nvPr/>
        </p:nvSpPr>
        <p:spPr bwMode="auto">
          <a:xfrm>
            <a:off x="8423582" y="1742868"/>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Gerente de Projeto (ABC Bank)</a:t>
            </a:r>
          </a:p>
        </p:txBody>
      </p:sp>
      <p:sp>
        <p:nvSpPr>
          <p:cNvPr id="42" name="Rectangle: Rounded Corners 91">
            <a:extLst>
              <a:ext uri="{FF2B5EF4-FFF2-40B4-BE49-F238E27FC236}">
                <a16:creationId xmlns:a16="http://schemas.microsoft.com/office/drawing/2014/main" id="{A57F8004-187F-4497-5329-79F009805801}"/>
              </a:ext>
            </a:extLst>
          </p:cNvPr>
          <p:cNvSpPr>
            <a:spLocks/>
          </p:cNvSpPr>
          <p:nvPr/>
        </p:nvSpPr>
        <p:spPr>
          <a:xfrm>
            <a:off x="9059906" y="410159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TI - Infraestrutura</a:t>
            </a:r>
          </a:p>
        </p:txBody>
      </p:sp>
      <p:sp>
        <p:nvSpPr>
          <p:cNvPr id="43" name="AutoShape 79">
            <a:extLst>
              <a:ext uri="{FF2B5EF4-FFF2-40B4-BE49-F238E27FC236}">
                <a16:creationId xmlns:a16="http://schemas.microsoft.com/office/drawing/2014/main" id="{FB825E96-194D-2C96-C145-7ABE4ADEC34F}"/>
              </a:ext>
            </a:extLst>
          </p:cNvPr>
          <p:cNvSpPr>
            <a:spLocks noChangeArrowheads="1"/>
          </p:cNvSpPr>
          <p:nvPr/>
        </p:nvSpPr>
        <p:spPr bwMode="auto">
          <a:xfrm>
            <a:off x="4758202" y="2164662"/>
            <a:ext cx="1658956" cy="343753"/>
          </a:xfrm>
          <a:prstGeom prst="roundRect">
            <a:avLst>
              <a:gd name="adj" fmla="val 16667"/>
            </a:avLst>
          </a:prstGeom>
          <a:solidFill>
            <a:schemeClr val="tx2"/>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dirty="0" err="1">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Arquiteto</a:t>
            </a: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 de </a:t>
            </a:r>
            <a:r>
              <a:rPr kumimoji="0" lang="en-GB" altLang="ja-JP" sz="1000" u="none" strike="noStrike" kern="0" cap="none" spc="0" normalizeH="0" baseline="0" noProof="0" dirty="0" err="1">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Solução</a:t>
            </a: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 AVA Fabric</a:t>
            </a:r>
          </a:p>
        </p:txBody>
      </p:sp>
      <p:sp>
        <p:nvSpPr>
          <p:cNvPr id="44" name="Rectangle: Rounded Corners 96">
            <a:extLst>
              <a:ext uri="{FF2B5EF4-FFF2-40B4-BE49-F238E27FC236}">
                <a16:creationId xmlns:a16="http://schemas.microsoft.com/office/drawing/2014/main" id="{15FFE6AC-3F56-51A2-46D7-F3F1DBC8B0EC}"/>
              </a:ext>
            </a:extLst>
          </p:cNvPr>
          <p:cNvSpPr>
            <a:spLocks/>
          </p:cNvSpPr>
          <p:nvPr/>
        </p:nvSpPr>
        <p:spPr>
          <a:xfrm>
            <a:off x="2424628" y="3084822"/>
            <a:ext cx="1240505" cy="297319"/>
          </a:xfrm>
          <a:prstGeom prst="roundRect">
            <a:avLst/>
          </a:prstGeom>
          <a:solidFill>
            <a:schemeClr val="tx2"/>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Líder da Esteira (F0-F3S)</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5" name="Rectangle: Rounded Corners 96">
            <a:extLst>
              <a:ext uri="{FF2B5EF4-FFF2-40B4-BE49-F238E27FC236}">
                <a16:creationId xmlns:a16="http://schemas.microsoft.com/office/drawing/2014/main" id="{953FC630-13AB-6AFD-A8CF-7A3E3CA6C377}"/>
              </a:ext>
            </a:extLst>
          </p:cNvPr>
          <p:cNvSpPr>
            <a:spLocks/>
          </p:cNvSpPr>
          <p:nvPr/>
        </p:nvSpPr>
        <p:spPr>
          <a:xfrm>
            <a:off x="7344676" y="3121969"/>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Líder de Segurança (F1/F7)</a:t>
            </a:r>
          </a:p>
        </p:txBody>
      </p:sp>
      <p:sp>
        <p:nvSpPr>
          <p:cNvPr id="49" name="AutoShape 79">
            <a:extLst>
              <a:ext uri="{FF2B5EF4-FFF2-40B4-BE49-F238E27FC236}">
                <a16:creationId xmlns:a16="http://schemas.microsoft.com/office/drawing/2014/main" id="{E5FD238D-AE27-FE70-1EEF-50948208F1AA}"/>
              </a:ext>
            </a:extLst>
          </p:cNvPr>
          <p:cNvSpPr>
            <a:spLocks noChangeArrowheads="1"/>
          </p:cNvSpPr>
          <p:nvPr/>
        </p:nvSpPr>
        <p:spPr bwMode="auto">
          <a:xfrm>
            <a:off x="4758202" y="1730034"/>
            <a:ext cx="1658956"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Líder de Entrega</a:t>
            </a:r>
          </a:p>
        </p:txBody>
      </p:sp>
      <p:sp>
        <p:nvSpPr>
          <p:cNvPr id="86" name="AutoShape 79">
            <a:extLst>
              <a:ext uri="{FF2B5EF4-FFF2-40B4-BE49-F238E27FC236}">
                <a16:creationId xmlns:a16="http://schemas.microsoft.com/office/drawing/2014/main" id="{AC3F52A6-28E9-F642-F0B9-D3D4CA240F5F}"/>
              </a:ext>
            </a:extLst>
          </p:cNvPr>
          <p:cNvSpPr>
            <a:spLocks noChangeArrowheads="1"/>
          </p:cNvSpPr>
          <p:nvPr/>
        </p:nvSpPr>
        <p:spPr bwMode="auto">
          <a:xfrm>
            <a:off x="4111848" y="1046160"/>
            <a:ext cx="1430893" cy="343753"/>
          </a:xfrm>
          <a:prstGeom prst="roundRect">
            <a:avLst>
              <a:gd name="adj" fmla="val 16667"/>
            </a:avLst>
          </a:prstGeom>
          <a:solidFill>
            <a:srgbClr val="FF580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PDL</a:t>
            </a:r>
          </a:p>
        </p:txBody>
      </p:sp>
      <p:sp>
        <p:nvSpPr>
          <p:cNvPr id="89" name="Rectangle: Rounded Corners 96">
            <a:extLst>
              <a:ext uri="{FF2B5EF4-FFF2-40B4-BE49-F238E27FC236}">
                <a16:creationId xmlns:a16="http://schemas.microsoft.com/office/drawing/2014/main" id="{81B5B5D4-324B-C8E5-0E06-99A12CABBF28}"/>
              </a:ext>
            </a:extLst>
          </p:cNvPr>
          <p:cNvSpPr>
            <a:spLocks/>
          </p:cNvSpPr>
          <p:nvPr/>
        </p:nvSpPr>
        <p:spPr>
          <a:xfrm>
            <a:off x="2424628" y="3502142"/>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Engenheiro de Plataforma</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0" name="Rectangle: Rounded Corners 96">
            <a:extLst>
              <a:ext uri="{FF2B5EF4-FFF2-40B4-BE49-F238E27FC236}">
                <a16:creationId xmlns:a16="http://schemas.microsoft.com/office/drawing/2014/main" id="{27DD3C47-848D-D486-40AA-BDE7C3ED1B6F}"/>
              </a:ext>
            </a:extLst>
          </p:cNvPr>
          <p:cNvSpPr>
            <a:spLocks/>
          </p:cNvSpPr>
          <p:nvPr/>
        </p:nvSpPr>
        <p:spPr>
          <a:xfrm>
            <a:off x="2430873" y="3880030"/>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Analista de Legado (AS-IS)</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1" name="Rectangle: Rounded Corners 96">
            <a:extLst>
              <a:ext uri="{FF2B5EF4-FFF2-40B4-BE49-F238E27FC236}">
                <a16:creationId xmlns:a16="http://schemas.microsoft.com/office/drawing/2014/main" id="{AAEEDA45-0937-F4B8-DEA5-8327AE29DE34}"/>
              </a:ext>
            </a:extLst>
          </p:cNvPr>
          <p:cNvSpPr>
            <a:spLocks/>
          </p:cNvSpPr>
          <p:nvPr/>
        </p:nvSpPr>
        <p:spPr>
          <a:xfrm>
            <a:off x="2426506" y="426599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Arquiteto TO-BE</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2" name="Rectangle: Rounded Corners 96">
            <a:extLst>
              <a:ext uri="{FF2B5EF4-FFF2-40B4-BE49-F238E27FC236}">
                <a16:creationId xmlns:a16="http://schemas.microsoft.com/office/drawing/2014/main" id="{EA205D07-B7DE-AF30-6F16-CD68458D1653}"/>
              </a:ext>
            </a:extLst>
          </p:cNvPr>
          <p:cNvSpPr>
            <a:spLocks/>
          </p:cNvSpPr>
          <p:nvPr/>
        </p:nvSpPr>
        <p:spPr>
          <a:xfrm>
            <a:off x="2426505" y="4651956"/>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Analista SpecKit</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3" name="Rectangle: Rounded Corners 96">
            <a:extLst>
              <a:ext uri="{FF2B5EF4-FFF2-40B4-BE49-F238E27FC236}">
                <a16:creationId xmlns:a16="http://schemas.microsoft.com/office/drawing/2014/main" id="{3EFDE46D-F4FA-B0C7-4E84-50916230321A}"/>
              </a:ext>
            </a:extLst>
          </p:cNvPr>
          <p:cNvSpPr>
            <a:spLocks/>
          </p:cNvSpPr>
          <p:nvPr/>
        </p:nvSpPr>
        <p:spPr>
          <a:xfrm>
            <a:off x="4109995" y="3493537"/>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Desenvolvedor .NET Sênior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4" name="Rectangle: Rounded Corners 96">
            <a:extLst>
              <a:ext uri="{FF2B5EF4-FFF2-40B4-BE49-F238E27FC236}">
                <a16:creationId xmlns:a16="http://schemas.microsoft.com/office/drawing/2014/main" id="{1CE7B714-6839-F931-6040-931A079A3AC1}"/>
              </a:ext>
            </a:extLst>
          </p:cNvPr>
          <p:cNvSpPr>
            <a:spLocks/>
          </p:cNvSpPr>
          <p:nvPr/>
        </p:nvSpPr>
        <p:spPr>
          <a:xfrm>
            <a:off x="4109995" y="3880260"/>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lang="en-US" sz="1000" kern="0">
                <a:solidFill>
                  <a:prstClr val="white"/>
                </a:solidFill>
                <a:latin typeface="Segoe UI" panose="020B0502040204020203" pitchFamily="34" charset="0"/>
                <a:cs typeface="Segoe UI" panose="020B0502040204020203" pitchFamily="34" charset="0"/>
              </a:rPr>
              <a:t>Desenvolvedor Angular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5" name="Rectangle: Rounded Corners 96">
            <a:extLst>
              <a:ext uri="{FF2B5EF4-FFF2-40B4-BE49-F238E27FC236}">
                <a16:creationId xmlns:a16="http://schemas.microsoft.com/office/drawing/2014/main" id="{4FBB87A6-123F-F0A9-0EB5-BEAACC1364E4}"/>
              </a:ext>
            </a:extLst>
          </p:cNvPr>
          <p:cNvSpPr>
            <a:spLocks/>
          </p:cNvSpPr>
          <p:nvPr/>
        </p:nvSpPr>
        <p:spPr>
          <a:xfrm>
            <a:off x="4109995" y="4296377"/>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Remediação do Gate de Build</a:t>
            </a:r>
          </a:p>
        </p:txBody>
      </p:sp>
      <p:sp>
        <p:nvSpPr>
          <p:cNvPr id="96" name="Rectangle: Rounded Corners 96">
            <a:extLst>
              <a:ext uri="{FF2B5EF4-FFF2-40B4-BE49-F238E27FC236}">
                <a16:creationId xmlns:a16="http://schemas.microsoft.com/office/drawing/2014/main" id="{035FBB81-2510-E457-3E24-879137E1BD3E}"/>
              </a:ext>
            </a:extLst>
          </p:cNvPr>
          <p:cNvSpPr>
            <a:spLocks/>
          </p:cNvSpPr>
          <p:nvPr/>
        </p:nvSpPr>
        <p:spPr>
          <a:xfrm>
            <a:off x="4109995" y="4697789"/>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Engenheiro de QA</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7" name="Rectangle: Rounded Corners 96">
            <a:extLst>
              <a:ext uri="{FF2B5EF4-FFF2-40B4-BE49-F238E27FC236}">
                <a16:creationId xmlns:a16="http://schemas.microsoft.com/office/drawing/2014/main" id="{C766B210-7AB3-7C77-E0BF-2F8647CDE338}"/>
              </a:ext>
            </a:extLst>
          </p:cNvPr>
          <p:cNvSpPr>
            <a:spLocks/>
          </p:cNvSpPr>
          <p:nvPr/>
        </p:nvSpPr>
        <p:spPr>
          <a:xfrm>
            <a:off x="7344676" y="3491051"/>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Arquiteto de Segurança</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8" name="Rectangle: Rounded Corners 96">
            <a:extLst>
              <a:ext uri="{FF2B5EF4-FFF2-40B4-BE49-F238E27FC236}">
                <a16:creationId xmlns:a16="http://schemas.microsoft.com/office/drawing/2014/main" id="{90D4E6E2-70E0-C5CF-77D3-859E71DC9423}"/>
              </a:ext>
            </a:extLst>
          </p:cNvPr>
          <p:cNvSpPr>
            <a:spLocks/>
          </p:cNvSpPr>
          <p:nvPr/>
        </p:nvSpPr>
        <p:spPr>
          <a:xfrm>
            <a:off x="7344676" y="3880030"/>
            <a:ext cx="1240505" cy="30464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SME de LGPD / Privacidade</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9" name="Rectangle: Rounded Corners 96">
            <a:extLst>
              <a:ext uri="{FF2B5EF4-FFF2-40B4-BE49-F238E27FC236}">
                <a16:creationId xmlns:a16="http://schemas.microsoft.com/office/drawing/2014/main" id="{CFCE1DD5-F8CE-3D06-6040-FBFDF95949BE}"/>
              </a:ext>
            </a:extLst>
          </p:cNvPr>
          <p:cNvSpPr>
            <a:spLocks/>
          </p:cNvSpPr>
          <p:nvPr/>
        </p:nvSpPr>
        <p:spPr>
          <a:xfrm>
            <a:off x="7344676" y="4295465"/>
            <a:ext cx="1240505" cy="29310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SME de OWASP / STRIDE</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0" name="Rectangle: Rounded Corners 96">
            <a:extLst>
              <a:ext uri="{FF2B5EF4-FFF2-40B4-BE49-F238E27FC236}">
                <a16:creationId xmlns:a16="http://schemas.microsoft.com/office/drawing/2014/main" id="{FFCCC72B-51FC-7C79-3ECF-58509265667C}"/>
              </a:ext>
            </a:extLst>
          </p:cNvPr>
          <p:cNvSpPr>
            <a:spLocks/>
          </p:cNvSpPr>
          <p:nvPr/>
        </p:nvSpPr>
        <p:spPr>
          <a:xfrm>
            <a:off x="7344676" y="4720318"/>
            <a:ext cx="1240505" cy="293104"/>
          </a:xfrm>
          <a:prstGeom prst="roundRect">
            <a:avLst/>
          </a:prstGeom>
          <a:solidFill>
            <a:schemeClr val="tx2"/>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Especialista de Segurança</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5" name="Rectangle: Rounded Corners 54">
            <a:extLst>
              <a:ext uri="{FF2B5EF4-FFF2-40B4-BE49-F238E27FC236}">
                <a16:creationId xmlns:a16="http://schemas.microsoft.com/office/drawing/2014/main" id="{3F02904E-BDF8-D75D-F63F-9F0A7E8610CF}"/>
              </a:ext>
            </a:extLst>
          </p:cNvPr>
          <p:cNvSpPr/>
          <p:nvPr/>
        </p:nvSpPr>
        <p:spPr>
          <a:xfrm>
            <a:off x="10938715" y="5834046"/>
            <a:ext cx="989631" cy="388237"/>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 | Brasil</a:t>
            </a:r>
          </a:p>
        </p:txBody>
      </p:sp>
      <p:sp>
        <p:nvSpPr>
          <p:cNvPr id="108" name="Rectangle: Rounded Corners 96">
            <a:extLst>
              <a:ext uri="{FF2B5EF4-FFF2-40B4-BE49-F238E27FC236}">
                <a16:creationId xmlns:a16="http://schemas.microsoft.com/office/drawing/2014/main" id="{A352EC86-9AEE-6956-69DC-722964C47E12}"/>
              </a:ext>
            </a:extLst>
          </p:cNvPr>
          <p:cNvSpPr>
            <a:spLocks/>
          </p:cNvSpPr>
          <p:nvPr/>
        </p:nvSpPr>
        <p:spPr>
          <a:xfrm>
            <a:off x="3882176" y="2764242"/>
            <a:ext cx="3158335" cy="3314442"/>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Codegen e Qualidade</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09" name="Rectangle: Rounded Corners 96">
            <a:extLst>
              <a:ext uri="{FF2B5EF4-FFF2-40B4-BE49-F238E27FC236}">
                <a16:creationId xmlns:a16="http://schemas.microsoft.com/office/drawing/2014/main" id="{2548463E-08A4-2EBB-BB91-7F1C4CD53333}"/>
              </a:ext>
            </a:extLst>
          </p:cNvPr>
          <p:cNvSpPr>
            <a:spLocks/>
          </p:cNvSpPr>
          <p:nvPr/>
        </p:nvSpPr>
        <p:spPr>
          <a:xfrm>
            <a:off x="714817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Segurança e Compliance</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11" name="Rectangle: Rounded Corners 96">
            <a:extLst>
              <a:ext uri="{FF2B5EF4-FFF2-40B4-BE49-F238E27FC236}">
                <a16:creationId xmlns:a16="http://schemas.microsoft.com/office/drawing/2014/main" id="{7E9580FD-976D-C780-3A00-B85A594EC816}"/>
              </a:ext>
            </a:extLst>
          </p:cNvPr>
          <p:cNvSpPr>
            <a:spLocks/>
          </p:cNvSpPr>
          <p:nvPr/>
        </p:nvSpPr>
        <p:spPr>
          <a:xfrm>
            <a:off x="215974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effectLst/>
                <a:uLnTx/>
                <a:uFillTx/>
                <a:latin typeface="Segoe UI" panose="020B0502040204020203" pitchFamily="34" charset="0"/>
                <a:cs typeface="Segoe UI" panose="020B0502040204020203" pitchFamily="34" charset="0"/>
              </a:rPr>
              <a:t>IMF Apps Factory</a:t>
            </a:r>
            <a:endParaRPr kumimoji="0" lang="en-US" sz="800" u="none" strike="noStrike" kern="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116" name="Rectangle: Rounded Corners 96">
            <a:extLst>
              <a:ext uri="{FF2B5EF4-FFF2-40B4-BE49-F238E27FC236}">
                <a16:creationId xmlns:a16="http://schemas.microsoft.com/office/drawing/2014/main" id="{D990AF2D-7183-37E8-ED3C-C95E4A7D6524}"/>
              </a:ext>
            </a:extLst>
          </p:cNvPr>
          <p:cNvSpPr>
            <a:spLocks/>
          </p:cNvSpPr>
          <p:nvPr/>
        </p:nvSpPr>
        <p:spPr>
          <a:xfrm>
            <a:off x="5661863" y="386993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Revisão de Código</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8" name="AutoShape 79">
            <a:extLst>
              <a:ext uri="{FF2B5EF4-FFF2-40B4-BE49-F238E27FC236}">
                <a16:creationId xmlns:a16="http://schemas.microsoft.com/office/drawing/2014/main" id="{17E27B01-0912-14F7-1F3F-3C999000328C}"/>
              </a:ext>
            </a:extLst>
          </p:cNvPr>
          <p:cNvSpPr>
            <a:spLocks noChangeArrowheads="1"/>
          </p:cNvSpPr>
          <p:nvPr/>
        </p:nvSpPr>
        <p:spPr bwMode="auto">
          <a:xfrm>
            <a:off x="2554442" y="1040312"/>
            <a:ext cx="1431674"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QAD</a:t>
            </a:r>
          </a:p>
        </p:txBody>
      </p:sp>
      <p:sp>
        <p:nvSpPr>
          <p:cNvPr id="120" name="AutoShape 79">
            <a:extLst>
              <a:ext uri="{FF2B5EF4-FFF2-40B4-BE49-F238E27FC236}">
                <a16:creationId xmlns:a16="http://schemas.microsoft.com/office/drawing/2014/main" id="{75FFF820-2B0D-8671-DE46-E83ACDEA4E0C}"/>
              </a:ext>
            </a:extLst>
          </p:cNvPr>
          <p:cNvSpPr>
            <a:spLocks noChangeArrowheads="1"/>
          </p:cNvSpPr>
          <p:nvPr/>
        </p:nvSpPr>
        <p:spPr bwMode="auto">
          <a:xfrm>
            <a:off x="2964741" y="2161864"/>
            <a:ext cx="1658956" cy="343753"/>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Gestão de Entrega BEH</a:t>
            </a:r>
          </a:p>
        </p:txBody>
      </p:sp>
      <p:sp>
        <p:nvSpPr>
          <p:cNvPr id="46" name="Rectangle: Rounded Corners 96">
            <a:extLst>
              <a:ext uri="{FF2B5EF4-FFF2-40B4-BE49-F238E27FC236}">
                <a16:creationId xmlns:a16="http://schemas.microsoft.com/office/drawing/2014/main" id="{7F70C69E-BA8D-4F7E-835A-BBE2567680DA}"/>
              </a:ext>
            </a:extLst>
          </p:cNvPr>
          <p:cNvSpPr>
            <a:spLocks/>
          </p:cNvSpPr>
          <p:nvPr/>
        </p:nvSpPr>
        <p:spPr>
          <a:xfrm>
            <a:off x="2429641" y="5463921"/>
            <a:ext cx="4434831" cy="38322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Migration Factory </a:t>
            </a:r>
            <a:b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b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Applications</a:t>
            </a:r>
          </a:p>
        </p:txBody>
      </p:sp>
      <p:sp>
        <p:nvSpPr>
          <p:cNvPr id="124" name="TextBox 82">
            <a:extLst>
              <a:ext uri="{FF2B5EF4-FFF2-40B4-BE49-F238E27FC236}">
                <a16:creationId xmlns:a16="http://schemas.microsoft.com/office/drawing/2014/main" id="{67DFC632-0D3C-0CE2-BED3-63A83BCD72A4}"/>
              </a:ext>
            </a:extLst>
          </p:cNvPr>
          <p:cNvSpPr txBox="1"/>
          <p:nvPr/>
        </p:nvSpPr>
        <p:spPr>
          <a:xfrm>
            <a:off x="947599" y="2898178"/>
            <a:ext cx="94481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Time de Entrega</a:t>
            </a:r>
          </a:p>
        </p:txBody>
      </p:sp>
      <p:sp>
        <p:nvSpPr>
          <p:cNvPr id="125" name="TextBox 82">
            <a:extLst>
              <a:ext uri="{FF2B5EF4-FFF2-40B4-BE49-F238E27FC236}">
                <a16:creationId xmlns:a16="http://schemas.microsoft.com/office/drawing/2014/main" id="{AF6E0425-990D-E244-1275-C97DEC2FE468}"/>
              </a:ext>
            </a:extLst>
          </p:cNvPr>
          <p:cNvSpPr txBox="1"/>
          <p:nvPr/>
        </p:nvSpPr>
        <p:spPr>
          <a:xfrm>
            <a:off x="961508" y="2020551"/>
            <a:ext cx="147348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Gestão do Projeto</a:t>
            </a:r>
          </a:p>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e Supervisão Técnica</a:t>
            </a:r>
          </a:p>
        </p:txBody>
      </p:sp>
      <p:sp>
        <p:nvSpPr>
          <p:cNvPr id="126" name="TextBox 82">
            <a:extLst>
              <a:ext uri="{FF2B5EF4-FFF2-40B4-BE49-F238E27FC236}">
                <a16:creationId xmlns:a16="http://schemas.microsoft.com/office/drawing/2014/main" id="{14A9A515-60CC-63AD-F46C-8B310725E86C}"/>
              </a:ext>
            </a:extLst>
          </p:cNvPr>
          <p:cNvSpPr txBox="1"/>
          <p:nvPr/>
        </p:nvSpPr>
        <p:spPr>
          <a:xfrm>
            <a:off x="947599" y="1041859"/>
            <a:ext cx="135037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Comitê</a:t>
            </a:r>
          </a:p>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Diretor do Programa</a:t>
            </a:r>
          </a:p>
        </p:txBody>
      </p:sp>
      <p:sp>
        <p:nvSpPr>
          <p:cNvPr id="129" name="AutoShape 79">
            <a:extLst>
              <a:ext uri="{FF2B5EF4-FFF2-40B4-BE49-F238E27FC236}">
                <a16:creationId xmlns:a16="http://schemas.microsoft.com/office/drawing/2014/main" id="{6F66C4C7-233E-8B57-AB84-D1E916972CF0}"/>
              </a:ext>
            </a:extLst>
          </p:cNvPr>
          <p:cNvSpPr>
            <a:spLocks noChangeArrowheads="1"/>
          </p:cNvSpPr>
          <p:nvPr/>
        </p:nvSpPr>
        <p:spPr bwMode="auto">
          <a:xfrm>
            <a:off x="6686817" y="2170960"/>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Arquiteto Corporativo (ABC Bank)</a:t>
            </a:r>
          </a:p>
        </p:txBody>
      </p:sp>
      <p:sp>
        <p:nvSpPr>
          <p:cNvPr id="4" name="Rectangle: Rounded Corners 96">
            <a:extLst>
              <a:ext uri="{FF2B5EF4-FFF2-40B4-BE49-F238E27FC236}">
                <a16:creationId xmlns:a16="http://schemas.microsoft.com/office/drawing/2014/main" id="{FE19AD3B-7D5F-1E08-F8D6-3526FC49922D}"/>
              </a:ext>
            </a:extLst>
          </p:cNvPr>
          <p:cNvSpPr>
            <a:spLocks/>
          </p:cNvSpPr>
          <p:nvPr/>
        </p:nvSpPr>
        <p:spPr>
          <a:xfrm>
            <a:off x="9252029" y="4858433"/>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Engenheiro DevOps</a:t>
            </a:r>
          </a:p>
        </p:txBody>
      </p:sp>
      <p:sp>
        <p:nvSpPr>
          <p:cNvPr id="5" name="Rectangle: Rounded Corners 96">
            <a:extLst>
              <a:ext uri="{FF2B5EF4-FFF2-40B4-BE49-F238E27FC236}">
                <a16:creationId xmlns:a16="http://schemas.microsoft.com/office/drawing/2014/main" id="{7C62061C-A3C3-D1D0-EBFB-E15821D7F4A9}"/>
              </a:ext>
            </a:extLst>
          </p:cNvPr>
          <p:cNvSpPr>
            <a:spLocks/>
          </p:cNvSpPr>
          <p:nvPr/>
        </p:nvSpPr>
        <p:spPr>
          <a:xfrm>
            <a:off x="9252029" y="5227515"/>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IaC (Terraform)</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 name="Rectangle: Rounded Corners 96">
            <a:extLst>
              <a:ext uri="{FF2B5EF4-FFF2-40B4-BE49-F238E27FC236}">
                <a16:creationId xmlns:a16="http://schemas.microsoft.com/office/drawing/2014/main" id="{2891807F-B700-65A6-EE9D-F60D3431D785}"/>
              </a:ext>
            </a:extLst>
          </p:cNvPr>
          <p:cNvSpPr>
            <a:spLocks/>
          </p:cNvSpPr>
          <p:nvPr/>
        </p:nvSpPr>
        <p:spPr>
          <a:xfrm>
            <a:off x="9055530" y="4508200"/>
            <a:ext cx="1614575" cy="1570484"/>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DevOps e IaC</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8" name="Rectangle: Rounded Corners 96">
            <a:extLst>
              <a:ext uri="{FF2B5EF4-FFF2-40B4-BE49-F238E27FC236}">
                <a16:creationId xmlns:a16="http://schemas.microsoft.com/office/drawing/2014/main" id="{5547CC57-D20C-2A12-711A-3C9A00443934}"/>
              </a:ext>
            </a:extLst>
          </p:cNvPr>
          <p:cNvSpPr>
            <a:spLocks/>
          </p:cNvSpPr>
          <p:nvPr/>
        </p:nvSpPr>
        <p:spPr>
          <a:xfrm>
            <a:off x="5654047" y="347419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5600">
              <a:lnSpc>
                <a:spcPct val="90000"/>
              </a:lnSpc>
              <a:spcBef>
                <a:spcPct val="0"/>
              </a:spcBef>
              <a:spcAft>
                <a:spcPct val="35000"/>
              </a:spcAft>
              <a:defRPr/>
            </a:pPr>
            <a:r>
              <a:rPr lang="en-US" sz="1000" kern="0">
                <a:solidFill>
                  <a:prstClr val="white"/>
                </a:solidFill>
                <a:latin typeface="Segoe UI"/>
                <a:cs typeface="Segoe UI"/>
              </a:rPr>
              <a:t>Automação de Testes</a:t>
            </a:r>
            <a:endParaRPr kumimoji="0" lang="en-US" sz="800" u="none" strike="noStrike" kern="0" cap="none" spc="0" normalizeH="0" baseline="0" noProof="0">
              <a:ln>
                <a:noFill/>
              </a:ln>
              <a:solidFill>
                <a:prstClr val="white"/>
              </a:solidFill>
              <a:effectLst/>
              <a:uLnTx/>
              <a:uFillTx/>
              <a:latin typeface="Segoe UI"/>
              <a:cs typeface="Segoe UI"/>
            </a:endParaRPr>
          </a:p>
        </p:txBody>
      </p:sp>
    </p:spTree>
    <p:extLst>
      <p:ext uri="{BB962C8B-B14F-4D97-AF65-F5344CB8AC3E}">
        <p14:creationId xmlns:p14="http://schemas.microsoft.com/office/powerpoint/2010/main" val="953502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D5E2-EA96-9914-5AE1-3A4B759CD66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4C21D03-F524-57F9-F426-777C421A9AF4}"/>
              </a:ext>
            </a:extLst>
          </p:cNvPr>
          <p:cNvGraphicFramePr>
            <a:graphicFrameLocks noGrp="1"/>
          </p:cNvGraphicFramePr>
          <p:nvPr>
            <p:extLst>
              <p:ext uri="{D42A27DB-BD31-4B8C-83A1-F6EECF244321}">
                <p14:modId xmlns:p14="http://schemas.microsoft.com/office/powerpoint/2010/main" val="2518771064"/>
              </p:ext>
            </p:extLst>
          </p:nvPr>
        </p:nvGraphicFramePr>
        <p:xfrm>
          <a:off x="411813" y="2330349"/>
          <a:ext cx="11209986" cy="2579658"/>
        </p:xfrm>
        <a:graphic>
          <a:graphicData uri="http://schemas.openxmlformats.org/drawingml/2006/table">
            <a:tbl>
              <a:tblPr firstRow="1" bandRow="1">
                <a:tableStyleId>{5C22544A-7EE6-4342-B048-85BDC9FD1C3A}</a:tableStyleId>
              </a:tblPr>
              <a:tblGrid>
                <a:gridCol w="4268342">
                  <a:extLst>
                    <a:ext uri="{9D8B030D-6E8A-4147-A177-3AD203B41FA5}">
                      <a16:colId xmlns:a16="http://schemas.microsoft.com/office/drawing/2014/main" val="100514645"/>
                    </a:ext>
                  </a:extLst>
                </a:gridCol>
                <a:gridCol w="3204982">
                  <a:extLst>
                    <a:ext uri="{9D8B030D-6E8A-4147-A177-3AD203B41FA5}">
                      <a16:colId xmlns:a16="http://schemas.microsoft.com/office/drawing/2014/main" val="3317341849"/>
                    </a:ext>
                  </a:extLst>
                </a:gridCol>
                <a:gridCol w="3736662">
                  <a:extLst>
                    <a:ext uri="{9D8B030D-6E8A-4147-A177-3AD203B41FA5}">
                      <a16:colId xmlns:a16="http://schemas.microsoft.com/office/drawing/2014/main" val="1156622351"/>
                    </a:ext>
                  </a:extLst>
                </a:gridCol>
              </a:tblGrid>
              <a:tr h="233465">
                <a:tc gridSpan="3">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a:ea typeface="+mn-ea"/>
                          <a:cs typeface="+mn-cs"/>
                        </a:rPr>
                        <a:t>Escopo da Solução</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224699">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Escopo Avanade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Escopo do Cliente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Entregáveis / Resultados da Solução Avanade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558562553"/>
                  </a:ext>
                </a:extLst>
              </a:tr>
              <a:tr h="2076738">
                <a:tc>
                  <a:txBody>
                    <a:bodyPr/>
                    <a:lstStyle/>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mn-lt"/>
                          <a:ea typeface="+mn-ea"/>
                          <a:cs typeface="Segoe UI"/>
                        </a:rPr>
                        <a:t>Executar</a:t>
                      </a:r>
                      <a:r>
                        <a:rPr lang="en-US" sz="850" b="0" kern="1200" dirty="0">
                          <a:solidFill>
                            <a:schemeClr val="tx1"/>
                          </a:solidFill>
                          <a:latin typeface="+mn-lt"/>
                          <a:ea typeface="+mn-ea"/>
                          <a:cs typeface="Segoe UI"/>
                        </a:rPr>
                        <a:t> F0/F1 - </a:t>
                      </a:r>
                      <a:r>
                        <a:rPr lang="en-US" sz="850" b="0" kern="1200" dirty="0" err="1">
                          <a:solidFill>
                            <a:schemeClr val="tx1"/>
                          </a:solidFill>
                          <a:latin typeface="+mn-lt"/>
                          <a:ea typeface="+mn-ea"/>
                          <a:cs typeface="Segoe UI"/>
                        </a:rPr>
                        <a:t>extração</a:t>
                      </a:r>
                      <a:r>
                        <a:rPr lang="en-US" sz="850" b="0" kern="1200" dirty="0">
                          <a:solidFill>
                            <a:schemeClr val="tx1"/>
                          </a:solidFill>
                          <a:latin typeface="+mn-lt"/>
                          <a:ea typeface="+mn-ea"/>
                          <a:cs typeface="Segoe UI"/>
                        </a:rPr>
                        <a:t> AST e </a:t>
                      </a:r>
                      <a:r>
                        <a:rPr lang="en-US" sz="850" b="0" kern="1200" dirty="0" err="1">
                          <a:solidFill>
                            <a:schemeClr val="tx1"/>
                          </a:solidFill>
                          <a:latin typeface="+mn-lt"/>
                          <a:ea typeface="+mn-ea"/>
                          <a:cs typeface="Segoe UI"/>
                        </a:rPr>
                        <a:t>diagnóstico</a:t>
                      </a:r>
                      <a:r>
                        <a:rPr lang="en-US" sz="850" b="0" kern="1200" dirty="0">
                          <a:solidFill>
                            <a:schemeClr val="tx1"/>
                          </a:solidFill>
                          <a:latin typeface="+mn-lt"/>
                          <a:ea typeface="+mn-ea"/>
                          <a:cs typeface="Segoe UI"/>
                        </a:rPr>
                        <a:t> AS-IS da </a:t>
                      </a:r>
                      <a:r>
                        <a:rPr lang="en-US" sz="850" b="0" kern="1200" dirty="0" err="1">
                          <a:solidFill>
                            <a:schemeClr val="tx1"/>
                          </a:solidFill>
                          <a:latin typeface="+mn-lt"/>
                          <a:ea typeface="+mn-ea"/>
                          <a:cs typeface="Segoe UI"/>
                        </a:rPr>
                        <a:t>aplicação</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piloto</a:t>
                      </a:r>
                      <a:endParaRPr lang="en-US" sz="850" b="0" kern="1200" dirty="0">
                        <a:solidFill>
                          <a:schemeClr val="tx1"/>
                        </a:solidFill>
                        <a:latin typeface="+mn-lt"/>
                        <a:ea typeface="+mn-ea"/>
                        <a:cs typeface="Segoe UI"/>
                      </a:endParaRP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mn-lt"/>
                          <a:ea typeface="+mn-ea"/>
                          <a:cs typeface="Segoe UI"/>
                        </a:rPr>
                        <a:t>Produzir</a:t>
                      </a:r>
                      <a:r>
                        <a:rPr lang="en-US" sz="850" b="0" kern="1200" dirty="0">
                          <a:solidFill>
                            <a:schemeClr val="tx1"/>
                          </a:solidFill>
                          <a:latin typeface="+mn-lt"/>
                          <a:ea typeface="+mn-ea"/>
                          <a:cs typeface="Segoe UI"/>
                        </a:rPr>
                        <a:t> o </a:t>
                      </a:r>
                      <a:r>
                        <a:rPr lang="en-US" sz="850" b="0" kern="1200" dirty="0" err="1">
                          <a:solidFill>
                            <a:schemeClr val="tx1"/>
                          </a:solidFill>
                          <a:latin typeface="+mn-lt"/>
                          <a:ea typeface="+mn-ea"/>
                          <a:cs typeface="Segoe UI"/>
                        </a:rPr>
                        <a:t>catálogo</a:t>
                      </a:r>
                      <a:r>
                        <a:rPr lang="en-US" sz="850" b="0" kern="1200" dirty="0">
                          <a:solidFill>
                            <a:schemeClr val="tx1"/>
                          </a:solidFill>
                          <a:latin typeface="+mn-lt"/>
                          <a:ea typeface="+mn-ea"/>
                          <a:cs typeface="Segoe UI"/>
                        </a:rPr>
                        <a:t> de </a:t>
                      </a:r>
                      <a:r>
                        <a:rPr lang="en-US" sz="850" b="0" kern="1200" dirty="0" err="1">
                          <a:solidFill>
                            <a:schemeClr val="tx1"/>
                          </a:solidFill>
                          <a:latin typeface="+mn-lt"/>
                          <a:ea typeface="+mn-ea"/>
                          <a:cs typeface="Segoe UI"/>
                        </a:rPr>
                        <a:t>regras</a:t>
                      </a:r>
                      <a:r>
                        <a:rPr lang="en-US" sz="850" b="0" kern="1200" dirty="0">
                          <a:solidFill>
                            <a:schemeClr val="tx1"/>
                          </a:solidFill>
                          <a:latin typeface="+mn-lt"/>
                          <a:ea typeface="+mn-ea"/>
                          <a:cs typeface="Segoe UI"/>
                        </a:rPr>
                        <a:t> de </a:t>
                      </a:r>
                      <a:r>
                        <a:rPr lang="en-US" sz="850" b="0" kern="1200" dirty="0" err="1">
                          <a:solidFill>
                            <a:schemeClr val="tx1"/>
                          </a:solidFill>
                          <a:latin typeface="+mn-lt"/>
                          <a:ea typeface="+mn-ea"/>
                          <a:cs typeface="Segoe UI"/>
                        </a:rPr>
                        <a:t>negócio</a:t>
                      </a:r>
                      <a:r>
                        <a:rPr lang="en-US" sz="850" b="0" kern="1200" dirty="0">
                          <a:solidFill>
                            <a:schemeClr val="tx1"/>
                          </a:solidFill>
                          <a:latin typeface="+mn-lt"/>
                          <a:ea typeface="+mn-ea"/>
                          <a:cs typeface="Segoe UI"/>
                        </a:rPr>
                        <a:t> com </a:t>
                      </a:r>
                      <a:r>
                        <a:rPr lang="en-US" sz="850" b="0" kern="1200" dirty="0" err="1">
                          <a:solidFill>
                            <a:schemeClr val="tx1"/>
                          </a:solidFill>
                          <a:latin typeface="+mn-lt"/>
                          <a:ea typeface="+mn-ea"/>
                          <a:cs typeface="Segoe UI"/>
                        </a:rPr>
                        <a:t>rastreabilidade</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até</a:t>
                      </a:r>
                      <a:r>
                        <a:rPr lang="en-US" sz="850" b="0" kern="1200" dirty="0">
                          <a:solidFill>
                            <a:schemeClr val="tx1"/>
                          </a:solidFill>
                          <a:latin typeface="+mn-lt"/>
                          <a:ea typeface="+mn-ea"/>
                          <a:cs typeface="Segoe UI"/>
                        </a:rPr>
                        <a:t> o </a:t>
                      </a:r>
                      <a:r>
                        <a:rPr lang="en-US" sz="850" b="0" kern="1200" dirty="0" err="1">
                          <a:solidFill>
                            <a:schemeClr val="tx1"/>
                          </a:solidFill>
                          <a:latin typeface="+mn-lt"/>
                          <a:ea typeface="+mn-ea"/>
                          <a:cs typeface="Segoe UI"/>
                        </a:rPr>
                        <a:t>código-fonte</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mais</a:t>
                      </a:r>
                      <a:r>
                        <a:rPr lang="en-US" sz="850" b="0" kern="1200" dirty="0">
                          <a:solidFill>
                            <a:schemeClr val="tx1"/>
                          </a:solidFill>
                          <a:latin typeface="+mn-lt"/>
                          <a:ea typeface="+mn-ea"/>
                          <a:cs typeface="Segoe UI"/>
                        </a:rPr>
                        <a:t> o </a:t>
                      </a:r>
                      <a:r>
                        <a:rPr lang="en-US" sz="850" b="0" kern="1200" dirty="0" err="1">
                          <a:solidFill>
                            <a:schemeClr val="tx1"/>
                          </a:solidFill>
                          <a:latin typeface="+mn-lt"/>
                          <a:ea typeface="+mn-ea"/>
                          <a:cs typeface="Segoe UI"/>
                        </a:rPr>
                        <a:t>pacote</a:t>
                      </a:r>
                      <a:r>
                        <a:rPr lang="en-US" sz="850" b="0" kern="1200" dirty="0">
                          <a:solidFill>
                            <a:schemeClr val="tx1"/>
                          </a:solidFill>
                          <a:latin typeface="+mn-lt"/>
                          <a:ea typeface="+mn-ea"/>
                          <a:cs typeface="Segoe UI"/>
                        </a:rPr>
                        <a:t> de </a:t>
                      </a:r>
                      <a:r>
                        <a:rPr lang="en-US" sz="850" b="0" kern="1200" dirty="0" err="1">
                          <a:solidFill>
                            <a:schemeClr val="tx1"/>
                          </a:solidFill>
                          <a:latin typeface="+mn-lt"/>
                          <a:ea typeface="+mn-ea"/>
                          <a:cs typeface="Segoe UI"/>
                        </a:rPr>
                        <a:t>revisão</a:t>
                      </a:r>
                      <a:endParaRPr lang="en-US" sz="850" b="0" kern="1200" dirty="0">
                        <a:solidFill>
                          <a:schemeClr val="tx1"/>
                        </a:solidFill>
                        <a:latin typeface="+mn-lt"/>
                        <a:ea typeface="+mn-ea"/>
                        <a:cs typeface="Segoe UI"/>
                      </a:endParaRP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mn-lt"/>
                          <a:ea typeface="+mn-ea"/>
                          <a:cs typeface="Segoe UI"/>
                        </a:rPr>
                        <a:t>Produzir</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documentação</a:t>
                      </a:r>
                      <a:r>
                        <a:rPr lang="en-US" sz="850" b="0" kern="1200" dirty="0">
                          <a:solidFill>
                            <a:schemeClr val="tx1"/>
                          </a:solidFill>
                          <a:latin typeface="+mn-lt"/>
                          <a:ea typeface="+mn-ea"/>
                          <a:cs typeface="Segoe UI"/>
                        </a:rPr>
                        <a:t> da </a:t>
                      </a:r>
                      <a:r>
                        <a:rPr lang="en-US" sz="850" b="0" kern="1200" dirty="0" err="1">
                          <a:solidFill>
                            <a:schemeClr val="tx1"/>
                          </a:solidFill>
                          <a:latin typeface="+mn-lt"/>
                          <a:ea typeface="+mn-ea"/>
                          <a:cs typeface="Segoe UI"/>
                        </a:rPr>
                        <a:t>aplicação</a:t>
                      </a:r>
                      <a:r>
                        <a:rPr lang="en-US" sz="850" b="0" kern="1200" dirty="0">
                          <a:solidFill>
                            <a:schemeClr val="tx1"/>
                          </a:solidFill>
                          <a:latin typeface="+mn-lt"/>
                          <a:ea typeface="+mn-ea"/>
                          <a:cs typeface="Segoe UI"/>
                        </a:rPr>
                        <a:t> com base </a:t>
                      </a:r>
                      <a:r>
                        <a:rPr lang="en-US" sz="850" b="0" kern="1200" dirty="0" err="1">
                          <a:solidFill>
                            <a:schemeClr val="tx1"/>
                          </a:solidFill>
                          <a:latin typeface="+mn-lt"/>
                          <a:ea typeface="+mn-ea"/>
                          <a:cs typeface="Segoe UI"/>
                        </a:rPr>
                        <a:t>na</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engenharia</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reversa</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realizada</a:t>
                      </a:r>
                      <a:r>
                        <a:rPr lang="en-US" sz="850" b="0" kern="1200" dirty="0">
                          <a:solidFill>
                            <a:schemeClr val="tx1"/>
                          </a:solidFill>
                          <a:latin typeface="+mn-lt"/>
                          <a:ea typeface="+mn-ea"/>
                          <a:cs typeface="Segoe UI"/>
                        </a:rPr>
                        <a:t> no </a:t>
                      </a:r>
                      <a:r>
                        <a:rPr lang="en-US" sz="850" b="0" kern="1200" dirty="0" err="1">
                          <a:solidFill>
                            <a:schemeClr val="tx1"/>
                          </a:solidFill>
                          <a:latin typeface="+mn-lt"/>
                          <a:ea typeface="+mn-ea"/>
                          <a:cs typeface="Segoe UI"/>
                        </a:rPr>
                        <a:t>codigo</a:t>
                      </a:r>
                      <a:r>
                        <a:rPr lang="en-US" sz="850" b="0" kern="1200" dirty="0">
                          <a:solidFill>
                            <a:schemeClr val="tx1"/>
                          </a:solidFill>
                          <a:latin typeface="+mn-lt"/>
                          <a:ea typeface="+mn-ea"/>
                          <a:cs typeface="Segoe UI"/>
                        </a:rPr>
                        <a:t> </a:t>
                      </a:r>
                      <a:r>
                        <a:rPr lang="en-US" sz="850" b="0" kern="1200" dirty="0" err="1">
                          <a:solidFill>
                            <a:schemeClr val="tx1"/>
                          </a:solidFill>
                          <a:latin typeface="+mn-lt"/>
                          <a:ea typeface="+mn-ea"/>
                          <a:cs typeface="Segoe UI"/>
                        </a:rPr>
                        <a:t>fonte</a:t>
                      </a:r>
                      <a:r>
                        <a:rPr lang="en-US" sz="850" b="0" kern="1200" dirty="0">
                          <a:solidFill>
                            <a:schemeClr val="tx1"/>
                          </a:solidFill>
                          <a:latin typeface="+mn-lt"/>
                          <a:ea typeface="+mn-ea"/>
                          <a:cs typeface="Segoe UI"/>
                        </a:rPr>
                        <a:t>.</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Segoe UI" panose="020B0502040204020203" pitchFamily="34" charset="0"/>
                          <a:ea typeface="+mn-ea"/>
                          <a:cs typeface="Segoe UI" panose="020B0502040204020203" pitchFamily="34" charset="0"/>
                        </a:rPr>
                        <a:t>Selecionar</a:t>
                      </a:r>
                      <a:r>
                        <a:rPr lang="en-US" sz="850" b="0" kern="1200" dirty="0">
                          <a:solidFill>
                            <a:schemeClr val="tx1"/>
                          </a:solidFill>
                          <a:latin typeface="Segoe UI" panose="020B0502040204020203" pitchFamily="34" charset="0"/>
                          <a:ea typeface="+mn-ea"/>
                          <a:cs typeface="Segoe UI" panose="020B0502040204020203" pitchFamily="34" charset="0"/>
                        </a:rPr>
                        <a:t> a </a:t>
                      </a:r>
                      <a:r>
                        <a:rPr lang="en-US" sz="850" b="0" kern="1200" dirty="0" err="1">
                          <a:solidFill>
                            <a:schemeClr val="tx1"/>
                          </a:solidFill>
                          <a:latin typeface="Segoe UI" panose="020B0502040204020203" pitchFamily="34" charset="0"/>
                          <a:ea typeface="+mn-ea"/>
                          <a:cs typeface="Segoe UI" panose="020B0502040204020203" pitchFamily="34" charset="0"/>
                        </a:rPr>
                        <a:t>aplicação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piloto</a:t>
                      </a:r>
                      <a:r>
                        <a:rPr lang="en-US" sz="850" b="0" kern="1200" dirty="0">
                          <a:solidFill>
                            <a:schemeClr val="tx1"/>
                          </a:solidFill>
                          <a:latin typeface="Segoe UI" panose="020B0502040204020203" pitchFamily="34" charset="0"/>
                          <a:ea typeface="+mn-ea"/>
                          <a:cs typeface="Segoe UI" panose="020B0502040204020203" pitchFamily="34" charset="0"/>
                        </a:rPr>
                        <a:t> e o bounded context </a:t>
                      </a:r>
                      <a:r>
                        <a:rPr lang="en-US" sz="850" b="0" kern="1200" dirty="0" err="1">
                          <a:solidFill>
                            <a:schemeClr val="tx1"/>
                          </a:solidFill>
                          <a:latin typeface="Segoe UI" panose="020B0502040204020203" pitchFamily="34" charset="0"/>
                          <a:ea typeface="+mn-ea"/>
                          <a:cs typeface="Segoe UI" panose="020B0502040204020203" pitchFamily="34" charset="0"/>
                        </a:rPr>
                        <a:t>piloto</a:t>
                      </a:r>
                      <a:endParaRPr lang="en-US" sz="850" b="0" kern="1200" dirty="0">
                        <a:solidFill>
                          <a:schemeClr val="tx1"/>
                        </a:solidFill>
                        <a:latin typeface="Segoe UI" panose="020B0502040204020203" pitchFamily="34" charset="0"/>
                        <a:ea typeface="+mn-ea"/>
                        <a:cs typeface="Segoe UI" panose="020B0502040204020203" pitchFamily="34" charset="0"/>
                      </a:endParaRP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Segoe UI" panose="020B0502040204020203" pitchFamily="34" charset="0"/>
                          <a:ea typeface="+mn-ea"/>
                          <a:cs typeface="Segoe UI" panose="020B0502040204020203" pitchFamily="34" charset="0"/>
                        </a:rPr>
                        <a:t>Conceder</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acesso</a:t>
                      </a:r>
                      <a:r>
                        <a:rPr lang="en-US" sz="850" b="0" kern="1200" dirty="0">
                          <a:solidFill>
                            <a:schemeClr val="tx1"/>
                          </a:solidFill>
                          <a:latin typeface="Segoe UI" panose="020B0502040204020203" pitchFamily="34" charset="0"/>
                          <a:ea typeface="+mn-ea"/>
                          <a:cs typeface="Segoe UI" panose="020B0502040204020203" pitchFamily="34" charset="0"/>
                        </a:rPr>
                        <a:t> de </a:t>
                      </a:r>
                      <a:r>
                        <a:rPr lang="en-US" sz="850" b="0" kern="1200" dirty="0" err="1">
                          <a:solidFill>
                            <a:schemeClr val="tx1"/>
                          </a:solidFill>
                          <a:latin typeface="Segoe UI" panose="020B0502040204020203" pitchFamily="34" charset="0"/>
                          <a:ea typeface="+mn-ea"/>
                          <a:cs typeface="Segoe UI" panose="020B0502040204020203" pitchFamily="34" charset="0"/>
                        </a:rPr>
                        <a:t>leitura</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ao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repositório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legado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ao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dicionário</a:t>
                      </a:r>
                      <a:r>
                        <a:rPr lang="en-US" sz="850" b="0" kern="1200" dirty="0">
                          <a:solidFill>
                            <a:schemeClr val="tx1"/>
                          </a:solidFill>
                          <a:latin typeface="Segoe UI" panose="020B0502040204020203" pitchFamily="34" charset="0"/>
                          <a:ea typeface="+mn-ea"/>
                          <a:cs typeface="Segoe UI" panose="020B0502040204020203" pitchFamily="34" charset="0"/>
                        </a:rPr>
                        <a:t> de dados e </a:t>
                      </a:r>
                      <a:r>
                        <a:rPr lang="en-US" sz="850" b="0" kern="1200" dirty="0" err="1">
                          <a:solidFill>
                            <a:schemeClr val="tx1"/>
                          </a:solidFill>
                          <a:latin typeface="Segoe UI" panose="020B0502040204020203" pitchFamily="34" charset="0"/>
                          <a:ea typeface="+mn-ea"/>
                          <a:cs typeface="Segoe UI" panose="020B0502040204020203" pitchFamily="34" charset="0"/>
                        </a:rPr>
                        <a:t>ao</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esquema</a:t>
                      </a:r>
                      <a:r>
                        <a:rPr lang="en-US" sz="850" b="0" kern="1200" dirty="0">
                          <a:solidFill>
                            <a:schemeClr val="tx1"/>
                          </a:solidFill>
                          <a:latin typeface="Segoe UI" panose="020B0502040204020203" pitchFamily="34" charset="0"/>
                          <a:ea typeface="+mn-ea"/>
                          <a:cs typeface="Segoe UI" panose="020B0502040204020203" pitchFamily="34" charset="0"/>
                        </a:rPr>
                        <a:t> do banco</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Segoe UI" panose="020B0502040204020203" pitchFamily="34" charset="0"/>
                          <a:ea typeface="+mn-ea"/>
                          <a:cs typeface="Segoe UI" panose="020B0502040204020203" pitchFamily="34" charset="0"/>
                        </a:rPr>
                        <a:t>Aprovar</a:t>
                      </a:r>
                      <a:r>
                        <a:rPr lang="en-US" sz="850" b="0" kern="1200" dirty="0">
                          <a:solidFill>
                            <a:schemeClr val="tx1"/>
                          </a:solidFill>
                          <a:latin typeface="Segoe UI" panose="020B0502040204020203" pitchFamily="34" charset="0"/>
                          <a:ea typeface="+mn-ea"/>
                          <a:cs typeface="Segoe UI" panose="020B0502040204020203" pitchFamily="34" charset="0"/>
                        </a:rPr>
                        <a:t> e </a:t>
                      </a:r>
                      <a:r>
                        <a:rPr lang="en-US" sz="850" b="0" kern="1200" dirty="0" err="1">
                          <a:solidFill>
                            <a:schemeClr val="tx1"/>
                          </a:solidFill>
                          <a:latin typeface="Segoe UI" panose="020B0502040204020203" pitchFamily="34" charset="0"/>
                          <a:ea typeface="+mn-ea"/>
                          <a:cs typeface="Segoe UI" panose="020B0502040204020203" pitchFamily="34" charset="0"/>
                        </a:rPr>
                        <a:t>homologar</a:t>
                      </a:r>
                      <a:r>
                        <a:rPr lang="en-US" sz="850" b="0" kern="1200" dirty="0">
                          <a:solidFill>
                            <a:schemeClr val="tx1"/>
                          </a:solidFill>
                          <a:latin typeface="Segoe UI" panose="020B0502040204020203" pitchFamily="34" charset="0"/>
                          <a:ea typeface="+mn-ea"/>
                          <a:cs typeface="Segoe UI" panose="020B0502040204020203" pitchFamily="34" charset="0"/>
                        </a:rPr>
                        <a:t> o </a:t>
                      </a:r>
                      <a:r>
                        <a:rPr lang="en-US" sz="850" b="0" kern="1200" dirty="0" err="1">
                          <a:solidFill>
                            <a:schemeClr val="tx1"/>
                          </a:solidFill>
                          <a:latin typeface="Segoe UI" panose="020B0502040204020203" pitchFamily="34" charset="0"/>
                          <a:ea typeface="+mn-ea"/>
                          <a:cs typeface="Segoe UI" panose="020B0502040204020203" pitchFamily="34" charset="0"/>
                        </a:rPr>
                        <a:t>ambiente</a:t>
                      </a:r>
                      <a:r>
                        <a:rPr lang="en-US" sz="850" b="0" kern="1200" dirty="0">
                          <a:solidFill>
                            <a:schemeClr val="tx1"/>
                          </a:solidFill>
                          <a:latin typeface="Segoe UI" panose="020B0502040204020203" pitchFamily="34" charset="0"/>
                          <a:ea typeface="+mn-ea"/>
                          <a:cs typeface="Segoe UI" panose="020B0502040204020203" pitchFamily="34" charset="0"/>
                        </a:rPr>
                        <a:t> de </a:t>
                      </a:r>
                      <a:r>
                        <a:rPr lang="en-US" sz="850" b="0" kern="1200" dirty="0" err="1">
                          <a:solidFill>
                            <a:schemeClr val="tx1"/>
                          </a:solidFill>
                          <a:latin typeface="Segoe UI" panose="020B0502040204020203" pitchFamily="34" charset="0"/>
                          <a:ea typeface="+mn-ea"/>
                          <a:cs typeface="Segoe UI" panose="020B0502040204020203" pitchFamily="34" charset="0"/>
                        </a:rPr>
                        <a:t>execução</a:t>
                      </a:r>
                      <a:r>
                        <a:rPr lang="en-US" sz="850" b="0" kern="1200" dirty="0">
                          <a:solidFill>
                            <a:schemeClr val="tx1"/>
                          </a:solidFill>
                          <a:latin typeface="Segoe UI" panose="020B0502040204020203" pitchFamily="34" charset="0"/>
                          <a:ea typeface="+mn-ea"/>
                          <a:cs typeface="Segoe UI" panose="020B0502040204020203" pitchFamily="34" charset="0"/>
                        </a:rPr>
                        <a:t> do </a:t>
                      </a:r>
                      <a:r>
                        <a:rPr lang="en-US" sz="850" b="0" kern="1200" dirty="0" err="1">
                          <a:solidFill>
                            <a:schemeClr val="tx1"/>
                          </a:solidFill>
                          <a:latin typeface="Segoe UI" panose="020B0502040204020203" pitchFamily="34" charset="0"/>
                          <a:ea typeface="+mn-ea"/>
                          <a:cs typeface="Segoe UI" panose="020B0502040204020203" pitchFamily="34" charset="0"/>
                        </a:rPr>
                        <a:t>modelo</a:t>
                      </a:r>
                      <a:r>
                        <a:rPr lang="en-US" sz="850" b="0" kern="1200" dirty="0">
                          <a:solidFill>
                            <a:schemeClr val="tx1"/>
                          </a:solidFill>
                          <a:latin typeface="Segoe UI" panose="020B0502040204020203" pitchFamily="34" charset="0"/>
                          <a:ea typeface="+mn-ea"/>
                          <a:cs typeface="Segoe UI" panose="020B0502040204020203" pitchFamily="34" charset="0"/>
                        </a:rPr>
                        <a:t> de IA </a:t>
                      </a:r>
                      <a:r>
                        <a:rPr lang="en-US" sz="850" b="0" kern="1200" dirty="0" err="1">
                          <a:solidFill>
                            <a:schemeClr val="tx1"/>
                          </a:solidFill>
                          <a:latin typeface="Segoe UI" panose="020B0502040204020203" pitchFamily="34" charset="0"/>
                          <a:ea typeface="+mn-ea"/>
                          <a:cs typeface="Segoe UI" panose="020B0502040204020203" pitchFamily="34" charset="0"/>
                        </a:rPr>
                        <a:t>na</a:t>
                      </a:r>
                      <a:r>
                        <a:rPr lang="en-US" sz="850" b="0" kern="1200" dirty="0">
                          <a:solidFill>
                            <a:schemeClr val="tx1"/>
                          </a:solidFill>
                          <a:latin typeface="Segoe UI" panose="020B0502040204020203" pitchFamily="34" charset="0"/>
                          <a:ea typeface="+mn-ea"/>
                          <a:cs typeface="Segoe UI" panose="020B0502040204020203" pitchFamily="34" charset="0"/>
                        </a:rPr>
                        <a:t> Semana 1</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Segoe UI" panose="020B0502040204020203" pitchFamily="34" charset="0"/>
                          <a:ea typeface="+mn-ea"/>
                          <a:cs typeface="Segoe UI" panose="020B0502040204020203" pitchFamily="34" charset="0"/>
                        </a:rPr>
                        <a:t>Disponibilizar</a:t>
                      </a:r>
                      <a:r>
                        <a:rPr lang="en-US" sz="850" b="0" kern="1200" dirty="0">
                          <a:solidFill>
                            <a:schemeClr val="tx1"/>
                          </a:solidFill>
                          <a:latin typeface="Segoe UI" panose="020B0502040204020203" pitchFamily="34" charset="0"/>
                          <a:ea typeface="+mn-ea"/>
                          <a:cs typeface="Segoe UI" panose="020B0502040204020203" pitchFamily="34" charset="0"/>
                        </a:rPr>
                        <a:t>  equipe </a:t>
                      </a:r>
                      <a:r>
                        <a:rPr lang="en-US" sz="850" b="0" kern="1200" dirty="0" err="1">
                          <a:solidFill>
                            <a:schemeClr val="tx1"/>
                          </a:solidFill>
                          <a:latin typeface="Segoe UI" panose="020B0502040204020203" pitchFamily="34" charset="0"/>
                          <a:ea typeface="+mn-ea"/>
                          <a:cs typeface="Segoe UI" panose="020B0502040204020203" pitchFamily="34" charset="0"/>
                        </a:rPr>
                        <a:t>tencica</a:t>
                      </a:r>
                      <a:r>
                        <a:rPr lang="en-US" sz="850" b="0" kern="1200" dirty="0">
                          <a:solidFill>
                            <a:schemeClr val="tx1"/>
                          </a:solidFill>
                          <a:latin typeface="Segoe UI" panose="020B0502040204020203" pitchFamily="34" charset="0"/>
                          <a:ea typeface="+mn-ea"/>
                          <a:cs typeface="Segoe UI" panose="020B0502040204020203" pitchFamily="34" charset="0"/>
                        </a:rPr>
                        <a:t> para </a:t>
                      </a:r>
                      <a:r>
                        <a:rPr lang="en-US" sz="850" b="0" kern="1200" dirty="0" err="1">
                          <a:solidFill>
                            <a:schemeClr val="tx1"/>
                          </a:solidFill>
                          <a:latin typeface="Segoe UI" panose="020B0502040204020203" pitchFamily="34" charset="0"/>
                          <a:ea typeface="+mn-ea"/>
                          <a:cs typeface="Segoe UI" panose="020B0502040204020203" pitchFamily="34" charset="0"/>
                        </a:rPr>
                        <a:t>em</a:t>
                      </a:r>
                      <a:r>
                        <a:rPr lang="en-US" sz="850" b="0" kern="1200" dirty="0">
                          <a:solidFill>
                            <a:schemeClr val="tx1"/>
                          </a:solidFill>
                          <a:latin typeface="Segoe UI" panose="020B0502040204020203" pitchFamily="34" charset="0"/>
                          <a:ea typeface="+mn-ea"/>
                          <a:cs typeface="Segoe UI" panose="020B0502040204020203" pitchFamily="34" charset="0"/>
                        </a:rPr>
                        <a:t> tempo </a:t>
                      </a:r>
                      <a:r>
                        <a:rPr lang="en-US" sz="850" b="0" kern="1200" dirty="0" err="1">
                          <a:solidFill>
                            <a:schemeClr val="tx1"/>
                          </a:solidFill>
                          <a:latin typeface="Segoe UI" panose="020B0502040204020203" pitchFamily="34" charset="0"/>
                          <a:ea typeface="+mn-ea"/>
                          <a:cs typeface="Segoe UI" panose="020B0502040204020203" pitchFamily="34" charset="0"/>
                        </a:rPr>
                        <a:t>parcial</a:t>
                      </a:r>
                      <a:r>
                        <a:rPr lang="en-US" sz="850" b="0" kern="1200" dirty="0">
                          <a:solidFill>
                            <a:schemeClr val="tx1"/>
                          </a:solidFill>
                          <a:latin typeface="Segoe UI" panose="020B0502040204020203" pitchFamily="34" charset="0"/>
                          <a:ea typeface="+mn-ea"/>
                          <a:cs typeface="Segoe UI" panose="020B0502040204020203" pitchFamily="34" charset="0"/>
                        </a:rPr>
                        <a:t> para as </a:t>
                      </a:r>
                      <a:r>
                        <a:rPr lang="en-US" sz="850" b="0" kern="1200" dirty="0" err="1">
                          <a:solidFill>
                            <a:schemeClr val="tx1"/>
                          </a:solidFill>
                          <a:latin typeface="Segoe UI" panose="020B0502040204020203" pitchFamily="34" charset="0"/>
                          <a:ea typeface="+mn-ea"/>
                          <a:cs typeface="Segoe UI" panose="020B0502040204020203" pitchFamily="34" charset="0"/>
                        </a:rPr>
                        <a:t>sessões</a:t>
                      </a:r>
                      <a:r>
                        <a:rPr lang="en-US" sz="850" b="0" kern="1200" dirty="0">
                          <a:solidFill>
                            <a:schemeClr val="tx1"/>
                          </a:solidFill>
                          <a:latin typeface="Segoe UI" panose="020B0502040204020203" pitchFamily="34" charset="0"/>
                          <a:ea typeface="+mn-ea"/>
                          <a:cs typeface="Segoe UI" panose="020B0502040204020203" pitchFamily="34" charset="0"/>
                        </a:rPr>
                        <a:t> de </a:t>
                      </a:r>
                      <a:r>
                        <a:rPr lang="en-US" sz="850" b="0" kern="1200" dirty="0" err="1">
                          <a:solidFill>
                            <a:schemeClr val="tx1"/>
                          </a:solidFill>
                          <a:latin typeface="Segoe UI" panose="020B0502040204020203" pitchFamily="34" charset="0"/>
                          <a:ea typeface="+mn-ea"/>
                          <a:cs typeface="Segoe UI" panose="020B0502040204020203" pitchFamily="34" charset="0"/>
                        </a:rPr>
                        <a:t>validação</a:t>
                      </a:r>
                      <a:endParaRPr lang="en-US" sz="850" b="0" kern="1200" dirty="0">
                        <a:solidFill>
                          <a:schemeClr val="tx1"/>
                        </a:solidFill>
                        <a:latin typeface="Segoe UI" panose="020B0502040204020203" pitchFamily="34" charset="0"/>
                        <a:ea typeface="+mn-ea"/>
                        <a:cs typeface="Segoe UI" panose="020B0502040204020203" pitchFamily="34" charset="0"/>
                      </a:endParaRP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err="1">
                          <a:solidFill>
                            <a:schemeClr val="tx1"/>
                          </a:solidFill>
                          <a:latin typeface="Segoe UI" panose="020B0502040204020203" pitchFamily="34" charset="0"/>
                          <a:ea typeface="+mn-ea"/>
                          <a:cs typeface="Segoe UI" panose="020B0502040204020203" pitchFamily="34" charset="0"/>
                        </a:rPr>
                        <a:t>Disponibilizar</a:t>
                      </a:r>
                      <a:r>
                        <a:rPr lang="en-US" sz="850" b="0" kern="1200" dirty="0">
                          <a:solidFill>
                            <a:schemeClr val="tx1"/>
                          </a:solidFill>
                          <a:latin typeface="Segoe UI" panose="020B0502040204020203" pitchFamily="34" charset="0"/>
                          <a:ea typeface="+mn-ea"/>
                          <a:cs typeface="Segoe UI" panose="020B0502040204020203" pitchFamily="34" charset="0"/>
                        </a:rPr>
                        <a:t> a subscription Azure </a:t>
                      </a:r>
                      <a:r>
                        <a:rPr lang="en-US" sz="850" b="0" kern="1200" dirty="0" err="1">
                          <a:solidFill>
                            <a:schemeClr val="tx1"/>
                          </a:solidFill>
                          <a:latin typeface="Segoe UI" panose="020B0502040204020203" pitchFamily="34" charset="0"/>
                          <a:ea typeface="+mn-ea"/>
                          <a:cs typeface="Segoe UI" panose="020B0502040204020203" pitchFamily="34" charset="0"/>
                        </a:rPr>
                        <a:t>usada</a:t>
                      </a:r>
                      <a:r>
                        <a:rPr lang="en-US" sz="850" b="0" kern="1200" dirty="0">
                          <a:solidFill>
                            <a:schemeClr val="tx1"/>
                          </a:solidFill>
                          <a:latin typeface="Segoe UI" panose="020B0502040204020203" pitchFamily="34" charset="0"/>
                          <a:ea typeface="+mn-ea"/>
                          <a:cs typeface="Segoe UI" panose="020B0502040204020203" pitchFamily="34" charset="0"/>
                        </a:rPr>
                        <a:t> no </a:t>
                      </a:r>
                      <a:r>
                        <a:rPr lang="en-US" sz="850" b="0" kern="1200" dirty="0" err="1">
                          <a:solidFill>
                            <a:schemeClr val="tx1"/>
                          </a:solidFill>
                          <a:latin typeface="Segoe UI" panose="020B0502040204020203" pitchFamily="34" charset="0"/>
                          <a:ea typeface="+mn-ea"/>
                          <a:cs typeface="Segoe UI" panose="020B0502040204020203" pitchFamily="34" charset="0"/>
                        </a:rPr>
                        <a:t>ambiente</a:t>
                      </a:r>
                      <a:r>
                        <a:rPr lang="en-US" sz="850" b="0" kern="1200" dirty="0">
                          <a:solidFill>
                            <a:schemeClr val="tx1"/>
                          </a:solidFill>
                          <a:latin typeface="Segoe UI" panose="020B0502040204020203" pitchFamily="34" charset="0"/>
                          <a:ea typeface="+mn-ea"/>
                          <a:cs typeface="Segoe UI" panose="020B0502040204020203" pitchFamily="34" charset="0"/>
                        </a:rPr>
                        <a:t> DEV do </a:t>
                      </a:r>
                      <a:r>
                        <a:rPr lang="en-US" sz="850" b="0" kern="1200" dirty="0" err="1">
                          <a:solidFill>
                            <a:schemeClr val="tx1"/>
                          </a:solidFill>
                          <a:latin typeface="Segoe UI" panose="020B0502040204020203" pitchFamily="34" charset="0"/>
                          <a:ea typeface="+mn-ea"/>
                          <a:cs typeface="Segoe UI" panose="020B0502040204020203" pitchFamily="34" charset="0"/>
                        </a:rPr>
                        <a:t>piloto</a:t>
                      </a:r>
                      <a:endParaRPr lang="en-US" sz="850" b="0" kern="1200" dirty="0">
                        <a:solidFill>
                          <a:schemeClr val="tx1"/>
                        </a:solidFill>
                        <a:latin typeface="Segoe UI" panose="020B0502040204020203" pitchFamily="34" charset="0"/>
                        <a:ea typeface="+mn-ea"/>
                        <a:cs typeface="Segoe UI" panose="020B0502040204020203" pitchFamily="34" charset="0"/>
                      </a:endParaRP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a:solidFill>
                            <a:schemeClr val="tx1"/>
                          </a:solidFill>
                          <a:latin typeface="Segoe UI" panose="020B0502040204020203" pitchFamily="34" charset="0"/>
                          <a:ea typeface="+mn-ea"/>
                          <a:cs typeface="Segoe UI" panose="020B0502040204020203" pitchFamily="34" charset="0"/>
                        </a:rPr>
                        <a:t>Validar o </a:t>
                      </a:r>
                      <a:r>
                        <a:rPr lang="en-US" sz="850" b="0" kern="1200" dirty="0" err="1">
                          <a:solidFill>
                            <a:schemeClr val="tx1"/>
                          </a:solidFill>
                          <a:latin typeface="Segoe UI" panose="020B0502040204020203" pitchFamily="34" charset="0"/>
                          <a:ea typeface="+mn-ea"/>
                          <a:cs typeface="Segoe UI" panose="020B0502040204020203" pitchFamily="34" charset="0"/>
                        </a:rPr>
                        <a:t>catálogo</a:t>
                      </a:r>
                      <a:r>
                        <a:rPr lang="en-US" sz="850" b="0" kern="1200" dirty="0">
                          <a:solidFill>
                            <a:schemeClr val="tx1"/>
                          </a:solidFill>
                          <a:latin typeface="Segoe UI" panose="020B0502040204020203" pitchFamily="34" charset="0"/>
                          <a:ea typeface="+mn-ea"/>
                          <a:cs typeface="Segoe UI" panose="020B0502040204020203" pitchFamily="34" charset="0"/>
                        </a:rPr>
                        <a:t> de </a:t>
                      </a:r>
                      <a:r>
                        <a:rPr lang="en-US" sz="850" b="0" kern="1200" dirty="0" err="1">
                          <a:solidFill>
                            <a:schemeClr val="tx1"/>
                          </a:solidFill>
                          <a:latin typeface="Segoe UI" panose="020B0502040204020203" pitchFamily="34" charset="0"/>
                          <a:ea typeface="+mn-ea"/>
                          <a:cs typeface="Segoe UI" panose="020B0502040204020203" pitchFamily="34" charset="0"/>
                        </a:rPr>
                        <a:t>regras</a:t>
                      </a:r>
                      <a:r>
                        <a:rPr lang="en-US" sz="850" b="0" kern="1200" dirty="0">
                          <a:solidFill>
                            <a:schemeClr val="tx1"/>
                          </a:solidFill>
                          <a:latin typeface="Segoe UI" panose="020B0502040204020203" pitchFamily="34" charset="0"/>
                          <a:ea typeface="+mn-ea"/>
                          <a:cs typeface="Segoe UI" panose="020B0502040204020203" pitchFamily="34" charset="0"/>
                        </a:rPr>
                        <a:t> de </a:t>
                      </a:r>
                      <a:r>
                        <a:rPr lang="en-US" sz="850" b="0" kern="1200" dirty="0" err="1">
                          <a:solidFill>
                            <a:schemeClr val="tx1"/>
                          </a:solidFill>
                          <a:latin typeface="Segoe UI" panose="020B0502040204020203" pitchFamily="34" charset="0"/>
                          <a:ea typeface="+mn-ea"/>
                          <a:cs typeface="Segoe UI" panose="020B0502040204020203" pitchFamily="34" charset="0"/>
                        </a:rPr>
                        <a:t>negócio</a:t>
                      </a:r>
                      <a:r>
                        <a:rPr lang="en-US" sz="850" b="0" kern="1200" dirty="0">
                          <a:solidFill>
                            <a:schemeClr val="tx1"/>
                          </a:solidFill>
                          <a:latin typeface="Segoe UI" panose="020B0502040204020203" pitchFamily="34" charset="0"/>
                          <a:ea typeface="+mn-ea"/>
                          <a:cs typeface="Segoe UI" panose="020B0502040204020203" pitchFamily="34" charset="0"/>
                        </a:rPr>
                        <a:t> </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b="0" kern="1200" dirty="0">
                          <a:solidFill>
                            <a:schemeClr val="tx1"/>
                          </a:solidFill>
                          <a:latin typeface="Segoe UI" panose="020B0502040204020203" pitchFamily="34" charset="0"/>
                          <a:ea typeface="+mn-ea"/>
                          <a:cs typeface="Segoe UI" panose="020B0502040204020203" pitchFamily="34" charset="0"/>
                        </a:rPr>
                        <a:t>Validar e </a:t>
                      </a:r>
                      <a:r>
                        <a:rPr lang="en-US" sz="850" b="0" kern="1200" dirty="0" err="1">
                          <a:solidFill>
                            <a:schemeClr val="tx1"/>
                          </a:solidFill>
                          <a:latin typeface="Segoe UI" panose="020B0502040204020203" pitchFamily="34" charset="0"/>
                          <a:ea typeface="+mn-ea"/>
                          <a:cs typeface="Segoe UI" panose="020B0502040204020203" pitchFamily="34" charset="0"/>
                        </a:rPr>
                        <a:t>Aprovar</a:t>
                      </a:r>
                      <a:r>
                        <a:rPr lang="en-US" sz="850" b="0" kern="1200" dirty="0">
                          <a:solidFill>
                            <a:schemeClr val="tx1"/>
                          </a:solidFill>
                          <a:latin typeface="Segoe UI" panose="020B0502040204020203" pitchFamily="34" charset="0"/>
                          <a:ea typeface="+mn-ea"/>
                          <a:cs typeface="Segoe UI" panose="020B0502040204020203" pitchFamily="34" charset="0"/>
                        </a:rPr>
                        <a:t> as </a:t>
                      </a:r>
                      <a:r>
                        <a:rPr lang="en-US" sz="850" b="0" kern="1200" dirty="0" err="1">
                          <a:solidFill>
                            <a:schemeClr val="tx1"/>
                          </a:solidFill>
                          <a:latin typeface="Segoe UI" panose="020B0502040204020203" pitchFamily="34" charset="0"/>
                          <a:ea typeface="+mn-ea"/>
                          <a:cs typeface="Segoe UI" panose="020B0502040204020203" pitchFamily="34" charset="0"/>
                        </a:rPr>
                        <a:t>documentações</a:t>
                      </a:r>
                      <a:r>
                        <a:rPr lang="en-US" sz="850" b="0" kern="1200" dirty="0">
                          <a:solidFill>
                            <a:schemeClr val="tx1"/>
                          </a:solidFill>
                          <a:latin typeface="Segoe UI" panose="020B0502040204020203" pitchFamily="34" charset="0"/>
                          <a:ea typeface="+mn-ea"/>
                          <a:cs typeface="Segoe UI" panose="020B0502040204020203" pitchFamily="34" charset="0"/>
                        </a:rPr>
                        <a:t> </a:t>
                      </a:r>
                      <a:r>
                        <a:rPr lang="en-US" sz="850" b="0" kern="1200" dirty="0" err="1">
                          <a:solidFill>
                            <a:schemeClr val="tx1"/>
                          </a:solidFill>
                          <a:latin typeface="Segoe UI" panose="020B0502040204020203" pitchFamily="34" charset="0"/>
                          <a:ea typeface="+mn-ea"/>
                          <a:cs typeface="Segoe UI" panose="020B0502040204020203" pitchFamily="34" charset="0"/>
                        </a:rPr>
                        <a:t>geradas</a:t>
                      </a:r>
                      <a:r>
                        <a:rPr lang="en-US" sz="850" b="0" kern="1200" dirty="0">
                          <a:solidFill>
                            <a:schemeClr val="tx1"/>
                          </a:solidFill>
                          <a:latin typeface="Segoe UI" panose="020B0502040204020203" pitchFamily="34" charset="0"/>
                          <a:ea typeface="+mn-ea"/>
                          <a:cs typeface="Segoe UI" panose="020B0502040204020203" pitchFamily="34" charset="0"/>
                        </a:rPr>
                        <a:t> pela ferramenta.</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dirty="0" err="1">
                          <a:solidFill>
                            <a:schemeClr val="tx1">
                              <a:lumMod val="50000"/>
                            </a:schemeClr>
                          </a:solidFill>
                          <a:latin typeface="Segoe UI Light"/>
                          <a:ea typeface="+mn-ea"/>
                          <a:cs typeface="Segoe UI Light"/>
                        </a:rPr>
                        <a:t>Inventário</a:t>
                      </a:r>
                      <a:r>
                        <a:rPr lang="en-US" sz="850" b="0" i="0" kern="1200" dirty="0">
                          <a:solidFill>
                            <a:schemeClr val="tx1">
                              <a:lumMod val="50000"/>
                            </a:schemeClr>
                          </a:solidFill>
                          <a:latin typeface="Segoe UI Light"/>
                          <a:ea typeface="+mn-ea"/>
                          <a:cs typeface="Segoe UI Light"/>
                        </a:rPr>
                        <a:t>, </a:t>
                      </a:r>
                      <a:r>
                        <a:rPr lang="en-US" sz="850" b="0" i="0" kern="1200" dirty="0" err="1">
                          <a:solidFill>
                            <a:schemeClr val="tx1">
                              <a:lumMod val="50000"/>
                            </a:schemeClr>
                          </a:solidFill>
                          <a:latin typeface="Segoe UI Light"/>
                          <a:ea typeface="+mn-ea"/>
                          <a:cs typeface="Segoe UI Light"/>
                        </a:rPr>
                        <a:t>mapa</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complexidade</a:t>
                      </a:r>
                      <a:r>
                        <a:rPr lang="en-US" sz="850" b="0" i="0" kern="1200" dirty="0">
                          <a:solidFill>
                            <a:schemeClr val="tx1">
                              <a:lumMod val="50000"/>
                            </a:schemeClr>
                          </a:solidFill>
                          <a:latin typeface="Segoe UI Light"/>
                          <a:ea typeface="+mn-ea"/>
                          <a:cs typeface="Segoe UI Light"/>
                        </a:rPr>
                        <a:t>, </a:t>
                      </a:r>
                      <a:r>
                        <a:rPr lang="en-US" sz="850" b="0" i="0" kern="1200" dirty="0" err="1">
                          <a:solidFill>
                            <a:schemeClr val="tx1">
                              <a:lumMod val="50000"/>
                            </a:schemeClr>
                          </a:solidFill>
                          <a:latin typeface="Segoe UI Light"/>
                          <a:ea typeface="+mn-ea"/>
                          <a:cs typeface="Segoe UI Light"/>
                        </a:rPr>
                        <a:t>registros</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risco</a:t>
                      </a:r>
                      <a:r>
                        <a:rPr lang="en-US" sz="850" b="0" i="0" kern="1200" dirty="0">
                          <a:solidFill>
                            <a:schemeClr val="tx1">
                              <a:lumMod val="50000"/>
                            </a:schemeClr>
                          </a:solidFill>
                          <a:latin typeface="Segoe UI Light"/>
                          <a:ea typeface="+mn-ea"/>
                          <a:cs typeface="Segoe UI Light"/>
                        </a:rPr>
                        <a:t> e de gaps</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dirty="0" err="1">
                          <a:solidFill>
                            <a:schemeClr val="tx1">
                              <a:lumMod val="50000"/>
                            </a:schemeClr>
                          </a:solidFill>
                          <a:latin typeface="Segoe UI Light"/>
                          <a:ea typeface="+mn-ea"/>
                          <a:cs typeface="Segoe UI Light"/>
                        </a:rPr>
                        <a:t>Catálogo</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regras</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negócio</a:t>
                      </a:r>
                      <a:r>
                        <a:rPr lang="en-US" sz="850" b="0" i="0" kern="1200" dirty="0">
                          <a:solidFill>
                            <a:schemeClr val="tx1">
                              <a:lumMod val="50000"/>
                            </a:schemeClr>
                          </a:solidFill>
                          <a:latin typeface="Segoe UI Light"/>
                          <a:ea typeface="+mn-ea"/>
                          <a:cs typeface="Segoe UI Light"/>
                        </a:rPr>
                        <a:t> </a:t>
                      </a:r>
                      <a:r>
                        <a:rPr lang="en-US" sz="850" b="0" i="0" kern="1200" dirty="0" err="1">
                          <a:solidFill>
                            <a:schemeClr val="tx1">
                              <a:lumMod val="50000"/>
                            </a:schemeClr>
                          </a:solidFill>
                          <a:latin typeface="Segoe UI Light"/>
                          <a:ea typeface="+mn-ea"/>
                          <a:cs typeface="Segoe UI Light"/>
                        </a:rPr>
                        <a:t>rastreável</a:t>
                      </a:r>
                      <a:r>
                        <a:rPr lang="en-US" sz="850" b="0" i="0" kern="1200" dirty="0">
                          <a:solidFill>
                            <a:schemeClr val="tx1">
                              <a:lumMod val="50000"/>
                            </a:schemeClr>
                          </a:solidFill>
                          <a:latin typeface="Segoe UI Light"/>
                          <a:ea typeface="+mn-ea"/>
                          <a:cs typeface="Segoe UI Light"/>
                        </a:rPr>
                        <a:t> + </a:t>
                      </a:r>
                      <a:r>
                        <a:rPr lang="en-US" sz="850" b="0" i="0" kern="1200" dirty="0" err="1">
                          <a:solidFill>
                            <a:schemeClr val="tx1">
                              <a:lumMod val="50000"/>
                            </a:schemeClr>
                          </a:solidFill>
                          <a:latin typeface="Segoe UI Light"/>
                          <a:ea typeface="+mn-ea"/>
                          <a:cs typeface="Segoe UI Light"/>
                        </a:rPr>
                        <a:t>pacote</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revisão</a:t>
                      </a:r>
                      <a:endParaRPr lang="en-US" sz="850" b="0" i="0" kern="1200" dirty="0">
                        <a:solidFill>
                          <a:schemeClr val="tx1">
                            <a:lumMod val="50000"/>
                          </a:schemeClr>
                        </a:solidFill>
                        <a:latin typeface="Segoe UI Light"/>
                        <a:ea typeface="+mn-ea"/>
                        <a:cs typeface="Segoe UI Light"/>
                      </a:endParaRP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dirty="0">
                          <a:solidFill>
                            <a:schemeClr val="tx1">
                              <a:lumMod val="50000"/>
                            </a:schemeClr>
                          </a:solidFill>
                          <a:latin typeface="Segoe UI Light"/>
                          <a:ea typeface="+mn-ea"/>
                          <a:cs typeface="Segoe UI Light"/>
                        </a:rPr>
                        <a:t>Blueprint AS-IS, </a:t>
                      </a:r>
                      <a:r>
                        <a:rPr lang="en-US" sz="850" b="0" i="0" kern="1200" dirty="0" err="1">
                          <a:solidFill>
                            <a:schemeClr val="tx1">
                              <a:lumMod val="50000"/>
                            </a:schemeClr>
                          </a:solidFill>
                          <a:latin typeface="Segoe UI Light"/>
                          <a:ea typeface="+mn-ea"/>
                          <a:cs typeface="Segoe UI Light"/>
                        </a:rPr>
                        <a:t>diagramas</a:t>
                      </a:r>
                      <a:r>
                        <a:rPr lang="en-US" sz="850" b="0" i="0" kern="1200" dirty="0">
                          <a:solidFill>
                            <a:schemeClr val="tx1">
                              <a:lumMod val="50000"/>
                            </a:schemeClr>
                          </a:solidFill>
                          <a:latin typeface="Segoe UI Light"/>
                          <a:ea typeface="+mn-ea"/>
                          <a:cs typeface="Segoe UI Light"/>
                        </a:rPr>
                        <a:t> C4 / ER / </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dirty="0" err="1">
                          <a:solidFill>
                            <a:schemeClr val="tx1">
                              <a:lumMod val="50000"/>
                            </a:schemeClr>
                          </a:solidFill>
                          <a:latin typeface="Segoe UI Light"/>
                          <a:ea typeface="+mn-ea"/>
                          <a:cs typeface="Segoe UI Light"/>
                        </a:rPr>
                        <a:t>Relatório</a:t>
                      </a:r>
                      <a:r>
                        <a:rPr lang="en-US" sz="850" b="0" i="0" kern="1200" dirty="0">
                          <a:solidFill>
                            <a:schemeClr val="tx1">
                              <a:lumMod val="50000"/>
                            </a:schemeClr>
                          </a:solidFill>
                          <a:latin typeface="Segoe UI Light"/>
                          <a:ea typeface="+mn-ea"/>
                          <a:cs typeface="Segoe UI Light"/>
                        </a:rPr>
                        <a:t> de </a:t>
                      </a:r>
                      <a:r>
                        <a:rPr lang="en-US" sz="850" b="0" i="0" kern="1200" dirty="0" err="1">
                          <a:solidFill>
                            <a:schemeClr val="tx1">
                              <a:lumMod val="50000"/>
                            </a:schemeClr>
                          </a:solidFill>
                          <a:latin typeface="Segoe UI Light"/>
                          <a:ea typeface="+mn-ea"/>
                          <a:cs typeface="Segoe UI Light"/>
                        </a:rPr>
                        <a:t>sumario</a:t>
                      </a:r>
                      <a:r>
                        <a:rPr lang="en-US" sz="850" b="0" i="0" kern="1200" dirty="0">
                          <a:solidFill>
                            <a:schemeClr val="tx1">
                              <a:lumMod val="50000"/>
                            </a:schemeClr>
                          </a:solidFill>
                          <a:latin typeface="Segoe UI Light"/>
                          <a:ea typeface="+mn-ea"/>
                          <a:cs typeface="Segoe UI Light"/>
                        </a:rPr>
                        <a:t> </a:t>
                      </a:r>
                      <a:r>
                        <a:rPr lang="en-US" sz="850" b="0" i="0" kern="1200" dirty="0" err="1">
                          <a:solidFill>
                            <a:schemeClr val="tx1">
                              <a:lumMod val="50000"/>
                            </a:schemeClr>
                          </a:solidFill>
                          <a:latin typeface="Segoe UI Light"/>
                          <a:ea typeface="+mn-ea"/>
                          <a:cs typeface="Segoe UI Light"/>
                        </a:rPr>
                        <a:t>executivo</a:t>
                      </a:r>
                      <a:r>
                        <a:rPr lang="en-US" sz="850" b="0" i="0" kern="1200" dirty="0">
                          <a:solidFill>
                            <a:schemeClr val="tx1">
                              <a:lumMod val="50000"/>
                            </a:schemeClr>
                          </a:solidFill>
                          <a:latin typeface="Segoe UI Light"/>
                          <a:ea typeface="+mn-ea"/>
                          <a:cs typeface="Segoe UI Light"/>
                        </a:rPr>
                        <a:t>. </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graphicFrame>
        <p:nvGraphicFramePr>
          <p:cNvPr id="4" name="Table 3">
            <a:extLst>
              <a:ext uri="{FF2B5EF4-FFF2-40B4-BE49-F238E27FC236}">
                <a16:creationId xmlns:a16="http://schemas.microsoft.com/office/drawing/2014/main" id="{D3ACA61F-A96B-A393-E525-BE3BF419E6C0}"/>
              </a:ext>
            </a:extLst>
          </p:cNvPr>
          <p:cNvGraphicFramePr>
            <a:graphicFrameLocks noGrp="1"/>
          </p:cNvGraphicFramePr>
          <p:nvPr/>
        </p:nvGraphicFramePr>
        <p:xfrm>
          <a:off x="411813" y="5225949"/>
          <a:ext cx="11259691" cy="1188720"/>
        </p:xfrm>
        <a:graphic>
          <a:graphicData uri="http://schemas.openxmlformats.org/drawingml/2006/table">
            <a:tbl>
              <a:tblPr firstRow="1" bandRow="1">
                <a:tableStyleId>{5C22544A-7EE6-4342-B048-85BDC9FD1C3A}</a:tableStyleId>
              </a:tblPr>
              <a:tblGrid>
                <a:gridCol w="11259691">
                  <a:extLst>
                    <a:ext uri="{9D8B030D-6E8A-4147-A177-3AD203B41FA5}">
                      <a16:colId xmlns:a16="http://schemas.microsoft.com/office/drawing/2014/main" val="100514645"/>
                    </a:ext>
                  </a:extLst>
                </a:gridCol>
              </a:tblGrid>
              <a:tr h="224534">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panose="020B0503030202060203" pitchFamily="34" charset="0"/>
                          <a:ea typeface="+mn-ea"/>
                          <a:cs typeface="+mn-cs"/>
                        </a:rPr>
                        <a:t>Fora de Escopo -- itens que estão fora do escopo acordado do projeto</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830776">
                <a:tc>
                  <a:txBody>
                    <a:bodyPr/>
                    <a:lstStyle/>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Geração de código em massa do backlog completo; F4 cobre apenas UM bounded context piloto</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Geração de código para stacks diferentes de .NET 8 + Angular (Java, Python, Go e NestJS não estão em GA)</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Cutover produtivo, go-live, migração de dados ou descomissionamento da aplicação legada</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Execução de SAST/DAST corporativo e teste de intrusão; remediação de vulnerabilidades do legado</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Qualquer compromisso de performance, SLA ou capacidade do código gerado em produção</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graphicFrame>
        <p:nvGraphicFramePr>
          <p:cNvPr id="6" name="Table 5">
            <a:extLst>
              <a:ext uri="{FF2B5EF4-FFF2-40B4-BE49-F238E27FC236}">
                <a16:creationId xmlns:a16="http://schemas.microsoft.com/office/drawing/2014/main" id="{67C02A89-4DDF-FD32-0845-AEF9440F0A32}"/>
              </a:ext>
            </a:extLst>
          </p:cNvPr>
          <p:cNvGraphicFramePr>
            <a:graphicFrameLocks noGrp="1"/>
          </p:cNvGraphicFramePr>
          <p:nvPr>
            <p:extLst>
              <p:ext uri="{D42A27DB-BD31-4B8C-83A1-F6EECF244321}">
                <p14:modId xmlns:p14="http://schemas.microsoft.com/office/powerpoint/2010/main" val="2653645298"/>
              </p:ext>
            </p:extLst>
          </p:nvPr>
        </p:nvGraphicFramePr>
        <p:xfrm>
          <a:off x="411813" y="1044948"/>
          <a:ext cx="11209986" cy="1143000"/>
        </p:xfrm>
        <a:graphic>
          <a:graphicData uri="http://schemas.openxmlformats.org/drawingml/2006/table">
            <a:tbl>
              <a:tblPr firstRow="1" bandRow="1">
                <a:tableStyleId>{5C22544A-7EE6-4342-B048-85BDC9FD1C3A}</a:tableStyleId>
              </a:tblPr>
              <a:tblGrid>
                <a:gridCol w="3736662">
                  <a:extLst>
                    <a:ext uri="{9D8B030D-6E8A-4147-A177-3AD203B41FA5}">
                      <a16:colId xmlns:a16="http://schemas.microsoft.com/office/drawing/2014/main" val="100514645"/>
                    </a:ext>
                  </a:extLst>
                </a:gridCol>
                <a:gridCol w="7473324">
                  <a:extLst>
                    <a:ext uri="{9D8B030D-6E8A-4147-A177-3AD203B41FA5}">
                      <a16:colId xmlns:a16="http://schemas.microsoft.com/office/drawing/2014/main" val="3317341849"/>
                    </a:ext>
                  </a:extLst>
                </a:gridCol>
              </a:tblGrid>
              <a:tr h="224558">
                <a:tc gridSpan="2">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panose="020B0503030202060203" pitchFamily="34" charset="0"/>
                          <a:ea typeface="+mn-ea"/>
                          <a:cs typeface="+mn-cs"/>
                        </a:rPr>
                        <a:t>Resumo do Blueprint da Solução</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202102">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panose="020B0503030202060203" pitchFamily="34" charset="0"/>
                          <a:ea typeface="+mn-ea"/>
                          <a:cs typeface="+mn-cs"/>
                        </a:rPr>
                        <a:t>Resumo da Solução TO-BE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panose="020B0503030202060203" pitchFamily="34" charset="0"/>
                          <a:ea typeface="+mn-ea"/>
                          <a:cs typeface="+mn-cs"/>
                        </a:rPr>
                        <a:t>Principais desvios em relação a soluções padrão deste tipo/porte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558562553"/>
                  </a:ext>
                </a:extLst>
              </a:tr>
              <a:tr h="533331">
                <a:tc>
                  <a:txBody>
                    <a:bodyPr/>
                    <a:lstStyle/>
                    <a:p>
                      <a:pPr marL="0" marR="0" indent="0" algn="l" defTabSz="914400" rtl="0" eaLnBrk="0" fontAlgn="base" latinLnBrk="0" hangingPunct="0">
                        <a:lnSpc>
                          <a:spcPct val="100000"/>
                        </a:lnSpc>
                        <a:spcBef>
                          <a:spcPts val="300"/>
                        </a:spcBef>
                        <a:spcAft>
                          <a:spcPts val="0"/>
                        </a:spcAft>
                        <a:buClr>
                          <a:schemeClr val="tx1"/>
                        </a:buClr>
                        <a:buSzTx/>
                        <a:buFontTx/>
                        <a:buNone/>
                        <a:tabLst/>
                        <a:defRPr/>
                      </a:pPr>
                      <a:r>
                        <a:rPr lang="en-ZA" sz="900" b="0" kern="1200" dirty="0" err="1">
                          <a:solidFill>
                            <a:schemeClr val="tx1"/>
                          </a:solidFill>
                          <a:latin typeface="Segoe UI" panose="020B0502040204020203" pitchFamily="34" charset="0"/>
                          <a:ea typeface="+mn-ea"/>
                          <a:cs typeface="Segoe UI" panose="020B0502040204020203" pitchFamily="34" charset="0"/>
                        </a:rPr>
                        <a:t>Executar</a:t>
                      </a:r>
                      <a:r>
                        <a:rPr lang="en-ZA" sz="900" b="0" kern="1200" dirty="0">
                          <a:solidFill>
                            <a:schemeClr val="tx1"/>
                          </a:solidFill>
                          <a:latin typeface="Segoe UI" panose="020B0502040204020203" pitchFamily="34" charset="0"/>
                          <a:ea typeface="+mn-ea"/>
                          <a:cs typeface="Segoe UI" panose="020B0502040204020203" pitchFamily="34" charset="0"/>
                        </a:rPr>
                        <a:t> a </a:t>
                      </a:r>
                      <a:r>
                        <a:rPr lang="en-ZA" sz="900" b="0" kern="1200" dirty="0" err="1">
                          <a:solidFill>
                            <a:schemeClr val="tx1"/>
                          </a:solidFill>
                          <a:latin typeface="Segoe UI" panose="020B0502040204020203" pitchFamily="34" charset="0"/>
                          <a:ea typeface="+mn-ea"/>
                          <a:cs typeface="Segoe UI" panose="020B0502040204020203" pitchFamily="34" charset="0"/>
                        </a:rPr>
                        <a:t>esteira</a:t>
                      </a:r>
                      <a:r>
                        <a:rPr lang="en-ZA" sz="900" b="0" kern="1200" dirty="0">
                          <a:solidFill>
                            <a:schemeClr val="tx1"/>
                          </a:solidFill>
                          <a:latin typeface="Segoe UI" panose="020B0502040204020203" pitchFamily="34" charset="0"/>
                          <a:ea typeface="+mn-ea"/>
                          <a:cs typeface="Segoe UI" panose="020B0502040204020203" pitchFamily="34" charset="0"/>
                        </a:rPr>
                        <a:t>  com </a:t>
                      </a:r>
                      <a:r>
                        <a:rPr lang="en-ZA" sz="900" b="0" kern="1200" dirty="0" err="1">
                          <a:solidFill>
                            <a:schemeClr val="tx1"/>
                          </a:solidFill>
                          <a:latin typeface="Segoe UI" panose="020B0502040204020203" pitchFamily="34" charset="0"/>
                          <a:ea typeface="+mn-ea"/>
                          <a:cs typeface="Segoe UI" panose="020B0502040204020203" pitchFamily="34" charset="0"/>
                        </a:rPr>
                        <a:t>agentes</a:t>
                      </a:r>
                      <a:r>
                        <a:rPr lang="en-ZA" sz="900" b="0" kern="1200" dirty="0">
                          <a:solidFill>
                            <a:schemeClr val="tx1"/>
                          </a:solidFill>
                          <a:latin typeface="Segoe UI" panose="020B0502040204020203" pitchFamily="34" charset="0"/>
                          <a:ea typeface="+mn-ea"/>
                          <a:cs typeface="Segoe UI" panose="020B0502040204020203" pitchFamily="34" charset="0"/>
                        </a:rPr>
                        <a:t> de IA </a:t>
                      </a:r>
                      <a:r>
                        <a:rPr lang="en-ZA" sz="900" b="0" kern="1200" dirty="0" err="1">
                          <a:solidFill>
                            <a:schemeClr val="tx1"/>
                          </a:solidFill>
                          <a:latin typeface="Segoe UI" panose="020B0502040204020203" pitchFamily="34" charset="0"/>
                          <a:ea typeface="+mn-ea"/>
                          <a:cs typeface="Segoe UI" panose="020B0502040204020203" pitchFamily="34" charset="0"/>
                        </a:rPr>
                        <a:t>especializados</a:t>
                      </a:r>
                      <a:r>
                        <a:rPr lang="en-ZA" sz="900" b="0" kern="1200" dirty="0">
                          <a:solidFill>
                            <a:schemeClr val="tx1"/>
                          </a:solidFill>
                          <a:latin typeface="Segoe UI" panose="020B0502040204020203" pitchFamily="34" charset="0"/>
                          <a:ea typeface="+mn-ea"/>
                          <a:cs typeface="Segoe UI" panose="020B0502040204020203" pitchFamily="34" charset="0"/>
                        </a:rPr>
                        <a:t>, 3 </a:t>
                      </a:r>
                      <a:r>
                        <a:rPr lang="en-ZA" sz="900" b="0" kern="1200" dirty="0" err="1">
                          <a:solidFill>
                            <a:schemeClr val="tx1"/>
                          </a:solidFill>
                          <a:latin typeface="Segoe UI" panose="020B0502040204020203" pitchFamily="34" charset="0"/>
                          <a:ea typeface="+mn-ea"/>
                          <a:cs typeface="Segoe UI" panose="020B0502040204020203" pitchFamily="34" charset="0"/>
                        </a:rPr>
                        <a:t>fases</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sobre</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uma</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aplicação</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bancária</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piloto</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produzindo</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toda</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documentação</a:t>
                      </a:r>
                      <a:r>
                        <a:rPr lang="en-ZA" sz="900" b="0" kern="1200" dirty="0">
                          <a:solidFill>
                            <a:schemeClr val="tx1"/>
                          </a:solidFill>
                          <a:latin typeface="Segoe UI" panose="020B0502040204020203" pitchFamily="34" charset="0"/>
                          <a:ea typeface="+mn-ea"/>
                          <a:cs typeface="Segoe UI" panose="020B0502040204020203" pitchFamily="34" charset="0"/>
                        </a:rPr>
                        <a:t> com base </a:t>
                      </a:r>
                      <a:r>
                        <a:rPr lang="en-ZA" sz="900" b="0" kern="1200" dirty="0" err="1">
                          <a:solidFill>
                            <a:schemeClr val="tx1"/>
                          </a:solidFill>
                          <a:latin typeface="Segoe UI" panose="020B0502040204020203" pitchFamily="34" charset="0"/>
                          <a:ea typeface="+mn-ea"/>
                          <a:cs typeface="Segoe UI" panose="020B0502040204020203" pitchFamily="34" charset="0"/>
                        </a:rPr>
                        <a:t>na</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engenharia</a:t>
                      </a:r>
                      <a:r>
                        <a:rPr lang="en-ZA" sz="900" b="0" kern="1200" dirty="0">
                          <a:solidFill>
                            <a:schemeClr val="tx1"/>
                          </a:solidFill>
                          <a:latin typeface="Segoe UI" panose="020B0502040204020203" pitchFamily="34" charset="0"/>
                          <a:ea typeface="+mn-ea"/>
                          <a:cs typeface="Segoe UI" panose="020B0502040204020203" pitchFamily="34" charset="0"/>
                        </a:rPr>
                        <a:t> </a:t>
                      </a:r>
                      <a:r>
                        <a:rPr lang="en-ZA" sz="900" b="0" kern="1200" dirty="0" err="1">
                          <a:solidFill>
                            <a:schemeClr val="tx1"/>
                          </a:solidFill>
                          <a:latin typeface="Segoe UI" panose="020B0502040204020203" pitchFamily="34" charset="0"/>
                          <a:ea typeface="+mn-ea"/>
                          <a:cs typeface="Segoe UI" panose="020B0502040204020203" pitchFamily="34" charset="0"/>
                        </a:rPr>
                        <a:t>reversa</a:t>
                      </a:r>
                      <a:r>
                        <a:rPr lang="en-ZA" sz="900" b="0" kern="1200" dirty="0">
                          <a:solidFill>
                            <a:schemeClr val="tx1"/>
                          </a:solidFill>
                          <a:latin typeface="Segoe UI" panose="020B0502040204020203" pitchFamily="34" charset="0"/>
                          <a:ea typeface="+mn-ea"/>
                          <a:cs typeface="Segoe UI" panose="020B0502040204020203" pitchFamily="34" charset="0"/>
                        </a:rPr>
                        <a:t> </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0" marR="0" indent="0" algn="l" defTabSz="914400" rtl="0" eaLnBrk="0" fontAlgn="base" latinLnBrk="0" hangingPunct="0">
                        <a:lnSpc>
                          <a:spcPct val="100000"/>
                        </a:lnSpc>
                        <a:spcBef>
                          <a:spcPts val="300"/>
                        </a:spcBef>
                        <a:spcAft>
                          <a:spcPts val="0"/>
                        </a:spcAft>
                        <a:buClr>
                          <a:schemeClr val="tx1"/>
                        </a:buClr>
                        <a:buSzTx/>
                        <a:buFontTx/>
                        <a:buNone/>
                        <a:tabLst/>
                      </a:pPr>
                      <a:r>
                        <a:rPr lang="en-US" sz="900" b="0" kern="1200" dirty="0">
                          <a:solidFill>
                            <a:schemeClr val="tx1"/>
                          </a:solidFill>
                          <a:latin typeface="Segoe UI" panose="020B0502040204020203" pitchFamily="34" charset="0"/>
                          <a:ea typeface="+mn-ea"/>
                          <a:cs typeface="Segoe UI" panose="020B0502040204020203" pitchFamily="34" charset="0"/>
                        </a:rPr>
                        <a:t>F0-F3S </a:t>
                      </a:r>
                      <a:r>
                        <a:rPr lang="en-US" sz="900" b="0" kern="1200" dirty="0" err="1">
                          <a:solidFill>
                            <a:schemeClr val="tx1"/>
                          </a:solidFill>
                          <a:latin typeface="Segoe UI" panose="020B0502040204020203" pitchFamily="34" charset="0"/>
                          <a:ea typeface="+mn-ea"/>
                          <a:cs typeface="Segoe UI" panose="020B0502040204020203" pitchFamily="34" charset="0"/>
                        </a:rPr>
                        <a:t>estão</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em</a:t>
                      </a:r>
                      <a:r>
                        <a:rPr lang="en-US" sz="900" b="0" kern="1200" dirty="0">
                          <a:solidFill>
                            <a:schemeClr val="tx1"/>
                          </a:solidFill>
                          <a:latin typeface="Segoe UI" panose="020B0502040204020203" pitchFamily="34" charset="0"/>
                          <a:ea typeface="+mn-ea"/>
                          <a:cs typeface="Segoe UI" panose="020B0502040204020203" pitchFamily="34" charset="0"/>
                        </a:rPr>
                        <a:t> GA e </a:t>
                      </a:r>
                      <a:r>
                        <a:rPr lang="en-US" sz="900" b="0" kern="1200" dirty="0" err="1">
                          <a:solidFill>
                            <a:schemeClr val="tx1"/>
                          </a:solidFill>
                          <a:latin typeface="Segoe UI" panose="020B0502040204020203" pitchFamily="34" charset="0"/>
                          <a:ea typeface="+mn-ea"/>
                          <a:cs typeface="Segoe UI" panose="020B0502040204020203" pitchFamily="34" charset="0"/>
                        </a:rPr>
                        <a:t>foram</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executadas</a:t>
                      </a:r>
                      <a:r>
                        <a:rPr lang="en-US" sz="900" b="0" kern="1200" dirty="0">
                          <a:solidFill>
                            <a:schemeClr val="tx1"/>
                          </a:solidFill>
                          <a:latin typeface="Segoe UI" panose="020B0502040204020203" pitchFamily="34" charset="0"/>
                          <a:ea typeface="+mn-ea"/>
                          <a:cs typeface="Segoe UI" panose="020B0502040204020203" pitchFamily="34" charset="0"/>
                        </a:rPr>
                        <a:t> de </a:t>
                      </a:r>
                      <a:r>
                        <a:rPr lang="en-US" sz="900" b="0" kern="1200" dirty="0" err="1">
                          <a:solidFill>
                            <a:schemeClr val="tx1"/>
                          </a:solidFill>
                          <a:latin typeface="Segoe UI" panose="020B0502040204020203" pitchFamily="34" charset="0"/>
                          <a:ea typeface="+mn-ea"/>
                          <a:cs typeface="Segoe UI" panose="020B0502040204020203" pitchFamily="34" charset="0"/>
                        </a:rPr>
                        <a:t>ponta</a:t>
                      </a:r>
                      <a:r>
                        <a:rPr lang="en-US" sz="900" b="0" kern="1200" dirty="0">
                          <a:solidFill>
                            <a:schemeClr val="tx1"/>
                          </a:solidFill>
                          <a:latin typeface="Segoe UI" panose="020B0502040204020203" pitchFamily="34" charset="0"/>
                          <a:ea typeface="+mn-ea"/>
                          <a:cs typeface="Segoe UI" panose="020B0502040204020203" pitchFamily="34" charset="0"/>
                        </a:rPr>
                        <a:t> a </a:t>
                      </a:r>
                      <a:r>
                        <a:rPr lang="en-US" sz="900" b="0" kern="1200" dirty="0" err="1">
                          <a:solidFill>
                            <a:schemeClr val="tx1"/>
                          </a:solidFill>
                          <a:latin typeface="Segoe UI" panose="020B0502040204020203" pitchFamily="34" charset="0"/>
                          <a:ea typeface="+mn-ea"/>
                          <a:cs typeface="Segoe UI" panose="020B0502040204020203" pitchFamily="34" charset="0"/>
                        </a:rPr>
                        <a:t>ponta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sobre</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uma</a:t>
                      </a:r>
                      <a:r>
                        <a:rPr lang="en-US" sz="900" b="0" kern="1200" dirty="0">
                          <a:solidFill>
                            <a:schemeClr val="tx1"/>
                          </a:solidFill>
                          <a:latin typeface="Segoe UI" panose="020B0502040204020203" pitchFamily="34" charset="0"/>
                          <a:ea typeface="+mn-ea"/>
                          <a:cs typeface="Segoe UI" panose="020B0502040204020203" pitchFamily="34" charset="0"/>
                        </a:rPr>
                        <a:t> base de </a:t>
                      </a:r>
                      <a:r>
                        <a:rPr lang="en-US" sz="900" b="0" kern="1200" dirty="0" err="1">
                          <a:solidFill>
                            <a:schemeClr val="tx1"/>
                          </a:solidFill>
                          <a:latin typeface="Segoe UI" panose="020B0502040204020203" pitchFamily="34" charset="0"/>
                          <a:ea typeface="+mn-ea"/>
                          <a:cs typeface="Segoe UI" panose="020B0502040204020203" pitchFamily="34" charset="0"/>
                        </a:rPr>
                        <a:t>referência</a:t>
                      </a:r>
                      <a:r>
                        <a:rPr lang="en-US" sz="900" b="0" kern="1200" dirty="0">
                          <a:solidFill>
                            <a:schemeClr val="tx1"/>
                          </a:solidFill>
                          <a:latin typeface="Segoe UI" panose="020B0502040204020203" pitchFamily="34" charset="0"/>
                          <a:ea typeface="+mn-ea"/>
                          <a:cs typeface="Segoe UI" panose="020B0502040204020203" pitchFamily="34" charset="0"/>
                        </a:rPr>
                        <a:t> de 254 KLOC. F4 (</a:t>
                      </a:r>
                      <a:r>
                        <a:rPr lang="en-US" sz="900" b="0" kern="1200" dirty="0" err="1">
                          <a:solidFill>
                            <a:schemeClr val="tx1"/>
                          </a:solidFill>
                          <a:latin typeface="Segoe UI" panose="020B0502040204020203" pitchFamily="34" charset="0"/>
                          <a:ea typeface="+mn-ea"/>
                          <a:cs typeface="Segoe UI" panose="020B0502040204020203" pitchFamily="34" charset="0"/>
                        </a:rPr>
                        <a:t>geração</a:t>
                      </a:r>
                      <a:r>
                        <a:rPr lang="en-US" sz="900" b="0" kern="1200" dirty="0">
                          <a:solidFill>
                            <a:schemeClr val="tx1"/>
                          </a:solidFill>
                          <a:latin typeface="Segoe UI" panose="020B0502040204020203" pitchFamily="34" charset="0"/>
                          <a:ea typeface="+mn-ea"/>
                          <a:cs typeface="Segoe UI" panose="020B0502040204020203" pitchFamily="34" charset="0"/>
                        </a:rPr>
                        <a:t> de </a:t>
                      </a:r>
                      <a:r>
                        <a:rPr lang="en-US" sz="900" b="0" kern="1200" dirty="0" err="1">
                          <a:solidFill>
                            <a:schemeClr val="tx1"/>
                          </a:solidFill>
                          <a:latin typeface="Segoe UI" panose="020B0502040204020203" pitchFamily="34" charset="0"/>
                          <a:ea typeface="+mn-ea"/>
                          <a:cs typeface="Segoe UI" panose="020B0502040204020203" pitchFamily="34" charset="0"/>
                        </a:rPr>
                        <a:t>código</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está</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em</a:t>
                      </a:r>
                      <a:r>
                        <a:rPr lang="en-US" sz="900" b="0" kern="1200" dirty="0">
                          <a:solidFill>
                            <a:schemeClr val="tx1"/>
                          </a:solidFill>
                          <a:latin typeface="Segoe UI" panose="020B0502040204020203" pitchFamily="34" charset="0"/>
                          <a:ea typeface="+mn-ea"/>
                          <a:cs typeface="Segoe UI" panose="020B0502040204020203" pitchFamily="34" charset="0"/>
                        </a:rPr>
                        <a:t> Beta: </a:t>
                      </a:r>
                      <a:r>
                        <a:rPr lang="en-US" sz="900" b="0" kern="1200" dirty="0" err="1">
                          <a:solidFill>
                            <a:schemeClr val="tx1"/>
                          </a:solidFill>
                          <a:latin typeface="Segoe UI" panose="020B0502040204020203" pitchFamily="34" charset="0"/>
                          <a:ea typeface="+mn-ea"/>
                          <a:cs typeface="Segoe UI" panose="020B0502040204020203" pitchFamily="34" charset="0"/>
                        </a:rPr>
                        <a:t>na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execução</a:t>
                      </a:r>
                      <a:r>
                        <a:rPr lang="en-US" sz="900" b="0" kern="1200" dirty="0">
                          <a:solidFill>
                            <a:schemeClr val="tx1"/>
                          </a:solidFill>
                          <a:latin typeface="Segoe UI" panose="020B0502040204020203" pitchFamily="34" charset="0"/>
                          <a:ea typeface="+mn-ea"/>
                          <a:cs typeface="Segoe UI" panose="020B0502040204020203" pitchFamily="34" charset="0"/>
                        </a:rPr>
                        <a:t> de </a:t>
                      </a:r>
                      <a:r>
                        <a:rPr lang="en-US" sz="900" b="0" kern="1200" dirty="0" err="1">
                          <a:solidFill>
                            <a:schemeClr val="tx1"/>
                          </a:solidFill>
                          <a:latin typeface="Segoe UI" panose="020B0502040204020203" pitchFamily="34" charset="0"/>
                          <a:ea typeface="+mn-ea"/>
                          <a:cs typeface="Segoe UI" panose="020B0502040204020203" pitchFamily="34" charset="0"/>
                        </a:rPr>
                        <a:t>referência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todos</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os</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arquivos</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planejados</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foram</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escritos</a:t>
                      </a:r>
                      <a:r>
                        <a:rPr lang="en-US" sz="900" b="0" kern="1200" dirty="0">
                          <a:solidFill>
                            <a:schemeClr val="tx1"/>
                          </a:solidFill>
                          <a:latin typeface="Segoe UI" panose="020B0502040204020203" pitchFamily="34" charset="0"/>
                          <a:ea typeface="+mn-ea"/>
                          <a:cs typeface="Segoe UI" panose="020B0502040204020203" pitchFamily="34" charset="0"/>
                        </a:rPr>
                        <a:t>, mas o gate de build </a:t>
                      </a:r>
                      <a:r>
                        <a:rPr lang="en-US" sz="900" b="0" kern="1200" dirty="0" err="1">
                          <a:solidFill>
                            <a:schemeClr val="tx1"/>
                          </a:solidFill>
                          <a:latin typeface="Segoe UI" panose="020B0502040204020203" pitchFamily="34" charset="0"/>
                          <a:ea typeface="+mn-ea"/>
                          <a:cs typeface="Segoe UI" panose="020B0502040204020203" pitchFamily="34" charset="0"/>
                        </a:rPr>
                        <a:t>falhou</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na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primeira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passada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conflito</a:t>
                      </a:r>
                      <a:r>
                        <a:rPr lang="en-US" sz="900" b="0" kern="1200" dirty="0">
                          <a:solidFill>
                            <a:schemeClr val="tx1"/>
                          </a:solidFill>
                          <a:latin typeface="Segoe UI" panose="020B0502040204020203" pitchFamily="34" charset="0"/>
                          <a:ea typeface="+mn-ea"/>
                          <a:cs typeface="Segoe UI" panose="020B0502040204020203" pitchFamily="34" charset="0"/>
                        </a:rPr>
                        <a:t> de NuGet Central Package Management; Angular CLI </a:t>
                      </a:r>
                      <a:r>
                        <a:rPr lang="en-US" sz="900" b="0" kern="1200" dirty="0" err="1">
                          <a:solidFill>
                            <a:schemeClr val="tx1"/>
                          </a:solidFill>
                          <a:latin typeface="Segoe UI" panose="020B0502040204020203" pitchFamily="34" charset="0"/>
                          <a:ea typeface="+mn-ea"/>
                          <a:cs typeface="Segoe UI" panose="020B0502040204020203" pitchFamily="34" charset="0"/>
                        </a:rPr>
                        <a:t>ausente</a:t>
                      </a:r>
                      <a:r>
                        <a:rPr lang="en-US" sz="900" b="0" kern="1200" dirty="0">
                          <a:solidFill>
                            <a:schemeClr val="tx1"/>
                          </a:solidFill>
                          <a:latin typeface="Segoe UI" panose="020B0502040204020203" pitchFamily="34" charset="0"/>
                          <a:ea typeface="+mn-ea"/>
                          <a:cs typeface="Segoe UI" panose="020B0502040204020203" pitchFamily="34" charset="0"/>
                        </a:rPr>
                        <a:t> no host). As duas </a:t>
                      </a:r>
                      <a:r>
                        <a:rPr lang="en-US" sz="900" b="0" kern="1200" dirty="0" err="1">
                          <a:solidFill>
                            <a:schemeClr val="tx1"/>
                          </a:solidFill>
                          <a:latin typeface="Segoe UI" panose="020B0502040204020203" pitchFamily="34" charset="0"/>
                          <a:ea typeface="+mn-ea"/>
                          <a:cs typeface="Segoe UI" panose="020B0502040204020203" pitchFamily="34" charset="0"/>
                        </a:rPr>
                        <a:t>causas-raiz</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são</a:t>
                      </a:r>
                      <a:r>
                        <a:rPr lang="en-US" sz="900" b="0" kern="1200" dirty="0">
                          <a:solidFill>
                            <a:schemeClr val="tx1"/>
                          </a:solidFill>
                          <a:latin typeface="Segoe UI" panose="020B0502040204020203" pitchFamily="34" charset="0"/>
                          <a:ea typeface="+mn-ea"/>
                          <a:cs typeface="Segoe UI" panose="020B0502040204020203" pitchFamily="34" charset="0"/>
                        </a:rPr>
                        <a:t> de </a:t>
                      </a:r>
                      <a:r>
                        <a:rPr lang="en-US" sz="900" b="0" kern="1200" dirty="0" err="1">
                          <a:solidFill>
                            <a:schemeClr val="tx1"/>
                          </a:solidFill>
                          <a:latin typeface="Segoe UI" panose="020B0502040204020203" pitchFamily="34" charset="0"/>
                          <a:ea typeface="+mn-ea"/>
                          <a:cs typeface="Segoe UI" panose="020B0502040204020203" pitchFamily="34" charset="0"/>
                        </a:rPr>
                        <a:t>configuração</a:t>
                      </a:r>
                      <a:r>
                        <a:rPr lang="en-US" sz="900" b="0" kern="1200" dirty="0">
                          <a:solidFill>
                            <a:schemeClr val="tx1"/>
                          </a:solidFill>
                          <a:latin typeface="Segoe UI" panose="020B0502040204020203" pitchFamily="34" charset="0"/>
                          <a:ea typeface="+mn-ea"/>
                          <a:cs typeface="Segoe UI" panose="020B0502040204020203" pitchFamily="34" charset="0"/>
                        </a:rPr>
                        <a:t>/</a:t>
                      </a:r>
                      <a:r>
                        <a:rPr lang="en-US" sz="900" b="0" kern="1200" dirty="0" err="1">
                          <a:solidFill>
                            <a:schemeClr val="tx1"/>
                          </a:solidFill>
                          <a:latin typeface="Segoe UI" panose="020B0502040204020203" pitchFamily="34" charset="0"/>
                          <a:ea typeface="+mn-ea"/>
                          <a:cs typeface="Segoe UI" panose="020B0502040204020203" pitchFamily="34" charset="0"/>
                        </a:rPr>
                        <a:t>ambiente</a:t>
                      </a:r>
                      <a:r>
                        <a:rPr lang="en-US" sz="900" b="0" kern="1200" dirty="0">
                          <a:solidFill>
                            <a:schemeClr val="tx1"/>
                          </a:solidFill>
                          <a:latin typeface="Segoe UI" panose="020B0502040204020203" pitchFamily="34" charset="0"/>
                          <a:ea typeface="+mn-ea"/>
                          <a:cs typeface="Segoe UI" panose="020B0502040204020203" pitchFamily="34" charset="0"/>
                        </a:rPr>
                        <a:t> e </a:t>
                      </a:r>
                      <a:r>
                        <a:rPr lang="en-US" sz="900" b="0" kern="1200" dirty="0" err="1">
                          <a:solidFill>
                            <a:schemeClr val="tx1"/>
                          </a:solidFill>
                          <a:latin typeface="Segoe UI" panose="020B0502040204020203" pitchFamily="34" charset="0"/>
                          <a:ea typeface="+mn-ea"/>
                          <a:cs typeface="Segoe UI" panose="020B0502040204020203" pitchFamily="34" charset="0"/>
                        </a:rPr>
                        <a:t>são</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corrigidas</a:t>
                      </a:r>
                      <a:r>
                        <a:rPr lang="en-US" sz="900" b="0" kern="1200" dirty="0">
                          <a:solidFill>
                            <a:schemeClr val="tx1"/>
                          </a:solidFill>
                          <a:latin typeface="Segoe UI" panose="020B0502040204020203" pitchFamily="34" charset="0"/>
                          <a:ea typeface="+mn-ea"/>
                          <a:cs typeface="Segoe UI" panose="020B0502040204020203" pitchFamily="34" charset="0"/>
                        </a:rPr>
                        <a:t> antes do kickoff. </a:t>
                      </a:r>
                      <a:r>
                        <a:rPr lang="en-US" sz="900" b="0" kern="1200" dirty="0" err="1">
                          <a:solidFill>
                            <a:schemeClr val="tx1"/>
                          </a:solidFill>
                          <a:latin typeface="Segoe UI" panose="020B0502040204020203" pitchFamily="34" charset="0"/>
                          <a:ea typeface="+mn-ea"/>
                          <a:cs typeface="Segoe UI" panose="020B0502040204020203" pitchFamily="34" charset="0"/>
                        </a:rPr>
                        <a:t>Ainda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assim</a:t>
                      </a:r>
                      <a:r>
                        <a:rPr lang="en-US" sz="900" b="0" kern="1200" dirty="0">
                          <a:solidFill>
                            <a:schemeClr val="tx1"/>
                          </a:solidFill>
                          <a:latin typeface="Segoe UI" panose="020B0502040204020203" pitchFamily="34" charset="0"/>
                          <a:ea typeface="+mn-ea"/>
                          <a:cs typeface="Segoe UI" panose="020B0502040204020203" pitchFamily="34" charset="0"/>
                        </a:rPr>
                        <a:t>, F4 é </a:t>
                      </a:r>
                      <a:r>
                        <a:rPr lang="en-US" sz="900" b="0" kern="1200" dirty="0" err="1">
                          <a:solidFill>
                            <a:schemeClr val="tx1"/>
                          </a:solidFill>
                          <a:latin typeface="Segoe UI" panose="020B0502040204020203" pitchFamily="34" charset="0"/>
                          <a:ea typeface="+mn-ea"/>
                          <a:cs typeface="Segoe UI" panose="020B0502040204020203" pitchFamily="34" charset="0"/>
                        </a:rPr>
                        <a:t>escopada</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como</a:t>
                      </a:r>
                      <a:r>
                        <a:rPr lang="en-US" sz="900" b="0" kern="1200" dirty="0">
                          <a:solidFill>
                            <a:schemeClr val="tx1"/>
                          </a:solidFill>
                          <a:latin typeface="Segoe UI" panose="020B0502040204020203" pitchFamily="34" charset="0"/>
                          <a:ea typeface="+mn-ea"/>
                          <a:cs typeface="Segoe UI" panose="020B0502040204020203" pitchFamily="34" charset="0"/>
                        </a:rPr>
                        <a:t> ASSISTIDA, com um </a:t>
                      </a:r>
                      <a:r>
                        <a:rPr lang="en-US" sz="900" b="0" kern="1200" dirty="0" err="1">
                          <a:solidFill>
                            <a:schemeClr val="tx1"/>
                          </a:solidFill>
                          <a:latin typeface="Segoe UI" panose="020B0502040204020203" pitchFamily="34" charset="0"/>
                          <a:ea typeface="+mn-ea"/>
                          <a:cs typeface="Segoe UI" panose="020B0502040204020203" pitchFamily="34" charset="0"/>
                        </a:rPr>
                        <a:t>desenvolvedor</a:t>
                      </a:r>
                      <a:r>
                        <a:rPr lang="en-US" sz="900" b="0" kern="1200" dirty="0">
                          <a:solidFill>
                            <a:schemeClr val="tx1"/>
                          </a:solidFill>
                          <a:latin typeface="Segoe UI" panose="020B0502040204020203" pitchFamily="34" charset="0"/>
                          <a:ea typeface="+mn-ea"/>
                          <a:cs typeface="Segoe UI" panose="020B0502040204020203" pitchFamily="34" charset="0"/>
                        </a:rPr>
                        <a:t> </a:t>
                      </a:r>
                      <a:r>
                        <a:rPr lang="en-US" sz="900" b="0" kern="1200" dirty="0" err="1">
                          <a:solidFill>
                            <a:schemeClr val="tx1"/>
                          </a:solidFill>
                          <a:latin typeface="Segoe UI" panose="020B0502040204020203" pitchFamily="34" charset="0"/>
                          <a:ea typeface="+mn-ea"/>
                          <a:cs typeface="Segoe UI" panose="020B0502040204020203" pitchFamily="34" charset="0"/>
                        </a:rPr>
                        <a:t>sênior</a:t>
                      </a:r>
                      <a:r>
                        <a:rPr lang="en-US" sz="900" b="0" kern="1200" dirty="0">
                          <a:solidFill>
                            <a:schemeClr val="tx1"/>
                          </a:solidFill>
                          <a:latin typeface="Segoe UI" panose="020B0502040204020203" pitchFamily="34" charset="0"/>
                          <a:ea typeface="+mn-ea"/>
                          <a:cs typeface="Segoe UI" panose="020B0502040204020203" pitchFamily="34" charset="0"/>
                        </a:rPr>
                        <a:t> no gate de build.</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sp>
        <p:nvSpPr>
          <p:cNvPr id="3" name="Title 1">
            <a:extLst>
              <a:ext uri="{FF2B5EF4-FFF2-40B4-BE49-F238E27FC236}">
                <a16:creationId xmlns:a16="http://schemas.microsoft.com/office/drawing/2014/main" id="{A14271E8-CB63-E97B-9341-AFDC2F14657E}"/>
              </a:ext>
            </a:extLst>
          </p:cNvPr>
          <p:cNvSpPr txBox="1">
            <a:spLocks/>
          </p:cNvSpPr>
          <p:nvPr/>
        </p:nvSpPr>
        <p:spPr>
          <a:xfrm>
            <a:off x="0" y="260987"/>
            <a:ext cx="10271125" cy="6326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a:solidFill>
                  <a:schemeClr val="tx1"/>
                </a:solidFill>
                <a:latin typeface="Segoe UI Semibold" panose="020B0502040204020203" pitchFamily="34" charset="0"/>
                <a:ea typeface="Segoe UI Semibold" panose="020B0502040204020203" pitchFamily="34" charset="0"/>
                <a:cs typeface="Segoe UI Semibold" panose="020B0502040204020203" pitchFamily="34" charset="0"/>
              </a:defRPr>
            </a:lvl1pPr>
          </a:lstStyle>
          <a:p>
            <a:r>
              <a:rPr lang="en-ZA">
                <a:latin typeface="Segoe UI Light" panose="020B0502040204020203" pitchFamily="34" charset="0"/>
                <a:cs typeface="Segoe UI Light" panose="020B0502040204020203" pitchFamily="34" charset="0"/>
              </a:rPr>
              <a:t>AVA Fabric Agents | Escopo da Solução</a:t>
            </a:r>
            <a:endParaRPr lang="en-US">
              <a:latin typeface="Segoe UI Light" panose="020B0502040204020203" pitchFamily="34" charset="0"/>
              <a:ea typeface="+mn-ea"/>
              <a:cs typeface="Segoe UI Light" panose="020B0502040204020203" pitchFamily="34" charset="0"/>
            </a:endParaRPr>
          </a:p>
        </p:txBody>
      </p:sp>
    </p:spTree>
    <p:extLst>
      <p:ext uri="{BB962C8B-B14F-4D97-AF65-F5344CB8AC3E}">
        <p14:creationId xmlns:p14="http://schemas.microsoft.com/office/powerpoint/2010/main" val="4828339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18092-7E79-4CE9-9F5D-E85EE6832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EFE76-5341-1E5A-4B01-3B07555F03A7}"/>
              </a:ext>
            </a:extLst>
          </p:cNvPr>
          <p:cNvSpPr>
            <a:spLocks noGrp="1"/>
          </p:cNvSpPr>
          <p:nvPr>
            <p:ph type="title" idx="4294967295"/>
          </p:nvPr>
        </p:nvSpPr>
        <p:spPr>
          <a:xfrm>
            <a:off x="594986" y="321501"/>
            <a:ext cx="11201400" cy="585259"/>
          </a:xfrm>
          <a:prstGeom prst="rect">
            <a:avLst/>
          </a:prstGeom>
        </p:spPr>
        <p:txBody>
          <a:bodyPr/>
          <a:lstStyle/>
          <a:p>
            <a:r>
              <a:rPr lang="en-ZA" sz="2800">
                <a:latin typeface="Segoe UI Light"/>
                <a:ea typeface="+mn-ea"/>
                <a:cs typeface="Segoe UI Light"/>
              </a:rPr>
              <a:t>PoC AVA Fabric | Racional de Custo e Esforço (Modelo de Entrega Factory)</a:t>
            </a:r>
            <a:endParaRPr lang="en-US" sz="2800">
              <a:latin typeface="Segoe UI Light"/>
              <a:ea typeface="+mn-ea"/>
              <a:cs typeface="Segoe UI Light"/>
            </a:endParaRPr>
          </a:p>
        </p:txBody>
      </p:sp>
      <p:graphicFrame>
        <p:nvGraphicFramePr>
          <p:cNvPr id="5" name="Table 4">
            <a:extLst>
              <a:ext uri="{FF2B5EF4-FFF2-40B4-BE49-F238E27FC236}">
                <a16:creationId xmlns:a16="http://schemas.microsoft.com/office/drawing/2014/main" id="{4A62956F-0517-D1D0-9A97-947F5C19340C}"/>
              </a:ext>
            </a:extLst>
          </p:cNvPr>
          <p:cNvGraphicFramePr>
            <a:graphicFrameLocks noGrp="1"/>
          </p:cNvGraphicFramePr>
          <p:nvPr/>
        </p:nvGraphicFramePr>
        <p:xfrm>
          <a:off x="496186" y="845656"/>
          <a:ext cx="11576049" cy="5755831"/>
        </p:xfrm>
        <a:graphic>
          <a:graphicData uri="http://schemas.openxmlformats.org/drawingml/2006/table">
            <a:tbl>
              <a:tblPr firstRow="1" bandRow="1">
                <a:tableStyleId>{5C22544A-7EE6-4342-B048-85BDC9FD1C3A}</a:tableStyleId>
              </a:tblPr>
              <a:tblGrid>
                <a:gridCol w="5619750">
                  <a:extLst>
                    <a:ext uri="{9D8B030D-6E8A-4147-A177-3AD203B41FA5}">
                      <a16:colId xmlns:a16="http://schemas.microsoft.com/office/drawing/2014/main" val="100514645"/>
                    </a:ext>
                  </a:extLst>
                </a:gridCol>
                <a:gridCol w="5956299">
                  <a:extLst>
                    <a:ext uri="{9D8B030D-6E8A-4147-A177-3AD203B41FA5}">
                      <a16:colId xmlns:a16="http://schemas.microsoft.com/office/drawing/2014/main" val="1662750047"/>
                    </a:ext>
                  </a:extLst>
                </a:gridCol>
              </a:tblGrid>
              <a:tr h="566928">
                <a:tc gridSpan="2">
                  <a:txBody>
                    <a:bodyPr/>
                    <a:lstStyle/>
                    <a:p>
                      <a:pPr marL="0" marR="0" indent="0" algn="ctr" rtl="0" eaLnBrk="0" fontAlgn="base" latinLnBrk="0" hangingPunct="0">
                        <a:lnSpc>
                          <a:spcPct val="100000"/>
                        </a:lnSpc>
                        <a:spcBef>
                          <a:spcPts val="300"/>
                        </a:spcBef>
                        <a:spcAft>
                          <a:spcPts val="0"/>
                        </a:spcAft>
                        <a:buClr>
                          <a:schemeClr val="tx1"/>
                        </a:buClr>
                        <a:buSzTx/>
                        <a:buFontTx/>
                        <a:buNone/>
                      </a:pPr>
                      <a:r>
                        <a:rPr lang="en-US" sz="1100" b="1" i="0" u="none" strike="noStrike" kern="1200" cap="none" normalizeH="0" baseline="0">
                          <a:ln>
                            <a:noFill/>
                          </a:ln>
                          <a:solidFill>
                            <a:schemeClr val="bg1"/>
                          </a:solidFill>
                          <a:effectLst/>
                          <a:latin typeface="Graphik"/>
                          <a:ea typeface="+mn-ea"/>
                          <a:cs typeface="+mn-cs"/>
                        </a:rPr>
                        <a:t>Racional de precificação da PoC (4 semanas) - preço total = Pessoas + Infraestrutura + Consumo do modelo de IA. Todos os drivers volumétricos abaixo são medidos em uma execução real e completa da esteira (254 KLOC / 394 tasks / 232 artefatos), não estimados por analogia.</a:t>
                      </a:r>
                      <a:br>
                        <a:rPr lang="en-US"/>
                      </a:br>
                      <a:endParaRPr kumimoji="0" lang="en-US" sz="1200" b="1" i="0" u="none" strike="noStrike" kern="1200" cap="none" normalizeH="0" baseline="0">
                        <a:ln>
                          <a:noFill/>
                        </a:ln>
                        <a:solidFill>
                          <a:schemeClr val="bg1"/>
                        </a:solidFill>
                        <a:effectLst/>
                        <a:latin typeface="Graphik"/>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1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3246120">
                <a:tc>
                  <a:txBody>
                    <a:bodyPr/>
                    <a:lstStyle/>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Composição do custo - o que forma o preço</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1) Pessoas - o componente dominante</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800 horas faturáveis distribuídas em 11 papéis ao longo de 4 semanas (ver Alocação BEH), precificadas como SOMA(horas x rate card por nível); as tarifas são aplicadas pelo time comercial.</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640 h em papéis nomeados (Client DO ST, bill codes 64/58/53/38) + 160 h no pod da AVA Fabric Factory (Shared Service - Onshore, tarifa blended).</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2) Infraestrutura - Azure, 4 semanas, repassada a custo</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VM do runner da esteira (D8s v5, ~730 h): US$ 280   |   Ambiente DEV do BC piloto: US$ 65</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Serviços compartilhados (ACR + Log Analytics): US$ 45   |   Storage de artefatos e egress: US$ 10</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Total de infraestrutura da PoC: aprox. US$ 400. Referência do programa completo: US$ 1.410 / mês (DEV + STG + PROD + compartilhados).</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3) Consumo do modelo de IA - medido, não estimado</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US$ 1,58 em média por task de codegen (239.619 tokens de entrada / 45-69 mil de saída, a US$ 3,00 por milhão de entrada e US$ 15,00 por milhão de saída).</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F0-F3S (~45 execuções de agente): US$ 200-400   |   F4 no BC piloto (~40 tasks): US$ 65   |   buffer de reexecução de 30%.</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Total de IA da PoC: aprox. US$ 600. Migração completa das 394 tasks: aprox. US$ 800-1.100.</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Fórmula do preço</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Preço = SOMA(horas x rate card) + US$ 400 de infraestrutura + US$ 600 de IA + 15% de contingência. Infraestrutura e IA somam menos de 1% do preço da PoC - o preço é dirigido por pessoas, não por tokens.</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0" marR="0" indent="0" algn="l">
                        <a:lnSpc>
                          <a:spcPct val="100000"/>
                        </a:lnSpc>
                        <a:spcBef>
                          <a:spcPts val="300"/>
                        </a:spcBef>
                        <a:spcAft>
                          <a:spcPts val="0"/>
                        </a:spcAft>
                        <a:buNone/>
                      </a:pPr>
                      <a:r>
                        <a:rPr lang="en-US" sz="900" b="1" i="0" u="none" strike="noStrike" kern="1200" noProof="0">
                          <a:solidFill>
                            <a:schemeClr val="tx1"/>
                          </a:solidFill>
                        </a:rPr>
                        <a:t>Drivers de cálculo e evidência medida</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Tamanho da base legada (KLOC / arquivos) -&gt; F0-F1, linear. Referência: 254.001 LOC, 1.731 arquivos, 1.998 classes, 15.785 procedimentos.</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Complexidade de domínio (nº de bounded contexts) -&gt; F2-F3S. Referência: 10 BCs, 2 god services, 436 regras de negócio.</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Volume de backlog (nº de tasks / pontos de função) -&gt; F4, linear por task. Referência: 394 tasks, 2.991 arestas de dependência, 892 FP, 1.606 SP.</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Escopo de segurança (flags de segurança, SAST/DAST, pentest) -&gt; F1-segurança e F7.</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Stacks-alvo (1 backend + 1 frontend vs. múltiplas) -&gt; complexidade de F4.</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Nuvem e ambientes (Azure / AWS / GCP x dev / stg / prd) -&gt; F6 e custo de infraestrutura.</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Modo de execução (tenant Avanade vs. VPC do banco / on-premise) -&gt; esforço de setup e compliance.</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1" i="0" u="none" strike="noStrike" kern="1200" noProof="0">
                          <a:solidFill>
                            <a:schemeClr val="tx1"/>
                          </a:solidFill>
                        </a:rPr>
                        <a:t>Throughput medido - base do prazo de 4 semanas</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F0-F1 ~38 min | F2 ~29 min | F3 ~8 min | F3S ~60 min; F0-&gt;F3S completo em ~2 h 20 min de máquina.</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O tempo humano é gasto em validação e decisão de gate, não em descoberta - é daí que vem o prazo de 4 semanas.</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1" i="0" u="none" strike="noStrike" kern="1200" noProof="0">
                          <a:solidFill>
                            <a:schemeClr val="tx1"/>
                          </a:solidFill>
                        </a:rPr>
                        <a:t>Âncora de valor</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A mesma esteira produziu uma estimativa formal de 3.323 h / 892 FP para a implementação TO-BE completa. A PoC (800 h) compra o plano com nível de decisão desse programa mais um bounded context piloto funcional; a discovery tradicional de uma aplicação de 254 KLOC consome 6-10 semanas de squad.</a:t>
                      </a:r>
                      <a:endParaRPr lang="en-US" sz="1200" b="1" i="0" u="none" strike="noStrike" kern="1200" noProof="0">
                        <a:solidFill>
                          <a:schemeClr val="tx1"/>
                        </a:solidFill>
                        <a:latin typeface="+mn-lt"/>
                        <a:ea typeface="+mn-ea"/>
                        <a:cs typeface="Segoe UI"/>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r h="1591056">
                <a:tc gridSpan="2">
                  <a:txBody>
                    <a:bodyPr/>
                    <a:lstStyle/>
                    <a:p>
                      <a:pPr algn="l">
                        <a:lnSpc>
                          <a:spcPct val="150000"/>
                        </a:lnSpc>
                        <a:spcBef>
                          <a:spcPts val="200"/>
                        </a:spcBef>
                        <a:spcAft>
                          <a:spcPts val="0"/>
                        </a:spcAft>
                        <a:buNone/>
                      </a:pPr>
                      <a:r>
                        <a:rPr lang="en-US" sz="800" b="1" i="0" u="none" strike="noStrike" kern="1200" noProof="0" dirty="0">
                          <a:solidFill>
                            <a:schemeClr val="tx1"/>
                          </a:solidFill>
                        </a:rPr>
                        <a:t>Governança, responsabilidade e condições comerciais</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Preço fechado, controlado por gates: 4 gates de qualidade (Segurança F1, Readiness F2 &gt;= 85%, SpecKit Exit F3S 100%, Apresentação Executiva). Os gates são bloqueantes, não consultivos - a esteira aborta em vez de produzir artefato inválido. Sem gate, sem marco de faturamento.</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Ponto único de responsabilidade: o Arquiteto de Solução AVA Fabric responde por plano, governança e aceites; o pod da factory executa com runbooks padronizados, contratos de artefato por fase e evidência por task (trace_id, checksums, exit codes, timestamps). O consumo de IA é medido e imaterial (&lt;1% do preço): o faturamento segue o valor entregue, não o uso do modelo.</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Premissas: o modelo de IA executa em ambiente aprovado pelo banco; o código-fonte do cliente nunca é usado para treinamento de modelo; a propriedade intelectual dos artefatos gerados é do ABC Bank; a versão da plataforma fica congelada; o banco concede acesso de leitura ao repositório legado e disponibiliza 1 arquiteto + 1 tech lead + 1 analista de negócio em tempo parcial.</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A contingência de 15% cobre a reexecução de uma fase inteira e a remediação do gate de build no bounded context piloto - o risco Beta conhecido de F4. A escala após a PoC é contratada a preço fechado por onda, usando o modelo de ondas e a calculadora de esforço produzidos pela própria esteira.</a:t>
                      </a:r>
                      <a:endParaRPr lang="en-US" sz="1050" b="1" i="0" u="none" strike="noStrike" kern="1200" noProof="0" dirty="0">
                        <a:solidFill>
                          <a:srgbClr val="333333"/>
                        </a:solidFill>
                      </a:endParaRPr>
                    </a:p>
                  </a:txBody>
                  <a:tcPr>
                    <a:lnL w="19050">
                      <a:solidFill>
                        <a:schemeClr val="tx1">
                          <a:lumMod val="20000"/>
                          <a:lumOff val="80000"/>
                        </a:schemeClr>
                      </a:solidFill>
                    </a:lnL>
                    <a:lnR w="19050">
                      <a:solidFill>
                        <a:schemeClr val="tx1">
                          <a:lumMod val="20000"/>
                          <a:lumOff val="80000"/>
                        </a:schemeClr>
                      </a:solidFill>
                    </a:lnR>
                    <a:lnT w="19050">
                      <a:solidFill>
                        <a:schemeClr val="tx1">
                          <a:lumMod val="20000"/>
                          <a:lumOff val="80000"/>
                        </a:schemeClr>
                      </a:solidFill>
                    </a:lnT>
                    <a:lnB w="19050">
                      <a:solidFill>
                        <a:schemeClr val="tx1">
                          <a:lumMod val="20000"/>
                          <a:lumOff val="80000"/>
                        </a:schemeClr>
                      </a:solidFill>
                    </a:lnB>
                    <a:noFill/>
                  </a:tcPr>
                </a:tc>
                <a:tc hMerge="1">
                  <a:txBody>
                    <a:bodyPr/>
                    <a:lstStyle/>
                    <a:p>
                      <a:endParaRPr lang="en-US"/>
                    </a:p>
                  </a:txBody>
                  <a:tcPr>
                    <a:lnL w="19050">
                      <a:solidFill>
                        <a:schemeClr val="tx1">
                          <a:lumMod val="20000"/>
                          <a:lumOff val="80000"/>
                        </a:schemeClr>
                      </a:solidFill>
                    </a:lnL>
                    <a:lnR w="19050">
                      <a:solidFill>
                        <a:schemeClr val="tx1">
                          <a:lumMod val="20000"/>
                          <a:lumOff val="80000"/>
                        </a:schemeClr>
                      </a:solidFill>
                    </a:lnR>
                    <a:lnT w="19050">
                      <a:solidFill>
                        <a:schemeClr val="tx1">
                          <a:lumMod val="20000"/>
                          <a:lumOff val="80000"/>
                        </a:schemeClr>
                      </a:solidFill>
                    </a:lnT>
                    <a:lnB w="19050">
                      <a:solidFill>
                        <a:schemeClr val="tx1">
                          <a:lumMod val="20000"/>
                          <a:lumOff val="80000"/>
                        </a:schemeClr>
                      </a:solidFill>
                    </a:lnB>
                    <a:noFill/>
                  </a:tcPr>
                </a:tc>
                <a:extLst>
                  <a:ext uri="{0D108BD9-81ED-4DB2-BD59-A6C34878D82A}">
                    <a16:rowId xmlns:a16="http://schemas.microsoft.com/office/drawing/2014/main" val="2520157465"/>
                  </a:ext>
                </a:extLst>
              </a:tr>
            </a:tbl>
          </a:graphicData>
        </a:graphic>
      </p:graphicFrame>
    </p:spTree>
    <p:extLst>
      <p:ext uri="{BB962C8B-B14F-4D97-AF65-F5344CB8AC3E}">
        <p14:creationId xmlns:p14="http://schemas.microsoft.com/office/powerpoint/2010/main" val="3002821783"/>
      </p:ext>
    </p:extLst>
  </p:cSld>
  <p:clrMapOvr>
    <a:masterClrMapping/>
  </p:clrMapOvr>
  <p:transition>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1 · DRIVERS</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Drivers de Precificação</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O que faz o preço variar de um cliente para outro — cada driver tem um endereço exato na calculadora.</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Rectangle 7"/>
          <p:cNvSpPr/>
          <p:nvPr/>
        </p:nvSpPr>
        <p:spPr>
          <a:xfrm>
            <a:off x="412394" y="1025042"/>
            <a:ext cx="2750515" cy="45720"/>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9" name="TextBox 8"/>
          <p:cNvSpPr txBox="1"/>
          <p:nvPr/>
        </p:nvSpPr>
        <p:spPr>
          <a:xfrm>
            <a:off x="557784" y="1097280"/>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Tamanho da base legada</a:t>
            </a:r>
          </a:p>
          <a:p>
            <a:pPr algn="l">
              <a:lnSpc>
                <a:spcPct val="92000"/>
              </a:lnSpc>
              <a:spcBef>
                <a:spcPts val="200"/>
              </a:spcBef>
              <a:spcAft>
                <a:spcPts val="0"/>
              </a:spcAft>
            </a:pPr>
            <a:r>
              <a:rPr sz="850" b="0" i="0">
                <a:solidFill>
                  <a:srgbClr val="767676"/>
                </a:solidFill>
                <a:latin typeface="Segoe UI"/>
              </a:rPr>
              <a:t>KLOC · nº de arquivos</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Custo de F0–F1 — cresce linearmente</a:t>
            </a:r>
          </a:p>
          <a:p>
            <a:pPr algn="l">
              <a:lnSpc>
                <a:spcPct val="92000"/>
              </a:lnSpc>
              <a:spcBef>
                <a:spcPts val="400"/>
              </a:spcBef>
              <a:spcAft>
                <a:spcPts val="0"/>
              </a:spcAft>
            </a:pPr>
            <a:r>
              <a:rPr sz="850" b="1" i="0">
                <a:solidFill>
                  <a:srgbClr val="FF5800"/>
                </a:solidFill>
                <a:latin typeface="Segoe UI"/>
              </a:rPr>
              <a:t>▸ </a:t>
            </a:r>
            <a:r>
              <a:rPr sz="850" b="1" i="0">
                <a:solidFill>
                  <a:srgbClr val="FF5800"/>
                </a:solidFill>
                <a:latin typeface="Segoe UI"/>
              </a:rPr>
              <a:t>Volumetria · LOC e módulos</a:t>
            </a:r>
          </a:p>
        </p:txBody>
      </p:sp>
      <p:sp>
        <p:nvSpPr>
          <p:cNvPr id="10" name="Rounded Rectangle 9"/>
          <p:cNvSpPr/>
          <p:nvPr/>
        </p:nvSpPr>
        <p:spPr>
          <a:xfrm>
            <a:off x="3287268" y="1024128"/>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1" name="Rectangle 10"/>
          <p:cNvSpPr/>
          <p:nvPr/>
        </p:nvSpPr>
        <p:spPr>
          <a:xfrm>
            <a:off x="3288182" y="1025042"/>
            <a:ext cx="2750515" cy="45720"/>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2" name="TextBox 11"/>
          <p:cNvSpPr txBox="1"/>
          <p:nvPr/>
        </p:nvSpPr>
        <p:spPr>
          <a:xfrm>
            <a:off x="3433572" y="1097280"/>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Complexidade de domínio</a:t>
            </a:r>
          </a:p>
          <a:p>
            <a:pPr algn="l">
              <a:lnSpc>
                <a:spcPct val="92000"/>
              </a:lnSpc>
              <a:spcBef>
                <a:spcPts val="200"/>
              </a:spcBef>
              <a:spcAft>
                <a:spcPts val="0"/>
              </a:spcAft>
            </a:pPr>
            <a:r>
              <a:rPr sz="850" b="0" i="0">
                <a:solidFill>
                  <a:srgbClr val="767676"/>
                </a:solidFill>
                <a:latin typeface="Segoe UI"/>
              </a:rPr>
              <a:t>nº de Bounded Contexts</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Custo de F2–F3S</a:t>
            </a:r>
          </a:p>
          <a:p>
            <a:pPr algn="l">
              <a:lnSpc>
                <a:spcPct val="92000"/>
              </a:lnSpc>
              <a:spcBef>
                <a:spcPts val="400"/>
              </a:spcBef>
              <a:spcAft>
                <a:spcPts val="0"/>
              </a:spcAft>
            </a:pPr>
            <a:r>
              <a:rPr sz="850" b="1" i="0">
                <a:solidFill>
                  <a:srgbClr val="008C95"/>
                </a:solidFill>
                <a:latin typeface="Segoe UI"/>
              </a:rPr>
              <a:t>▸ </a:t>
            </a:r>
            <a:r>
              <a:rPr sz="850" b="1" i="0">
                <a:solidFill>
                  <a:srgbClr val="008C95"/>
                </a:solidFill>
                <a:latin typeface="Segoe UI"/>
              </a:rPr>
              <a:t>Volumetria · % do backlog no BC piloto</a:t>
            </a:r>
          </a:p>
        </p:txBody>
      </p:sp>
      <p:sp>
        <p:nvSpPr>
          <p:cNvPr id="13" name="Rounded Rectangle 12"/>
          <p:cNvSpPr/>
          <p:nvPr/>
        </p:nvSpPr>
        <p:spPr>
          <a:xfrm>
            <a:off x="6163055" y="1024128"/>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4" name="Rectangle 13"/>
          <p:cNvSpPr/>
          <p:nvPr/>
        </p:nvSpPr>
        <p:spPr>
          <a:xfrm>
            <a:off x="6163970" y="1025042"/>
            <a:ext cx="2750515" cy="45720"/>
          </a:xfrm>
          <a:prstGeom prst="rect">
            <a:avLst/>
          </a:prstGeom>
          <a:solidFill>
            <a:srgbClr val="CE056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5" name="TextBox 14"/>
          <p:cNvSpPr txBox="1"/>
          <p:nvPr/>
        </p:nvSpPr>
        <p:spPr>
          <a:xfrm>
            <a:off x="6309359" y="1097280"/>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Volume de backlog</a:t>
            </a:r>
          </a:p>
          <a:p>
            <a:pPr algn="l">
              <a:lnSpc>
                <a:spcPct val="92000"/>
              </a:lnSpc>
              <a:spcBef>
                <a:spcPts val="200"/>
              </a:spcBef>
              <a:spcAft>
                <a:spcPts val="0"/>
              </a:spcAft>
            </a:pPr>
            <a:r>
              <a:rPr sz="850" b="0" i="0">
                <a:solidFill>
                  <a:srgbClr val="767676"/>
                </a:solidFill>
                <a:latin typeface="Segoe UI"/>
              </a:rPr>
              <a:t>nº de tasks · function points</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Custo de F4 — linear por task</a:t>
            </a:r>
          </a:p>
          <a:p>
            <a:pPr algn="l">
              <a:lnSpc>
                <a:spcPct val="92000"/>
              </a:lnSpc>
              <a:spcBef>
                <a:spcPts val="400"/>
              </a:spcBef>
              <a:spcAft>
                <a:spcPts val="0"/>
              </a:spcAft>
            </a:pPr>
            <a:r>
              <a:rPr sz="850" b="1" i="0">
                <a:solidFill>
                  <a:srgbClr val="CE056A"/>
                </a:solidFill>
                <a:latin typeface="Segoe UI"/>
              </a:rPr>
              <a:t>▸ </a:t>
            </a:r>
            <a:r>
              <a:rPr sz="850" b="1" i="0">
                <a:solidFill>
                  <a:srgbClr val="CE056A"/>
                </a:solidFill>
                <a:latin typeface="Segoe UI"/>
              </a:rPr>
              <a:t>Volumetria → aba IA, fase F4</a:t>
            </a:r>
          </a:p>
        </p:txBody>
      </p:sp>
      <p:sp>
        <p:nvSpPr>
          <p:cNvPr id="16" name="Rounded Rectangle 15"/>
          <p:cNvSpPr/>
          <p:nvPr/>
        </p:nvSpPr>
        <p:spPr>
          <a:xfrm>
            <a:off x="9038843" y="1024128"/>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7" name="Rectangle 16"/>
          <p:cNvSpPr/>
          <p:nvPr/>
        </p:nvSpPr>
        <p:spPr>
          <a:xfrm>
            <a:off x="9039758" y="1025042"/>
            <a:ext cx="2750515" cy="45720"/>
          </a:xfrm>
          <a:prstGeom prst="rect">
            <a:avLst/>
          </a:prstGeom>
          <a:solidFill>
            <a:srgbClr val="C8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8" name="TextBox 17"/>
          <p:cNvSpPr txBox="1"/>
          <p:nvPr/>
        </p:nvSpPr>
        <p:spPr>
          <a:xfrm>
            <a:off x="9185147" y="1097280"/>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Escopo de segurança</a:t>
            </a:r>
          </a:p>
          <a:p>
            <a:pPr algn="l">
              <a:lnSpc>
                <a:spcPct val="92000"/>
              </a:lnSpc>
              <a:spcBef>
                <a:spcPts val="200"/>
              </a:spcBef>
              <a:spcAft>
                <a:spcPts val="0"/>
              </a:spcAft>
            </a:pPr>
            <a:r>
              <a:rPr sz="850" b="0" i="0">
                <a:solidFill>
                  <a:srgbClr val="767676"/>
                </a:solidFill>
                <a:latin typeface="Segoe UI"/>
              </a:rPr>
              <a:t>SAST · DAST · pentest · gates</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Custo de F1-sec e F7</a:t>
            </a:r>
          </a:p>
          <a:p>
            <a:pPr algn="l">
              <a:lnSpc>
                <a:spcPct val="92000"/>
              </a:lnSpc>
              <a:spcBef>
                <a:spcPts val="400"/>
              </a:spcBef>
              <a:spcAft>
                <a:spcPts val="0"/>
              </a:spcAft>
            </a:pPr>
            <a:r>
              <a:rPr sz="850" b="1" i="0">
                <a:solidFill>
                  <a:srgbClr val="C80000"/>
                </a:solidFill>
                <a:latin typeface="Segoe UI"/>
              </a:rPr>
              <a:t>▸ </a:t>
            </a:r>
            <a:r>
              <a:rPr sz="850" b="1" i="0">
                <a:solidFill>
                  <a:srgbClr val="C80000"/>
                </a:solidFill>
                <a:latin typeface="Segoe UI"/>
              </a:rPr>
              <a:t>Equipe · Security &amp; compliance</a:t>
            </a:r>
          </a:p>
        </p:txBody>
      </p:sp>
      <p:sp>
        <p:nvSpPr>
          <p:cNvPr id="19" name="Rounded Rectangle 18"/>
          <p:cNvSpPr/>
          <p:nvPr/>
        </p:nvSpPr>
        <p:spPr>
          <a:xfrm>
            <a:off x="411480" y="2468880"/>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0" name="Rectangle 19"/>
          <p:cNvSpPr/>
          <p:nvPr/>
        </p:nvSpPr>
        <p:spPr>
          <a:xfrm>
            <a:off x="412394" y="2469794"/>
            <a:ext cx="2750515" cy="45720"/>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1" name="TextBox 20"/>
          <p:cNvSpPr txBox="1"/>
          <p:nvPr/>
        </p:nvSpPr>
        <p:spPr>
          <a:xfrm>
            <a:off x="557784" y="2542032"/>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Stacks-alvo</a:t>
            </a:r>
          </a:p>
          <a:p>
            <a:pPr algn="l">
              <a:lnSpc>
                <a:spcPct val="92000"/>
              </a:lnSpc>
              <a:spcBef>
                <a:spcPts val="200"/>
              </a:spcBef>
              <a:spcAft>
                <a:spcPts val="0"/>
              </a:spcAft>
            </a:pPr>
            <a:r>
              <a:rPr sz="850" b="0" i="0">
                <a:solidFill>
                  <a:srgbClr val="767676"/>
                </a:solidFill>
                <a:latin typeface="Segoe UI"/>
              </a:rPr>
              <a:t>1 backend + 1 frontend vs. múltiplas</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Complexidade de F4</a:t>
            </a:r>
          </a:p>
          <a:p>
            <a:pPr algn="l">
              <a:lnSpc>
                <a:spcPct val="92000"/>
              </a:lnSpc>
              <a:spcBef>
                <a:spcPts val="400"/>
              </a:spcBef>
              <a:spcAft>
                <a:spcPts val="0"/>
              </a:spcAft>
            </a:pPr>
            <a:r>
              <a:rPr sz="850" b="1" i="0">
                <a:solidFill>
                  <a:srgbClr val="2F4A6B"/>
                </a:solidFill>
                <a:latin typeface="Segoe UI"/>
              </a:rPr>
              <a:t>▸ </a:t>
            </a:r>
            <a:r>
              <a:rPr sz="850" b="1" i="0">
                <a:solidFill>
                  <a:srgbClr val="2F4A6B"/>
                </a:solidFill>
                <a:latin typeface="Segoe UI"/>
              </a:rPr>
              <a:t>Equipe · devs de codegen + Migration Type</a:t>
            </a:r>
          </a:p>
        </p:txBody>
      </p:sp>
      <p:sp>
        <p:nvSpPr>
          <p:cNvPr id="22" name="Rounded Rectangle 21"/>
          <p:cNvSpPr/>
          <p:nvPr/>
        </p:nvSpPr>
        <p:spPr>
          <a:xfrm>
            <a:off x="3287268" y="2468880"/>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3" name="Rectangle 22"/>
          <p:cNvSpPr/>
          <p:nvPr/>
        </p:nvSpPr>
        <p:spPr>
          <a:xfrm>
            <a:off x="3288182" y="2469794"/>
            <a:ext cx="2750515" cy="45720"/>
          </a:xfrm>
          <a:prstGeom prst="rect">
            <a:avLst/>
          </a:prstGeom>
          <a:solidFill>
            <a:srgbClr val="4B91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4" name="TextBox 23"/>
          <p:cNvSpPr txBox="1"/>
          <p:nvPr/>
        </p:nvSpPr>
        <p:spPr>
          <a:xfrm>
            <a:off x="3433572" y="2542032"/>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Nuvem e ambientes</a:t>
            </a:r>
          </a:p>
          <a:p>
            <a:pPr algn="l">
              <a:lnSpc>
                <a:spcPct val="92000"/>
              </a:lnSpc>
              <a:spcBef>
                <a:spcPts val="200"/>
              </a:spcBef>
              <a:spcAft>
                <a:spcPts val="0"/>
              </a:spcAft>
            </a:pPr>
            <a:r>
              <a:rPr sz="850" b="0" i="0">
                <a:solidFill>
                  <a:srgbClr val="767676"/>
                </a:solidFill>
                <a:latin typeface="Segoe UI"/>
              </a:rPr>
              <a:t>Azure/AWS/GCP × dev · hml · prd</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Custo de F6</a:t>
            </a:r>
          </a:p>
          <a:p>
            <a:pPr algn="l">
              <a:lnSpc>
                <a:spcPct val="92000"/>
              </a:lnSpc>
              <a:spcBef>
                <a:spcPts val="400"/>
              </a:spcBef>
              <a:spcAft>
                <a:spcPts val="0"/>
              </a:spcAft>
            </a:pPr>
            <a:r>
              <a:rPr sz="850" b="1" i="0">
                <a:solidFill>
                  <a:srgbClr val="4B912A"/>
                </a:solidFill>
                <a:latin typeface="Segoe UI"/>
              </a:rPr>
              <a:t>▸ </a:t>
            </a:r>
            <a:r>
              <a:rPr sz="850" b="1" i="0">
                <a:solidFill>
                  <a:srgbClr val="4B912A"/>
                </a:solidFill>
                <a:latin typeface="Segoe UI"/>
              </a:rPr>
              <a:t>Aba Infraestrutura</a:t>
            </a:r>
          </a:p>
        </p:txBody>
      </p:sp>
      <p:sp>
        <p:nvSpPr>
          <p:cNvPr id="25" name="Rounded Rectangle 24"/>
          <p:cNvSpPr/>
          <p:nvPr/>
        </p:nvSpPr>
        <p:spPr>
          <a:xfrm>
            <a:off x="6163055" y="2468880"/>
            <a:ext cx="2752344" cy="129844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6" name="Rectangle 25"/>
          <p:cNvSpPr/>
          <p:nvPr/>
        </p:nvSpPr>
        <p:spPr>
          <a:xfrm>
            <a:off x="6163970" y="2469794"/>
            <a:ext cx="2750515" cy="45720"/>
          </a:xfrm>
          <a:prstGeom prst="rect">
            <a:avLst/>
          </a:prstGeom>
          <a:solidFill>
            <a:srgbClr val="B076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7" name="TextBox 26"/>
          <p:cNvSpPr txBox="1"/>
          <p:nvPr/>
        </p:nvSpPr>
        <p:spPr>
          <a:xfrm>
            <a:off x="6309359" y="2542032"/>
            <a:ext cx="2459736" cy="1170431"/>
          </a:xfrm>
          <a:prstGeom prst="rect">
            <a:avLst/>
          </a:prstGeom>
          <a:noFill/>
        </p:spPr>
        <p:txBody>
          <a:bodyPr wrap="square" tIns="0" rIns="0" bIns="0" lIns="0" anchor="ctr">
            <a:spAutoFit/>
          </a:bodyPr>
          <a:lstStyle/>
          <a:p>
            <a:pPr algn="l">
              <a:lnSpc>
                <a:spcPct val="92000"/>
              </a:lnSpc>
              <a:spcBef>
                <a:spcPts val="0"/>
              </a:spcBef>
              <a:spcAft>
                <a:spcPts val="0"/>
              </a:spcAft>
            </a:pPr>
            <a:r>
              <a:rPr sz="1050" b="1" i="0">
                <a:solidFill>
                  <a:srgbClr val="2B2B2B"/>
                </a:solidFill>
                <a:latin typeface="Segoe UI"/>
              </a:rPr>
              <a:t>Modo de execução</a:t>
            </a:r>
          </a:p>
          <a:p>
            <a:pPr algn="l">
              <a:lnSpc>
                <a:spcPct val="92000"/>
              </a:lnSpc>
              <a:spcBef>
                <a:spcPts val="200"/>
              </a:spcBef>
              <a:spcAft>
                <a:spcPts val="0"/>
              </a:spcAft>
            </a:pPr>
            <a:r>
              <a:rPr sz="850" b="0" i="0">
                <a:solidFill>
                  <a:srgbClr val="767676"/>
                </a:solidFill>
                <a:latin typeface="Segoe UI"/>
              </a:rPr>
              <a:t>SaaS Avanade vs. on-premise / VPC</a:t>
            </a:r>
          </a:p>
          <a:p>
            <a:pPr algn="l">
              <a:lnSpc>
                <a:spcPct val="92000"/>
              </a:lnSpc>
              <a:spcBef>
                <a:spcPts val="700"/>
              </a:spcBef>
              <a:spcAft>
                <a:spcPts val="0"/>
              </a:spcAft>
            </a:pPr>
            <a:r>
              <a:rPr sz="750" b="1" i="0" spc="50">
                <a:solidFill>
                  <a:srgbClr val="9B9B9B"/>
                </a:solidFill>
                <a:latin typeface="Segoe UI"/>
              </a:rPr>
              <a:t>Impacto   </a:t>
            </a:r>
            <a:r>
              <a:rPr sz="850" b="0" i="0">
                <a:solidFill>
                  <a:srgbClr val="4A4A4A"/>
                </a:solidFill>
                <a:latin typeface="Segoe UI"/>
              </a:rPr>
              <a:t>Setup e compliance</a:t>
            </a:r>
          </a:p>
          <a:p>
            <a:pPr algn="l">
              <a:lnSpc>
                <a:spcPct val="92000"/>
              </a:lnSpc>
              <a:spcBef>
                <a:spcPts val="400"/>
              </a:spcBef>
              <a:spcAft>
                <a:spcPts val="0"/>
              </a:spcAft>
            </a:pPr>
            <a:r>
              <a:rPr sz="850" b="1" i="0">
                <a:solidFill>
                  <a:srgbClr val="B07600"/>
                </a:solidFill>
                <a:latin typeface="Segoe UI"/>
              </a:rPr>
              <a:t>▸ </a:t>
            </a:r>
            <a:r>
              <a:rPr sz="850" b="1" i="0">
                <a:solidFill>
                  <a:srgbClr val="B07600"/>
                </a:solidFill>
                <a:latin typeface="Segoe UI"/>
              </a:rPr>
              <a:t>Equipe · Platform engineer + margem por item</a:t>
            </a:r>
          </a:p>
        </p:txBody>
      </p:sp>
      <p:sp>
        <p:nvSpPr>
          <p:cNvPr id="28" name="Rounded Rectangle 27"/>
          <p:cNvSpPr/>
          <p:nvPr/>
        </p:nvSpPr>
        <p:spPr>
          <a:xfrm>
            <a:off x="9038843" y="2468880"/>
            <a:ext cx="2752344" cy="1298448"/>
          </a:xfrm>
          <a:prstGeom prst="roundRect">
            <a:avLst>
              <a:gd name="adj" fmla="val 6000"/>
            </a:avLst>
          </a:prstGeom>
          <a:solidFill>
            <a:srgbClr val="FF5800"/>
          </a:solidFill>
          <a:ln w="9525">
            <a:solidFill>
              <a:srgbClr val="FF5800"/>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9" name="TextBox 28"/>
          <p:cNvSpPr txBox="1"/>
          <p:nvPr/>
        </p:nvSpPr>
        <p:spPr>
          <a:xfrm>
            <a:off x="9203435" y="2560320"/>
            <a:ext cx="2423160" cy="1115568"/>
          </a:xfrm>
          <a:prstGeom prst="rect">
            <a:avLst/>
          </a:prstGeom>
          <a:noFill/>
        </p:spPr>
        <p:txBody>
          <a:bodyPr wrap="square" tIns="0" rIns="0" bIns="0" lIns="0" anchor="ctr">
            <a:spAutoFit/>
          </a:bodyPr>
          <a:lstStyle/>
          <a:p>
            <a:pPr algn="l">
              <a:lnSpc>
                <a:spcPct val="92000"/>
              </a:lnSpc>
              <a:spcBef>
                <a:spcPts val="0"/>
              </a:spcBef>
              <a:spcAft>
                <a:spcPts val="0"/>
              </a:spcAft>
            </a:pPr>
            <a:r>
              <a:rPr sz="1150" b="1" i="0">
                <a:solidFill>
                  <a:srgbClr val="FFFFFF"/>
                </a:solidFill>
                <a:latin typeface="Segoe UI"/>
              </a:rPr>
              <a:t>Sete drivers,
um único fio condutor</a:t>
            </a:r>
          </a:p>
          <a:p>
            <a:pPr algn="l">
              <a:lnSpc>
                <a:spcPct val="100000"/>
              </a:lnSpc>
              <a:spcBef>
                <a:spcPts val="700"/>
              </a:spcBef>
              <a:spcAft>
                <a:spcPts val="0"/>
              </a:spcAft>
            </a:pPr>
            <a:r>
              <a:rPr sz="850" b="0" i="0">
                <a:solidFill>
                  <a:srgbClr val="FFFFFF"/>
                </a:solidFill>
                <a:latin typeface="Segoe UI"/>
              </a:rPr>
              <a:t>Todos convergem para horas de pessoas. Infraestrutura e modelo de IA somam </a:t>
            </a:r>
            <a:r>
              <a:rPr sz="850" b="1" i="0">
                <a:solidFill>
                  <a:srgbClr val="FFFFFF"/>
                </a:solidFill>
                <a:latin typeface="Segoe UI"/>
              </a:rPr>
              <a:t>1,5% </a:t>
            </a:r>
            <a:r>
              <a:rPr sz="850" b="0" i="0">
                <a:solidFill>
                  <a:srgbClr val="FFFFFF"/>
                </a:solidFill>
                <a:latin typeface="Segoe UI"/>
              </a:rPr>
              <a:t>do preço final.</a:t>
            </a:r>
          </a:p>
        </p:txBody>
      </p:sp>
      <p:sp>
        <p:nvSpPr>
          <p:cNvPr id="30" name="Rounded Rectangle 29"/>
          <p:cNvSpPr/>
          <p:nvPr/>
        </p:nvSpPr>
        <p:spPr>
          <a:xfrm>
            <a:off x="411480" y="4041647"/>
            <a:ext cx="11369009" cy="1947672"/>
          </a:xfrm>
          <a:prstGeom prst="roundRect">
            <a:avLst>
              <a:gd name="adj" fmla="val 6000"/>
            </a:avLst>
          </a:prstGeom>
          <a:solidFill>
            <a:srgbClr val="F7F7F8"/>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1" name="Rectangle 30"/>
          <p:cNvSpPr/>
          <p:nvPr/>
        </p:nvSpPr>
        <p:spPr>
          <a:xfrm>
            <a:off x="411480" y="4042562"/>
            <a:ext cx="50292" cy="1945843"/>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2" name="TextBox 31"/>
          <p:cNvSpPr txBox="1"/>
          <p:nvPr/>
        </p:nvSpPr>
        <p:spPr>
          <a:xfrm>
            <a:off x="649224" y="4187951"/>
            <a:ext cx="10911809" cy="274320"/>
          </a:xfrm>
          <a:prstGeom prst="rect">
            <a:avLst/>
          </a:prstGeom>
          <a:noFill/>
        </p:spPr>
        <p:txBody>
          <a:bodyPr wrap="square" tIns="0" rIns="0" bIns="0" lIns="0" anchor="t">
            <a:spAutoFit/>
          </a:bodyPr>
          <a:lstStyle/>
          <a:p>
            <a:pPr algn="l">
              <a:spcBef>
                <a:spcPts val="0"/>
              </a:spcBef>
              <a:spcAft>
                <a:spcPts val="0"/>
              </a:spcAft>
            </a:pPr>
            <a:r>
              <a:rPr sz="850" b="1" i="0" spc="90">
                <a:solidFill>
                  <a:srgbClr val="FF5800"/>
                </a:solidFill>
                <a:latin typeface="Segoe UI"/>
              </a:rPr>
              <a:t>BASELINE MEDIDO   </a:t>
            </a:r>
            <a:r>
              <a:rPr sz="900" b="0" i="0">
                <a:solidFill>
                  <a:srgbClr val="4A4A4A"/>
                </a:solidFill>
                <a:latin typeface="Segoe UI"/>
              </a:rPr>
              <a:t>execução real e completa da esteira — projeto nopcommerce-04, 18–19/ago/2026</a:t>
            </a:r>
          </a:p>
        </p:txBody>
      </p:sp>
      <p:sp>
        <p:nvSpPr>
          <p:cNvPr id="33" name="Rounded Rectangle 32"/>
          <p:cNvSpPr/>
          <p:nvPr/>
        </p:nvSpPr>
        <p:spPr>
          <a:xfrm>
            <a:off x="649224"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4" name="TextBox 33"/>
          <p:cNvSpPr txBox="1"/>
          <p:nvPr/>
        </p:nvSpPr>
        <p:spPr>
          <a:xfrm>
            <a:off x="704088"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254.001</a:t>
            </a:r>
          </a:p>
          <a:p>
            <a:pPr algn="ctr">
              <a:lnSpc>
                <a:spcPct val="90000"/>
              </a:lnSpc>
              <a:spcBef>
                <a:spcPts val="300"/>
              </a:spcBef>
              <a:spcAft>
                <a:spcPts val="0"/>
              </a:spcAft>
            </a:pPr>
            <a:r>
              <a:rPr sz="800" b="0" i="0">
                <a:solidFill>
                  <a:srgbClr val="767676"/>
                </a:solidFill>
                <a:latin typeface="Segoe UI"/>
              </a:rPr>
              <a:t>linhas de código</a:t>
            </a:r>
          </a:p>
        </p:txBody>
      </p:sp>
      <p:sp>
        <p:nvSpPr>
          <p:cNvPr id="35" name="Rounded Rectangle 34"/>
          <p:cNvSpPr/>
          <p:nvPr/>
        </p:nvSpPr>
        <p:spPr>
          <a:xfrm>
            <a:off x="2218504"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6" name="TextBox 35"/>
          <p:cNvSpPr txBox="1"/>
          <p:nvPr/>
        </p:nvSpPr>
        <p:spPr>
          <a:xfrm>
            <a:off x="2273368"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1.731</a:t>
            </a:r>
          </a:p>
          <a:p>
            <a:pPr algn="ctr">
              <a:lnSpc>
                <a:spcPct val="90000"/>
              </a:lnSpc>
              <a:spcBef>
                <a:spcPts val="300"/>
              </a:spcBef>
              <a:spcAft>
                <a:spcPts val="0"/>
              </a:spcAft>
            </a:pPr>
            <a:r>
              <a:rPr sz="800" b="0" i="0">
                <a:solidFill>
                  <a:srgbClr val="767676"/>
                </a:solidFill>
                <a:latin typeface="Segoe UI"/>
              </a:rPr>
              <a:t>arquivos · 1.998 classes</a:t>
            </a:r>
          </a:p>
        </p:txBody>
      </p:sp>
      <p:sp>
        <p:nvSpPr>
          <p:cNvPr id="37" name="Rounded Rectangle 36"/>
          <p:cNvSpPr/>
          <p:nvPr/>
        </p:nvSpPr>
        <p:spPr>
          <a:xfrm>
            <a:off x="3787784"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8" name="TextBox 37"/>
          <p:cNvSpPr txBox="1"/>
          <p:nvPr/>
        </p:nvSpPr>
        <p:spPr>
          <a:xfrm>
            <a:off x="3842648"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436</a:t>
            </a:r>
          </a:p>
          <a:p>
            <a:pPr algn="ctr">
              <a:lnSpc>
                <a:spcPct val="90000"/>
              </a:lnSpc>
              <a:spcBef>
                <a:spcPts val="300"/>
              </a:spcBef>
              <a:spcAft>
                <a:spcPts val="0"/>
              </a:spcAft>
            </a:pPr>
            <a:r>
              <a:rPr sz="800" b="0" i="0">
                <a:solidFill>
                  <a:srgbClr val="767676"/>
                </a:solidFill>
                <a:latin typeface="Segoe UI"/>
              </a:rPr>
              <a:t>regras de negócio</a:t>
            </a:r>
          </a:p>
        </p:txBody>
      </p:sp>
      <p:sp>
        <p:nvSpPr>
          <p:cNvPr id="39" name="Rounded Rectangle 38"/>
          <p:cNvSpPr/>
          <p:nvPr/>
        </p:nvSpPr>
        <p:spPr>
          <a:xfrm>
            <a:off x="5357064"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0" name="TextBox 39"/>
          <p:cNvSpPr txBox="1"/>
          <p:nvPr/>
        </p:nvSpPr>
        <p:spPr>
          <a:xfrm>
            <a:off x="5411928"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10</a:t>
            </a:r>
          </a:p>
          <a:p>
            <a:pPr algn="ctr">
              <a:lnSpc>
                <a:spcPct val="90000"/>
              </a:lnSpc>
              <a:spcBef>
                <a:spcPts val="300"/>
              </a:spcBef>
              <a:spcAft>
                <a:spcPts val="0"/>
              </a:spcAft>
            </a:pPr>
            <a:r>
              <a:rPr sz="800" b="0" i="0">
                <a:solidFill>
                  <a:srgbClr val="767676"/>
                </a:solidFill>
                <a:latin typeface="Segoe UI"/>
              </a:rPr>
              <a:t>bounded contexts</a:t>
            </a:r>
          </a:p>
        </p:txBody>
      </p:sp>
      <p:sp>
        <p:nvSpPr>
          <p:cNvPr id="41" name="Rounded Rectangle 40"/>
          <p:cNvSpPr/>
          <p:nvPr/>
        </p:nvSpPr>
        <p:spPr>
          <a:xfrm>
            <a:off x="6926344"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2" name="TextBox 41"/>
          <p:cNvSpPr txBox="1"/>
          <p:nvPr/>
        </p:nvSpPr>
        <p:spPr>
          <a:xfrm>
            <a:off x="6981208"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394</a:t>
            </a:r>
          </a:p>
          <a:p>
            <a:pPr algn="ctr">
              <a:lnSpc>
                <a:spcPct val="90000"/>
              </a:lnSpc>
              <a:spcBef>
                <a:spcPts val="300"/>
              </a:spcBef>
              <a:spcAft>
                <a:spcPts val="0"/>
              </a:spcAft>
            </a:pPr>
            <a:r>
              <a:rPr sz="800" b="0" i="0">
                <a:solidFill>
                  <a:srgbClr val="767676"/>
                </a:solidFill>
                <a:latin typeface="Segoe UI"/>
              </a:rPr>
              <a:t>tasks · 15 ondas</a:t>
            </a:r>
          </a:p>
        </p:txBody>
      </p:sp>
      <p:sp>
        <p:nvSpPr>
          <p:cNvPr id="43" name="Rounded Rectangle 42"/>
          <p:cNvSpPr/>
          <p:nvPr/>
        </p:nvSpPr>
        <p:spPr>
          <a:xfrm>
            <a:off x="8495625"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4" name="TextBox 43"/>
          <p:cNvSpPr txBox="1"/>
          <p:nvPr/>
        </p:nvSpPr>
        <p:spPr>
          <a:xfrm>
            <a:off x="8550489"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232</a:t>
            </a:r>
          </a:p>
          <a:p>
            <a:pPr algn="ctr">
              <a:lnSpc>
                <a:spcPct val="90000"/>
              </a:lnSpc>
              <a:spcBef>
                <a:spcPts val="300"/>
              </a:spcBef>
              <a:spcAft>
                <a:spcPts val="0"/>
              </a:spcAft>
            </a:pPr>
            <a:r>
              <a:rPr sz="800" b="0" i="0">
                <a:solidFill>
                  <a:srgbClr val="767676"/>
                </a:solidFill>
                <a:latin typeface="Segoe UI"/>
              </a:rPr>
              <a:t>artefatos · 82 MB</a:t>
            </a:r>
          </a:p>
        </p:txBody>
      </p:sp>
      <p:sp>
        <p:nvSpPr>
          <p:cNvPr id="45" name="Rounded Rectangle 44"/>
          <p:cNvSpPr/>
          <p:nvPr/>
        </p:nvSpPr>
        <p:spPr>
          <a:xfrm>
            <a:off x="10064905" y="4608575"/>
            <a:ext cx="1477840" cy="1234440"/>
          </a:xfrm>
          <a:prstGeom prst="roundRect">
            <a:avLst>
              <a:gd name="adj" fmla="val 9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6" name="TextBox 45"/>
          <p:cNvSpPr txBox="1"/>
          <p:nvPr/>
        </p:nvSpPr>
        <p:spPr>
          <a:xfrm>
            <a:off x="10119769" y="4645151"/>
            <a:ext cx="1368112" cy="1161288"/>
          </a:xfrm>
          <a:prstGeom prst="rect">
            <a:avLst/>
          </a:prstGeom>
          <a:noFill/>
        </p:spPr>
        <p:txBody>
          <a:bodyPr wrap="square" tIns="0" rIns="0" bIns="0" lIns="0" anchor="ctr">
            <a:spAutoFit/>
          </a:bodyPr>
          <a:lstStyle/>
          <a:p>
            <a:pPr algn="ctr">
              <a:lnSpc>
                <a:spcPct val="90000"/>
              </a:lnSpc>
              <a:spcBef>
                <a:spcPts val="0"/>
              </a:spcBef>
              <a:spcAft>
                <a:spcPts val="0"/>
              </a:spcAft>
            </a:pPr>
            <a:r>
              <a:rPr sz="1500" b="1" i="0">
                <a:solidFill>
                  <a:srgbClr val="2B2B2B"/>
                </a:solidFill>
                <a:latin typeface="Segoe UI"/>
              </a:rPr>
              <a:t>US$ 1,58</a:t>
            </a:r>
          </a:p>
          <a:p>
            <a:pPr algn="ctr">
              <a:lnSpc>
                <a:spcPct val="90000"/>
              </a:lnSpc>
              <a:spcBef>
                <a:spcPts val="300"/>
              </a:spcBef>
              <a:spcAft>
                <a:spcPts val="0"/>
              </a:spcAft>
            </a:pPr>
            <a:r>
              <a:rPr sz="800" b="0" i="0">
                <a:solidFill>
                  <a:srgbClr val="767676"/>
                </a:solidFill>
                <a:latin typeface="Segoe UI"/>
              </a:rPr>
              <a:t>por task de codegen</a:t>
            </a:r>
          </a:p>
        </p:txBody>
      </p:sp>
      <p:sp>
        <p:nvSpPr>
          <p:cNvPr id="47" name="TextBox 46"/>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Fonte: aba “Drivers” da calculadora AVA Fabric Apps Migration · asis/metrics.json · speckit/traceability.json · runner-state.json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2 · PARÂMETROS</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Parâmetros para Cálculo</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O painel de controle: único lugar onde se define prazo, câmbio, margem e rate card. Tudo o mais é derivado.</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4709160" cy="2962656"/>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94360" y="1179576"/>
            <a:ext cx="43434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2.1 · PARÂMETROS GERAIS</a:t>
            </a:r>
          </a:p>
        </p:txBody>
      </p:sp>
      <p:sp>
        <p:nvSpPr>
          <p:cNvPr id="9" name="Rectangle 8"/>
          <p:cNvSpPr/>
          <p:nvPr/>
        </p:nvSpPr>
        <p:spPr>
          <a:xfrm>
            <a:off x="539496" y="1444752"/>
            <a:ext cx="4453128" cy="402336"/>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0" name="TextBox 9"/>
          <p:cNvSpPr txBox="1"/>
          <p:nvPr/>
        </p:nvSpPr>
        <p:spPr>
          <a:xfrm>
            <a:off x="649224" y="1476756"/>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Semanas da PoC</a:t>
            </a:r>
          </a:p>
          <a:p>
            <a:pPr algn="l">
              <a:lnSpc>
                <a:spcPct val="90000"/>
              </a:lnSpc>
              <a:spcBef>
                <a:spcPts val="0"/>
              </a:spcBef>
              <a:spcAft>
                <a:spcPts val="0"/>
              </a:spcAft>
            </a:pPr>
            <a:r>
              <a:rPr sz="750" b="0" i="0">
                <a:solidFill>
                  <a:srgbClr val="9B9B9B"/>
                </a:solidFill>
                <a:latin typeface="Segoe UI"/>
              </a:rPr>
              <a:t>Dirige horas e meses de infra</a:t>
            </a:r>
          </a:p>
        </p:txBody>
      </p:sp>
      <p:sp>
        <p:nvSpPr>
          <p:cNvPr id="11" name="TextBox 10"/>
          <p:cNvSpPr txBox="1"/>
          <p:nvPr/>
        </p:nvSpPr>
        <p:spPr>
          <a:xfrm>
            <a:off x="3520440" y="1495044"/>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008C95"/>
                </a:solidFill>
                <a:latin typeface="Segoe UI"/>
              </a:rPr>
              <a:t>4</a:t>
            </a:r>
          </a:p>
        </p:txBody>
      </p:sp>
      <p:sp>
        <p:nvSpPr>
          <p:cNvPr id="12" name="TextBox 11"/>
          <p:cNvSpPr txBox="1"/>
          <p:nvPr/>
        </p:nvSpPr>
        <p:spPr>
          <a:xfrm>
            <a:off x="649224" y="1879092"/>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Horas por semana (1 FTE)</a:t>
            </a:r>
          </a:p>
          <a:p>
            <a:pPr algn="l">
              <a:lnSpc>
                <a:spcPct val="90000"/>
              </a:lnSpc>
              <a:spcBef>
                <a:spcPts val="0"/>
              </a:spcBef>
              <a:spcAft>
                <a:spcPts val="0"/>
              </a:spcAft>
            </a:pPr>
            <a:r>
              <a:rPr sz="750" b="0" i="0">
                <a:solidFill>
                  <a:srgbClr val="9B9B9B"/>
                </a:solidFill>
                <a:latin typeface="Segoe UI"/>
              </a:rPr>
              <a:t>Base para converter alocação em FTE</a:t>
            </a:r>
          </a:p>
        </p:txBody>
      </p:sp>
      <p:sp>
        <p:nvSpPr>
          <p:cNvPr id="13" name="TextBox 12"/>
          <p:cNvSpPr txBox="1"/>
          <p:nvPr/>
        </p:nvSpPr>
        <p:spPr>
          <a:xfrm>
            <a:off x="3520440" y="1897380"/>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008C95"/>
                </a:solidFill>
                <a:latin typeface="Segoe UI"/>
              </a:rPr>
              <a:t>40</a:t>
            </a:r>
          </a:p>
        </p:txBody>
      </p:sp>
      <p:sp>
        <p:nvSpPr>
          <p:cNvPr id="14" name="Rectangle 13"/>
          <p:cNvSpPr/>
          <p:nvPr/>
        </p:nvSpPr>
        <p:spPr>
          <a:xfrm>
            <a:off x="539496" y="2249424"/>
            <a:ext cx="4453128" cy="402336"/>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5" name="TextBox 14"/>
          <p:cNvSpPr txBox="1"/>
          <p:nvPr/>
        </p:nvSpPr>
        <p:spPr>
          <a:xfrm>
            <a:off x="649224" y="2281428"/>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Câmbio USD → BRL</a:t>
            </a:r>
          </a:p>
          <a:p>
            <a:pPr algn="l">
              <a:lnSpc>
                <a:spcPct val="90000"/>
              </a:lnSpc>
              <a:spcBef>
                <a:spcPts val="0"/>
              </a:spcBef>
              <a:spcAft>
                <a:spcPts val="0"/>
              </a:spcAft>
            </a:pPr>
            <a:r>
              <a:rPr sz="750" b="0" i="0">
                <a:solidFill>
                  <a:srgbClr val="9B9B9B"/>
                </a:solidFill>
                <a:latin typeface="Segoe UI"/>
              </a:rPr>
              <a:t>Aplicado só na conversão do total</a:t>
            </a:r>
          </a:p>
        </p:txBody>
      </p:sp>
      <p:sp>
        <p:nvSpPr>
          <p:cNvPr id="16" name="TextBox 15"/>
          <p:cNvSpPr txBox="1"/>
          <p:nvPr/>
        </p:nvSpPr>
        <p:spPr>
          <a:xfrm>
            <a:off x="3520440" y="2299716"/>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2F4A6B"/>
                </a:solidFill>
                <a:latin typeface="Segoe UI"/>
              </a:rPr>
              <a:t>5,40</a:t>
            </a:r>
          </a:p>
        </p:txBody>
      </p:sp>
      <p:sp>
        <p:nvSpPr>
          <p:cNvPr id="17" name="TextBox 16"/>
          <p:cNvSpPr txBox="1"/>
          <p:nvPr/>
        </p:nvSpPr>
        <p:spPr>
          <a:xfrm>
            <a:off x="649224" y="2683764"/>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Margem padrão por item</a:t>
            </a:r>
          </a:p>
          <a:p>
            <a:pPr algn="l">
              <a:lnSpc>
                <a:spcPct val="90000"/>
              </a:lnSpc>
              <a:spcBef>
                <a:spcPts val="0"/>
              </a:spcBef>
              <a:spcAft>
                <a:spcPts val="0"/>
              </a:spcAft>
            </a:pPr>
            <a:r>
              <a:rPr sz="750" b="0" i="0">
                <a:solidFill>
                  <a:srgbClr val="9B9B9B"/>
                </a:solidFill>
                <a:latin typeface="Segoe UI"/>
              </a:rPr>
              <a:t>Pré-carrega a margem de cada linha</a:t>
            </a:r>
          </a:p>
        </p:txBody>
      </p:sp>
      <p:sp>
        <p:nvSpPr>
          <p:cNvPr id="18" name="TextBox 17"/>
          <p:cNvSpPr txBox="1"/>
          <p:nvPr/>
        </p:nvSpPr>
        <p:spPr>
          <a:xfrm>
            <a:off x="3520440" y="2702052"/>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FF5800"/>
                </a:solidFill>
                <a:latin typeface="Segoe UI"/>
              </a:rPr>
              <a:t>20%</a:t>
            </a:r>
          </a:p>
        </p:txBody>
      </p:sp>
      <p:sp>
        <p:nvSpPr>
          <p:cNvPr id="19" name="Rectangle 18"/>
          <p:cNvSpPr/>
          <p:nvPr/>
        </p:nvSpPr>
        <p:spPr>
          <a:xfrm>
            <a:off x="539496" y="3054096"/>
            <a:ext cx="4453128" cy="402336"/>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0" name="TextBox 19"/>
          <p:cNvSpPr txBox="1"/>
          <p:nvPr/>
        </p:nvSpPr>
        <p:spPr>
          <a:xfrm>
            <a:off x="649224" y="3086100"/>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Contingência sobre o total</a:t>
            </a:r>
          </a:p>
          <a:p>
            <a:pPr algn="l">
              <a:lnSpc>
                <a:spcPct val="90000"/>
              </a:lnSpc>
              <a:spcBef>
                <a:spcPts val="0"/>
              </a:spcBef>
              <a:spcAft>
                <a:spcPts val="0"/>
              </a:spcAft>
            </a:pPr>
            <a:r>
              <a:rPr sz="750" b="0" i="0">
                <a:solidFill>
                  <a:srgbClr val="9B9B9B"/>
                </a:solidFill>
                <a:latin typeface="Segoe UI"/>
              </a:rPr>
              <a:t>Re-execução de fase e build gate</a:t>
            </a:r>
          </a:p>
        </p:txBody>
      </p:sp>
      <p:sp>
        <p:nvSpPr>
          <p:cNvPr id="21" name="TextBox 20"/>
          <p:cNvSpPr txBox="1"/>
          <p:nvPr/>
        </p:nvSpPr>
        <p:spPr>
          <a:xfrm>
            <a:off x="3520440" y="3104388"/>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B07600"/>
                </a:solidFill>
                <a:latin typeface="Segoe UI"/>
              </a:rPr>
              <a:t>15%</a:t>
            </a:r>
          </a:p>
        </p:txBody>
      </p:sp>
      <p:sp>
        <p:nvSpPr>
          <p:cNvPr id="22" name="TextBox 21"/>
          <p:cNvSpPr txBox="1"/>
          <p:nvPr/>
        </p:nvSpPr>
        <p:spPr>
          <a:xfrm>
            <a:off x="649224" y="3488436"/>
            <a:ext cx="2880360" cy="402336"/>
          </a:xfrm>
          <a:prstGeom prst="rect">
            <a:avLst/>
          </a:prstGeom>
          <a:noFill/>
        </p:spPr>
        <p:txBody>
          <a:bodyPr wrap="square" tIns="0" rIns="0" bIns="0" lIns="0" anchor="t">
            <a:spAutoFit/>
          </a:bodyPr>
          <a:lstStyle/>
          <a:p>
            <a:pPr algn="l">
              <a:lnSpc>
                <a:spcPct val="90000"/>
              </a:lnSpc>
              <a:spcBef>
                <a:spcPts val="0"/>
              </a:spcBef>
              <a:spcAft>
                <a:spcPts val="0"/>
              </a:spcAft>
            </a:pPr>
            <a:r>
              <a:rPr sz="950" b="1" i="0">
                <a:solidFill>
                  <a:srgbClr val="2B2B2B"/>
                </a:solidFill>
                <a:latin typeface="Segoe UI"/>
              </a:rPr>
              <a:t>Provisão mínima de IA</a:t>
            </a:r>
          </a:p>
          <a:p>
            <a:pPr algn="l">
              <a:lnSpc>
                <a:spcPct val="90000"/>
              </a:lnSpc>
              <a:spcBef>
                <a:spcPts val="0"/>
              </a:spcBef>
              <a:spcAft>
                <a:spcPts val="0"/>
              </a:spcAft>
            </a:pPr>
            <a:r>
              <a:rPr sz="750" b="0" i="0">
                <a:solidFill>
                  <a:srgbClr val="9B9B9B"/>
                </a:solidFill>
                <a:latin typeface="Segoe UI"/>
              </a:rPr>
              <a:t>O Resumo adota o maior dos dois</a:t>
            </a:r>
          </a:p>
        </p:txBody>
      </p:sp>
      <p:sp>
        <p:nvSpPr>
          <p:cNvPr id="23" name="TextBox 22"/>
          <p:cNvSpPr txBox="1"/>
          <p:nvPr/>
        </p:nvSpPr>
        <p:spPr>
          <a:xfrm>
            <a:off x="3520440" y="3506724"/>
            <a:ext cx="1371600" cy="402336"/>
          </a:xfrm>
          <a:prstGeom prst="rect">
            <a:avLst/>
          </a:prstGeom>
          <a:noFill/>
        </p:spPr>
        <p:txBody>
          <a:bodyPr wrap="square" tIns="0" rIns="0" bIns="0" lIns="0" anchor="t">
            <a:spAutoFit/>
          </a:bodyPr>
          <a:lstStyle/>
          <a:p>
            <a:pPr algn="r">
              <a:spcBef>
                <a:spcPts val="0"/>
              </a:spcBef>
              <a:spcAft>
                <a:spcPts val="0"/>
              </a:spcAft>
            </a:pPr>
            <a:r>
              <a:rPr sz="1400" b="1" i="0">
                <a:solidFill>
                  <a:srgbClr val="CE056A"/>
                </a:solidFill>
                <a:latin typeface="Segoe UI"/>
              </a:rPr>
              <a:t>US$ 600</a:t>
            </a:r>
          </a:p>
        </p:txBody>
      </p:sp>
      <p:sp>
        <p:nvSpPr>
          <p:cNvPr id="24" name="Rounded Rectangle 23"/>
          <p:cNvSpPr/>
          <p:nvPr/>
        </p:nvSpPr>
        <p:spPr>
          <a:xfrm>
            <a:off x="5394960" y="1024128"/>
            <a:ext cx="6385529" cy="2962656"/>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5" name="TextBox 24"/>
          <p:cNvSpPr txBox="1"/>
          <p:nvPr/>
        </p:nvSpPr>
        <p:spPr>
          <a:xfrm>
            <a:off x="5577840" y="1179576"/>
            <a:ext cx="6019769"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1.3 · RATE CARD POR NÍVEL (US$/H)</a:t>
            </a:r>
          </a:p>
        </p:txBody>
      </p:sp>
      <p:sp>
        <p:nvSpPr>
          <p:cNvPr id="26" name="TextBox 25"/>
          <p:cNvSpPr txBox="1"/>
          <p:nvPr/>
        </p:nvSpPr>
        <p:spPr>
          <a:xfrm>
            <a:off x="8991569" y="1165860"/>
            <a:ext cx="2606040" cy="219456"/>
          </a:xfrm>
          <a:prstGeom prst="rect">
            <a:avLst/>
          </a:prstGeom>
          <a:noFill/>
        </p:spPr>
        <p:txBody>
          <a:bodyPr wrap="square" tIns="0" rIns="0" bIns="0" lIns="0" anchor="t">
            <a:spAutoFit/>
          </a:bodyPr>
          <a:lstStyle/>
          <a:p>
            <a:pPr algn="r">
              <a:spcBef>
                <a:spcPts val="0"/>
              </a:spcBef>
              <a:spcAft>
                <a:spcPts val="0"/>
              </a:spcAft>
            </a:pPr>
            <a:r>
              <a:rPr sz="750" b="0" i="1">
                <a:solidFill>
                  <a:srgbClr val="C80000"/>
                </a:solidFill>
                <a:latin typeface="Segoe UI"/>
              </a:rPr>
              <a:t>valores ilustrativos — substituir pelos oficiais</a:t>
            </a:r>
          </a:p>
        </p:txBody>
      </p:sp>
      <p:graphicFrame>
        <p:nvGraphicFramePr>
          <p:cNvPr id="27" name="Table 26"/>
          <p:cNvGraphicFramePr>
            <a:graphicFrameLocks noGrp="1"/>
          </p:cNvGraphicFramePr>
          <p:nvPr/>
        </p:nvGraphicFramePr>
        <p:xfrm>
          <a:off x="5541264" y="1444752"/>
          <a:ext cx="5440679" cy="2432304"/>
        </p:xfrm>
        <a:graphic>
          <a:graphicData uri="http://schemas.openxmlformats.org/drawingml/2006/table">
            <a:tbl>
              <a:tblPr firstRow="0" bandRow="0">
                <a:tableStyleId>{2D5ABB26-0587-4C30-8999-92F81FD0307C}</a:tableStyleId>
              </a:tblPr>
              <a:tblGrid>
                <a:gridCol w="1874519"/>
                <a:gridCol w="731520"/>
                <a:gridCol w="2834640"/>
              </a:tblGrid>
              <a:tr h="237744">
                <a:tc>
                  <a:txBody>
                    <a:bodyPr wrap="square"/>
                    <a:lstStyle/>
                    <a:p>
                      <a:pPr algn="l"/>
                      <a:r>
                        <a:rPr sz="750" b="1" i="0">
                          <a:solidFill>
                            <a:srgbClr val="767676"/>
                          </a:solidFill>
                          <a:latin typeface="Segoe UI"/>
                        </a:rPr>
                        <a:t>NÍVEL</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US$ / H</a:t>
                      </a:r>
                    </a:p>
                  </a:txBody>
                  <a:tcPr marT="18288" marR="64008" marB="18288" marL="64008" anchor="ctr">
                    <a:lnB w="9525" cap="flat" cmpd="sng" algn="ctr">
                      <a:solidFill>
                        <a:srgbClr val="2B2B2B"/>
                      </a:solidFill>
                    </a:lnB>
                    <a:noFill/>
                  </a:tcPr>
                </a:tc>
                <a:tc>
                  <a:txBody>
                    <a:bodyPr wrap="square"/>
                    <a:lstStyle/>
                    <a:p>
                      <a:pPr algn="l"/>
                      <a:r>
                        <a:rPr sz="750" b="1" i="0">
                          <a:solidFill>
                            <a:srgbClr val="767676"/>
                          </a:solidFill>
                          <a:latin typeface="Segoe UI"/>
                        </a:rPr>
                        <a:t>PERFIL TÍPICO</a:t>
                      </a:r>
                    </a:p>
                  </a:txBody>
                  <a:tcPr marT="18288" marR="64008" marB="18288" marL="64008" anchor="ctr">
                    <a:lnB w="9525" cap="flat" cmpd="sng" algn="ctr">
                      <a:solidFill>
                        <a:srgbClr val="2B2B2B"/>
                      </a:solidFill>
                    </a:lnB>
                    <a:noFill/>
                  </a:tcPr>
                </a:tc>
              </a:tr>
              <a:tr h="365760">
                <a:tc>
                  <a:txBody>
                    <a:bodyPr wrap="square"/>
                    <a:lstStyle/>
                    <a:p>
                      <a:pPr algn="l"/>
                      <a:r>
                        <a:rPr sz="900" b="1" i="0">
                          <a:solidFill>
                            <a:srgbClr val="2B2B2B"/>
                          </a:solidFill>
                          <a:latin typeface="Segoe UI"/>
                        </a:rPr>
                        <a:t>Manager</a:t>
                      </a:r>
                    </a:p>
                  </a:txBody>
                  <a:tcPr marT="18288" marR="64008" marB="18288" marL="64008" anchor="ctr">
                    <a:lnB w="6350" cap="flat" cmpd="sng" algn="ctr">
                      <a:solidFill>
                        <a:srgbClr val="E1E1E1"/>
                      </a:solidFill>
                    </a:lnB>
                    <a:solidFill>
                      <a:srgbClr val="FAFAFB"/>
                    </a:solidFill>
                  </a:tcPr>
                </a:tc>
                <a:tc>
                  <a:txBody>
                    <a:bodyPr wrap="square"/>
                    <a:lstStyle/>
                    <a:p>
                      <a:pPr algn="r"/>
                      <a:r>
                        <a:rPr sz="1100" b="1" i="0">
                          <a:solidFill>
                            <a:srgbClr val="FF5800"/>
                          </a:solidFill>
                          <a:latin typeface="Segoe UI"/>
                        </a:rPr>
                        <a:t>95</a:t>
                      </a:r>
                    </a:p>
                  </a:txBody>
                  <a:tcPr marT="18288" marR="64008" marB="18288" marL="64008" anchor="ctr">
                    <a:lnB w="6350" cap="flat" cmpd="sng" algn="ctr">
                      <a:solidFill>
                        <a:srgbClr val="E1E1E1"/>
                      </a:solidFill>
                    </a:lnB>
                    <a:solidFill>
                      <a:srgbClr val="FAFAFB"/>
                    </a:solidFill>
                  </a:tcPr>
                </a:tc>
                <a:tc>
                  <a:txBody>
                    <a:bodyPr wrap="square"/>
                    <a:lstStyle/>
                    <a:p>
                      <a:pPr algn="l"/>
                      <a:r>
                        <a:rPr sz="800" b="0" i="0">
                          <a:solidFill>
                            <a:srgbClr val="767676"/>
                          </a:solidFill>
                          <a:latin typeface="Segoe UI"/>
                        </a:rPr>
                        <a:t>Solution Architect · Program Manager</a:t>
                      </a:r>
                    </a:p>
                  </a:txBody>
                  <a:tcPr marT="18288" marR="64008" marB="18288" marL="64008" anchor="ctr">
                    <a:lnB w="6350" cap="flat" cmpd="sng" algn="ctr">
                      <a:solidFill>
                        <a:srgbClr val="E1E1E1"/>
                      </a:solidFill>
                    </a:lnB>
                    <a:solidFill>
                      <a:srgbClr val="FAFAFB"/>
                    </a:solidFill>
                  </a:tcPr>
                </a:tc>
              </a:tr>
              <a:tr h="365760">
                <a:tc>
                  <a:txBody>
                    <a:bodyPr wrap="square"/>
                    <a:lstStyle/>
                    <a:p>
                      <a:pPr algn="l"/>
                      <a:r>
                        <a:rPr sz="900" b="1" i="0">
                          <a:solidFill>
                            <a:srgbClr val="2B2B2B"/>
                          </a:solidFill>
                          <a:latin typeface="Segoe UI"/>
                        </a:rPr>
                        <a:t>Associate Manager</a:t>
                      </a:r>
                    </a:p>
                  </a:txBody>
                  <a:tcPr marT="18288" marR="64008" marB="18288" marL="64008" anchor="ctr">
                    <a:lnB w="6350" cap="flat" cmpd="sng" algn="ctr">
                      <a:solidFill>
                        <a:srgbClr val="E1E1E1"/>
                      </a:solidFill>
                    </a:lnB>
                    <a:noFill/>
                  </a:tcPr>
                </a:tc>
                <a:tc>
                  <a:txBody>
                    <a:bodyPr wrap="square"/>
                    <a:lstStyle/>
                    <a:p>
                      <a:pPr algn="r"/>
                      <a:r>
                        <a:rPr sz="1100" b="1" i="0">
                          <a:solidFill>
                            <a:srgbClr val="CE056A"/>
                          </a:solidFill>
                          <a:latin typeface="Segoe UI"/>
                        </a:rPr>
                        <a:t>78</a:t>
                      </a:r>
                    </a:p>
                  </a:txBody>
                  <a:tcPr marT="18288" marR="64008" marB="18288" marL="64008" anchor="ctr">
                    <a:lnB w="6350" cap="flat" cmpd="sng" algn="ctr">
                      <a:solidFill>
                        <a:srgbClr val="E1E1E1"/>
                      </a:solidFill>
                    </a:lnB>
                    <a:noFill/>
                  </a:tcPr>
                </a:tc>
                <a:tc>
                  <a:txBody>
                    <a:bodyPr wrap="square"/>
                    <a:lstStyle/>
                    <a:p>
                      <a:pPr algn="l"/>
                      <a:r>
                        <a:rPr sz="800" b="0" i="0">
                          <a:solidFill>
                            <a:srgbClr val="767676"/>
                          </a:solidFill>
                          <a:latin typeface="Segoe UI"/>
                        </a:rPr>
                        <a:t>Platform engineer · Security</a:t>
                      </a:r>
                    </a:p>
                  </a:txBody>
                  <a:tcPr marT="18288" marR="64008" marB="18288" marL="64008" anchor="ctr">
                    <a:lnB w="6350" cap="flat" cmpd="sng" algn="ctr">
                      <a:solidFill>
                        <a:srgbClr val="E1E1E1"/>
                      </a:solidFill>
                    </a:lnB>
                    <a:noFill/>
                  </a:tcPr>
                </a:tc>
              </a:tr>
              <a:tr h="365760">
                <a:tc>
                  <a:txBody>
                    <a:bodyPr wrap="square"/>
                    <a:lstStyle/>
                    <a:p>
                      <a:pPr algn="l"/>
                      <a:r>
                        <a:rPr sz="900" b="1" i="0">
                          <a:solidFill>
                            <a:srgbClr val="2B2B2B"/>
                          </a:solidFill>
                          <a:latin typeface="Segoe UI"/>
                        </a:rPr>
                        <a:t>Team Lead / Consultant</a:t>
                      </a:r>
                    </a:p>
                  </a:txBody>
                  <a:tcPr marT="18288" marR="64008" marB="18288" marL="64008" anchor="ctr">
                    <a:lnB w="6350" cap="flat" cmpd="sng" algn="ctr">
                      <a:solidFill>
                        <a:srgbClr val="E1E1E1"/>
                      </a:solidFill>
                    </a:lnB>
                    <a:solidFill>
                      <a:srgbClr val="FAFAFB"/>
                    </a:solidFill>
                  </a:tcPr>
                </a:tc>
                <a:tc>
                  <a:txBody>
                    <a:bodyPr wrap="square"/>
                    <a:lstStyle/>
                    <a:p>
                      <a:pPr algn="r"/>
                      <a:r>
                        <a:rPr sz="1100" b="1" i="0">
                          <a:solidFill>
                            <a:srgbClr val="2F4A6B"/>
                          </a:solidFill>
                          <a:latin typeface="Segoe UI"/>
                        </a:rPr>
                        <a:t>62</a:t>
                      </a:r>
                    </a:p>
                  </a:txBody>
                  <a:tcPr marT="18288" marR="64008" marB="18288" marL="64008" anchor="ctr">
                    <a:lnB w="6350" cap="flat" cmpd="sng" algn="ctr">
                      <a:solidFill>
                        <a:srgbClr val="E1E1E1"/>
                      </a:solidFill>
                    </a:lnB>
                    <a:solidFill>
                      <a:srgbClr val="FAFAFB"/>
                    </a:solidFill>
                  </a:tcPr>
                </a:tc>
                <a:tc>
                  <a:txBody>
                    <a:bodyPr wrap="square"/>
                    <a:lstStyle/>
                    <a:p>
                      <a:pPr algn="l"/>
                      <a:r>
                        <a:rPr sz="800" b="0" i="0">
                          <a:solidFill>
                            <a:srgbClr val="767676"/>
                          </a:solidFill>
                          <a:latin typeface="Segoe UI"/>
                        </a:rPr>
                        <a:t>Analista legado · Arquiteto TO-BE · Dev Sr.</a:t>
                      </a:r>
                    </a:p>
                  </a:txBody>
                  <a:tcPr marT="18288" marR="64008" marB="18288" marL="64008" anchor="ctr">
                    <a:lnB w="6350" cap="flat" cmpd="sng" algn="ctr">
                      <a:solidFill>
                        <a:srgbClr val="E1E1E1"/>
                      </a:solidFill>
                    </a:lnB>
                    <a:solidFill>
                      <a:srgbClr val="FAFAFB"/>
                    </a:solidFill>
                  </a:tcPr>
                </a:tc>
              </a:tr>
              <a:tr h="365760">
                <a:tc>
                  <a:txBody>
                    <a:bodyPr wrap="square"/>
                    <a:lstStyle/>
                    <a:p>
                      <a:pPr algn="l"/>
                      <a:r>
                        <a:rPr sz="900" b="1" i="0">
                          <a:solidFill>
                            <a:srgbClr val="2B2B2B"/>
                          </a:solidFill>
                          <a:latin typeface="Segoe UI"/>
                        </a:rPr>
                        <a:t>Senior Analyst</a:t>
                      </a:r>
                    </a:p>
                  </a:txBody>
                  <a:tcPr marT="18288" marR="64008" marB="18288" marL="64008" anchor="ctr">
                    <a:lnB w="6350" cap="flat" cmpd="sng" algn="ctr">
                      <a:solidFill>
                        <a:srgbClr val="E1E1E1"/>
                      </a:solidFill>
                    </a:lnB>
                    <a:noFill/>
                  </a:tcPr>
                </a:tc>
                <a:tc>
                  <a:txBody>
                    <a:bodyPr wrap="square"/>
                    <a:lstStyle/>
                    <a:p>
                      <a:pPr algn="r"/>
                      <a:r>
                        <a:rPr sz="1100" b="1" i="0">
                          <a:solidFill>
                            <a:srgbClr val="008C95"/>
                          </a:solidFill>
                          <a:latin typeface="Segoe UI"/>
                        </a:rPr>
                        <a:t>45</a:t>
                      </a:r>
                    </a:p>
                  </a:txBody>
                  <a:tcPr marT="18288" marR="64008" marB="18288" marL="64008" anchor="ctr">
                    <a:lnB w="6350" cap="flat" cmpd="sng" algn="ctr">
                      <a:solidFill>
                        <a:srgbClr val="E1E1E1"/>
                      </a:solidFill>
                    </a:lnB>
                    <a:noFill/>
                  </a:tcPr>
                </a:tc>
                <a:tc>
                  <a:txBody>
                    <a:bodyPr wrap="square"/>
                    <a:lstStyle/>
                    <a:p>
                      <a:pPr algn="l"/>
                      <a:r>
                        <a:rPr sz="800" b="0" i="0">
                          <a:solidFill>
                            <a:srgbClr val="767676"/>
                          </a:solidFill>
                          <a:latin typeface="Segoe UI"/>
                        </a:rPr>
                        <a:t>Dev Angular · QA · DevOps</a:t>
                      </a:r>
                    </a:p>
                  </a:txBody>
                  <a:tcPr marT="18288" marR="64008" marB="18288" marL="64008" anchor="ctr">
                    <a:lnB w="6350" cap="flat" cmpd="sng" algn="ctr">
                      <a:solidFill>
                        <a:srgbClr val="E1E1E1"/>
                      </a:solidFill>
                    </a:lnB>
                    <a:noFill/>
                  </a:tcPr>
                </a:tc>
              </a:tr>
              <a:tr h="365760">
                <a:tc>
                  <a:txBody>
                    <a:bodyPr wrap="square"/>
                    <a:lstStyle/>
                    <a:p>
                      <a:pPr algn="l"/>
                      <a:r>
                        <a:rPr sz="900" b="1" i="0">
                          <a:solidFill>
                            <a:srgbClr val="2B2B2B"/>
                          </a:solidFill>
                          <a:latin typeface="Segoe UI"/>
                        </a:rPr>
                        <a:t>Analyst</a:t>
                      </a:r>
                    </a:p>
                  </a:txBody>
                  <a:tcPr marT="18288" marR="64008" marB="18288" marL="64008" anchor="ctr">
                    <a:lnB w="6350" cap="flat" cmpd="sng" algn="ctr">
                      <a:solidFill>
                        <a:srgbClr val="E1E1E1"/>
                      </a:solidFill>
                    </a:lnB>
                    <a:solidFill>
                      <a:srgbClr val="FAFAFB"/>
                    </a:solidFill>
                  </a:tcPr>
                </a:tc>
                <a:tc>
                  <a:txBody>
                    <a:bodyPr wrap="square"/>
                    <a:lstStyle/>
                    <a:p>
                      <a:pPr algn="r"/>
                      <a:r>
                        <a:rPr sz="1100" b="1" i="0">
                          <a:solidFill>
                            <a:srgbClr val="767676"/>
                          </a:solidFill>
                          <a:latin typeface="Segoe UI"/>
                        </a:rPr>
                        <a:t>35</a:t>
                      </a:r>
                    </a:p>
                  </a:txBody>
                  <a:tcPr marT="18288" marR="64008" marB="18288" marL="64008" anchor="ctr">
                    <a:lnB w="6350" cap="flat" cmpd="sng" algn="ctr">
                      <a:solidFill>
                        <a:srgbClr val="E1E1E1"/>
                      </a:solidFill>
                    </a:lnB>
                    <a:solidFill>
                      <a:srgbClr val="FAFAFB"/>
                    </a:solidFill>
                  </a:tcPr>
                </a:tc>
                <a:tc>
                  <a:txBody>
                    <a:bodyPr wrap="square"/>
                    <a:lstStyle/>
                    <a:p>
                      <a:pPr algn="l"/>
                      <a:r>
                        <a:rPr sz="800" b="0" i="0">
                          <a:solidFill>
                            <a:srgbClr val="767676"/>
                          </a:solidFill>
                          <a:latin typeface="Segoe UI"/>
                        </a:rPr>
                        <a:t>Apoio</a:t>
                      </a:r>
                    </a:p>
                  </a:txBody>
                  <a:tcPr marT="18288" marR="64008" marB="18288" marL="64008" anchor="ctr">
                    <a:lnB w="6350" cap="flat" cmpd="sng" algn="ctr">
                      <a:solidFill>
                        <a:srgbClr val="E1E1E1"/>
                      </a:solidFill>
                    </a:lnB>
                    <a:solidFill>
                      <a:srgbClr val="FAFAFB"/>
                    </a:solidFill>
                  </a:tcPr>
                </a:tc>
              </a:tr>
              <a:tr h="365760">
                <a:tc>
                  <a:txBody>
                    <a:bodyPr wrap="square"/>
                    <a:lstStyle/>
                    <a:p>
                      <a:pPr algn="l"/>
                      <a:r>
                        <a:rPr sz="900" b="1" i="0">
                          <a:solidFill>
                            <a:srgbClr val="2B2B2B"/>
                          </a:solidFill>
                          <a:latin typeface="Segoe UI"/>
                        </a:rPr>
                        <a:t>Shared Service · Onshore</a:t>
                      </a:r>
                    </a:p>
                  </a:txBody>
                  <a:tcPr marT="18288" marR="64008" marB="18288" marL="64008" anchor="ctr">
                    <a:lnB w="6350" cap="flat" cmpd="sng" algn="ctr">
                      <a:solidFill>
                        <a:srgbClr val="E1E1E1"/>
                      </a:solidFill>
                    </a:lnB>
                    <a:noFill/>
                  </a:tcPr>
                </a:tc>
                <a:tc>
                  <a:txBody>
                    <a:bodyPr wrap="square"/>
                    <a:lstStyle/>
                    <a:p>
                      <a:pPr algn="r"/>
                      <a:r>
                        <a:rPr sz="1100" b="1" i="0">
                          <a:solidFill>
                            <a:srgbClr val="4B912A"/>
                          </a:solidFill>
                          <a:latin typeface="Segoe UI"/>
                        </a:rPr>
                        <a:t>38</a:t>
                      </a:r>
                    </a:p>
                  </a:txBody>
                  <a:tcPr marT="18288" marR="64008" marB="18288" marL="64008" anchor="ctr">
                    <a:lnB w="6350" cap="flat" cmpd="sng" algn="ctr">
                      <a:solidFill>
                        <a:srgbClr val="E1E1E1"/>
                      </a:solidFill>
                    </a:lnB>
                    <a:noFill/>
                  </a:tcPr>
                </a:tc>
                <a:tc>
                  <a:txBody>
                    <a:bodyPr wrap="square"/>
                    <a:lstStyle/>
                    <a:p>
                      <a:pPr algn="l"/>
                      <a:r>
                        <a:rPr sz="800" b="0" i="0">
                          <a:solidFill>
                            <a:srgbClr val="767676"/>
                          </a:solidFill>
                          <a:latin typeface="Segoe UI"/>
                        </a:rPr>
                        <a:t>Pod da AVA Fabric Factory (blended)</a:t>
                      </a:r>
                    </a:p>
                  </a:txBody>
                  <a:tcPr marT="18288" marR="64008" marB="18288" marL="64008" anchor="ctr">
                    <a:lnB w="6350" cap="flat" cmpd="sng" algn="ctr">
                      <a:solidFill>
                        <a:srgbClr val="E1E1E1"/>
                      </a:solidFill>
                    </a:lnB>
                    <a:noFill/>
                  </a:tcPr>
                </a:tc>
              </a:tr>
            </a:tbl>
          </a:graphicData>
        </a:graphic>
      </p:graphicFrame>
      <p:sp>
        <p:nvSpPr>
          <p:cNvPr id="28" name="Rounded Rectangle 27"/>
          <p:cNvSpPr/>
          <p:nvPr/>
        </p:nvSpPr>
        <p:spPr>
          <a:xfrm>
            <a:off x="411480" y="4187952"/>
            <a:ext cx="7589520" cy="1801367"/>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9" name="TextBox 28"/>
          <p:cNvSpPr txBox="1"/>
          <p:nvPr/>
        </p:nvSpPr>
        <p:spPr>
          <a:xfrm>
            <a:off x="594360" y="4334256"/>
            <a:ext cx="722376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008C95"/>
                </a:solidFill>
                <a:latin typeface="Segoe UI"/>
              </a:rPr>
              <a:t>1.4 · BASELINE DE REFERÊNCIA — RUN REAL NOPCOMMERCE-04</a:t>
            </a:r>
          </a:p>
        </p:txBody>
      </p:sp>
      <p:sp>
        <p:nvSpPr>
          <p:cNvPr id="30" name="Rounded Rectangle 29"/>
          <p:cNvSpPr/>
          <p:nvPr/>
        </p:nvSpPr>
        <p:spPr>
          <a:xfrm>
            <a:off x="594360"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1" name="TextBox 30"/>
          <p:cNvSpPr txBox="1"/>
          <p:nvPr/>
        </p:nvSpPr>
        <p:spPr>
          <a:xfrm>
            <a:off x="621792"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254.001</a:t>
            </a:r>
          </a:p>
          <a:p>
            <a:pPr algn="ctr">
              <a:lnSpc>
                <a:spcPct val="90000"/>
              </a:lnSpc>
              <a:spcBef>
                <a:spcPts val="0"/>
              </a:spcBef>
              <a:spcAft>
                <a:spcPts val="0"/>
              </a:spcAft>
            </a:pPr>
            <a:r>
              <a:rPr sz="750" b="0" i="0">
                <a:solidFill>
                  <a:srgbClr val="767676"/>
                </a:solidFill>
                <a:latin typeface="Segoe UI"/>
              </a:rPr>
              <a:t>LOC</a:t>
            </a:r>
          </a:p>
        </p:txBody>
      </p:sp>
      <p:sp>
        <p:nvSpPr>
          <p:cNvPr id="32" name="Rounded Rectangle 31"/>
          <p:cNvSpPr/>
          <p:nvPr/>
        </p:nvSpPr>
        <p:spPr>
          <a:xfrm>
            <a:off x="1506474"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3" name="TextBox 32"/>
          <p:cNvSpPr txBox="1"/>
          <p:nvPr/>
        </p:nvSpPr>
        <p:spPr>
          <a:xfrm>
            <a:off x="1533906"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1.731</a:t>
            </a:r>
          </a:p>
          <a:p>
            <a:pPr algn="ctr">
              <a:lnSpc>
                <a:spcPct val="90000"/>
              </a:lnSpc>
              <a:spcBef>
                <a:spcPts val="0"/>
              </a:spcBef>
              <a:spcAft>
                <a:spcPts val="0"/>
              </a:spcAft>
            </a:pPr>
            <a:r>
              <a:rPr sz="750" b="0" i="0">
                <a:solidFill>
                  <a:srgbClr val="767676"/>
                </a:solidFill>
                <a:latin typeface="Segoe UI"/>
              </a:rPr>
              <a:t>arquivos</a:t>
            </a:r>
          </a:p>
        </p:txBody>
      </p:sp>
      <p:sp>
        <p:nvSpPr>
          <p:cNvPr id="34" name="Rounded Rectangle 33"/>
          <p:cNvSpPr/>
          <p:nvPr/>
        </p:nvSpPr>
        <p:spPr>
          <a:xfrm>
            <a:off x="2418588"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5" name="TextBox 34"/>
          <p:cNvSpPr txBox="1"/>
          <p:nvPr/>
        </p:nvSpPr>
        <p:spPr>
          <a:xfrm>
            <a:off x="2446020"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24</a:t>
            </a:r>
          </a:p>
          <a:p>
            <a:pPr algn="ctr">
              <a:lnSpc>
                <a:spcPct val="90000"/>
              </a:lnSpc>
              <a:spcBef>
                <a:spcPts val="0"/>
              </a:spcBef>
              <a:spcAft>
                <a:spcPts val="0"/>
              </a:spcAft>
            </a:pPr>
            <a:r>
              <a:rPr sz="750" b="0" i="0">
                <a:solidFill>
                  <a:srgbClr val="767676"/>
                </a:solidFill>
                <a:latin typeface="Segoe UI"/>
              </a:rPr>
              <a:t>integrações</a:t>
            </a:r>
          </a:p>
        </p:txBody>
      </p:sp>
      <p:sp>
        <p:nvSpPr>
          <p:cNvPr id="36" name="Rounded Rectangle 35"/>
          <p:cNvSpPr/>
          <p:nvPr/>
        </p:nvSpPr>
        <p:spPr>
          <a:xfrm>
            <a:off x="3330701"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7" name="TextBox 36"/>
          <p:cNvSpPr txBox="1"/>
          <p:nvPr/>
        </p:nvSpPr>
        <p:spPr>
          <a:xfrm>
            <a:off x="3358133"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116</a:t>
            </a:r>
          </a:p>
          <a:p>
            <a:pPr algn="ctr">
              <a:lnSpc>
                <a:spcPct val="90000"/>
              </a:lnSpc>
              <a:spcBef>
                <a:spcPts val="0"/>
              </a:spcBef>
              <a:spcAft>
                <a:spcPts val="0"/>
              </a:spcAft>
            </a:pPr>
            <a:r>
              <a:rPr sz="750" b="0" i="0">
                <a:solidFill>
                  <a:srgbClr val="767676"/>
                </a:solidFill>
                <a:latin typeface="Segoe UI"/>
              </a:rPr>
              <a:t>telas / forms</a:t>
            </a:r>
          </a:p>
        </p:txBody>
      </p:sp>
      <p:sp>
        <p:nvSpPr>
          <p:cNvPr id="38" name="Rounded Rectangle 37"/>
          <p:cNvSpPr/>
          <p:nvPr/>
        </p:nvSpPr>
        <p:spPr>
          <a:xfrm>
            <a:off x="4242816"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9" name="TextBox 38"/>
          <p:cNvSpPr txBox="1"/>
          <p:nvPr/>
        </p:nvSpPr>
        <p:spPr>
          <a:xfrm>
            <a:off x="4270248"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10</a:t>
            </a:r>
          </a:p>
          <a:p>
            <a:pPr algn="ctr">
              <a:lnSpc>
                <a:spcPct val="90000"/>
              </a:lnSpc>
              <a:spcBef>
                <a:spcPts val="0"/>
              </a:spcBef>
              <a:spcAft>
                <a:spcPts val="0"/>
              </a:spcAft>
            </a:pPr>
            <a:r>
              <a:rPr sz="750" b="0" i="0">
                <a:solidFill>
                  <a:srgbClr val="767676"/>
                </a:solidFill>
                <a:latin typeface="Segoe UI"/>
              </a:rPr>
              <a:t>bounded contexts</a:t>
            </a:r>
          </a:p>
        </p:txBody>
      </p:sp>
      <p:sp>
        <p:nvSpPr>
          <p:cNvPr id="40" name="Rounded Rectangle 39"/>
          <p:cNvSpPr/>
          <p:nvPr/>
        </p:nvSpPr>
        <p:spPr>
          <a:xfrm>
            <a:off x="5154930"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1" name="TextBox 40"/>
          <p:cNvSpPr txBox="1"/>
          <p:nvPr/>
        </p:nvSpPr>
        <p:spPr>
          <a:xfrm>
            <a:off x="5182362"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394</a:t>
            </a:r>
          </a:p>
          <a:p>
            <a:pPr algn="ctr">
              <a:lnSpc>
                <a:spcPct val="90000"/>
              </a:lnSpc>
              <a:spcBef>
                <a:spcPts val="0"/>
              </a:spcBef>
              <a:spcAft>
                <a:spcPts val="0"/>
              </a:spcAft>
            </a:pPr>
            <a:r>
              <a:rPr sz="750" b="0" i="0">
                <a:solidFill>
                  <a:srgbClr val="767676"/>
                </a:solidFill>
                <a:latin typeface="Segoe UI"/>
              </a:rPr>
              <a:t>tasks</a:t>
            </a:r>
          </a:p>
        </p:txBody>
      </p:sp>
      <p:sp>
        <p:nvSpPr>
          <p:cNvPr id="42" name="Rounded Rectangle 41"/>
          <p:cNvSpPr/>
          <p:nvPr/>
        </p:nvSpPr>
        <p:spPr>
          <a:xfrm>
            <a:off x="6067044"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3" name="TextBox 42"/>
          <p:cNvSpPr txBox="1"/>
          <p:nvPr/>
        </p:nvSpPr>
        <p:spPr>
          <a:xfrm>
            <a:off x="6094476"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800 h</a:t>
            </a:r>
          </a:p>
          <a:p>
            <a:pPr algn="ctr">
              <a:lnSpc>
                <a:spcPct val="90000"/>
              </a:lnSpc>
              <a:spcBef>
                <a:spcPts val="0"/>
              </a:spcBef>
              <a:spcAft>
                <a:spcPts val="0"/>
              </a:spcAft>
            </a:pPr>
            <a:r>
              <a:rPr sz="750" b="0" i="0">
                <a:solidFill>
                  <a:srgbClr val="767676"/>
                </a:solidFill>
                <a:latin typeface="Segoe UI"/>
              </a:rPr>
              <a:t>PoC de referência</a:t>
            </a:r>
          </a:p>
        </p:txBody>
      </p:sp>
      <p:sp>
        <p:nvSpPr>
          <p:cNvPr id="44" name="Rounded Rectangle 43"/>
          <p:cNvSpPr/>
          <p:nvPr/>
        </p:nvSpPr>
        <p:spPr>
          <a:xfrm>
            <a:off x="6979158" y="4645152"/>
            <a:ext cx="838962" cy="914400"/>
          </a:xfrm>
          <a:prstGeom prst="roundRect">
            <a:avLst>
              <a:gd name="adj" fmla="val 10000"/>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5" name="TextBox 44"/>
          <p:cNvSpPr txBox="1"/>
          <p:nvPr/>
        </p:nvSpPr>
        <p:spPr>
          <a:xfrm>
            <a:off x="7006590" y="4681728"/>
            <a:ext cx="784097" cy="841248"/>
          </a:xfrm>
          <a:prstGeom prst="rect">
            <a:avLst/>
          </a:prstGeom>
          <a:noFill/>
        </p:spPr>
        <p:txBody>
          <a:bodyPr wrap="square" tIns="0" rIns="0" bIns="0" lIns="0" anchor="ctr">
            <a:spAutoFit/>
          </a:bodyPr>
          <a:lstStyle/>
          <a:p>
            <a:pPr algn="ctr">
              <a:lnSpc>
                <a:spcPct val="90000"/>
              </a:lnSpc>
              <a:spcBef>
                <a:spcPts val="0"/>
              </a:spcBef>
              <a:spcAft>
                <a:spcPts val="0"/>
              </a:spcAft>
            </a:pPr>
            <a:r>
              <a:rPr sz="1300" b="1" i="0">
                <a:solidFill>
                  <a:srgbClr val="008C95"/>
                </a:solidFill>
                <a:latin typeface="Segoe UI"/>
              </a:rPr>
              <a:t>US$ 1,58</a:t>
            </a:r>
          </a:p>
          <a:p>
            <a:pPr algn="ctr">
              <a:lnSpc>
                <a:spcPct val="90000"/>
              </a:lnSpc>
              <a:spcBef>
                <a:spcPts val="0"/>
              </a:spcBef>
              <a:spcAft>
                <a:spcPts val="0"/>
              </a:spcAft>
            </a:pPr>
            <a:r>
              <a:rPr sz="750" b="0" i="0">
                <a:solidFill>
                  <a:srgbClr val="767676"/>
                </a:solidFill>
                <a:latin typeface="Segoe UI"/>
              </a:rPr>
              <a:t>IA por task</a:t>
            </a:r>
          </a:p>
        </p:txBody>
      </p:sp>
      <p:sp>
        <p:nvSpPr>
          <p:cNvPr id="46" name="TextBox 45"/>
          <p:cNvSpPr txBox="1"/>
          <p:nvPr/>
        </p:nvSpPr>
        <p:spPr>
          <a:xfrm>
            <a:off x="594360" y="5650992"/>
            <a:ext cx="7223760" cy="256032"/>
          </a:xfrm>
          <a:prstGeom prst="rect">
            <a:avLst/>
          </a:prstGeom>
          <a:noFill/>
        </p:spPr>
        <p:txBody>
          <a:bodyPr wrap="square" tIns="0" rIns="0" bIns="0" lIns="0" anchor="t">
            <a:spAutoFit/>
          </a:bodyPr>
          <a:lstStyle/>
          <a:p>
            <a:pPr algn="l">
              <a:spcBef>
                <a:spcPts val="0"/>
              </a:spcBef>
              <a:spcAft>
                <a:spcPts val="0"/>
              </a:spcAft>
            </a:pPr>
            <a:r>
              <a:rPr sz="800" b="0" i="1">
                <a:solidFill>
                  <a:srgbClr val="767676"/>
                </a:solidFill>
                <a:latin typeface="Segoe UI"/>
              </a:rPr>
              <a:t>Toda a volumetria do cliente é medida contra esta régua — é ela que transforma tamanho em esforço.</a:t>
            </a:r>
          </a:p>
        </p:txBody>
      </p:sp>
      <p:sp>
        <p:nvSpPr>
          <p:cNvPr id="47" name="Rounded Rectangle 46"/>
          <p:cNvSpPr/>
          <p:nvPr/>
        </p:nvSpPr>
        <p:spPr>
          <a:xfrm>
            <a:off x="8257031" y="4187952"/>
            <a:ext cx="3523457" cy="1801367"/>
          </a:xfrm>
          <a:prstGeom prst="roundRect">
            <a:avLst>
              <a:gd name="adj" fmla="val 6000"/>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8" name="TextBox 47"/>
          <p:cNvSpPr txBox="1"/>
          <p:nvPr/>
        </p:nvSpPr>
        <p:spPr>
          <a:xfrm>
            <a:off x="8439911" y="4334256"/>
            <a:ext cx="3157697"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B414"/>
                </a:solidFill>
                <a:latin typeface="Segoe UI"/>
              </a:rPr>
              <a:t>1.5 · PREÇO DO MODELO DE IA</a:t>
            </a:r>
          </a:p>
        </p:txBody>
      </p:sp>
      <p:sp>
        <p:nvSpPr>
          <p:cNvPr id="49" name="TextBox 48"/>
          <p:cNvSpPr txBox="1"/>
          <p:nvPr/>
        </p:nvSpPr>
        <p:spPr>
          <a:xfrm>
            <a:off x="8439911" y="4608576"/>
            <a:ext cx="3157697" cy="502920"/>
          </a:xfrm>
          <a:prstGeom prst="rect">
            <a:avLst/>
          </a:prstGeom>
          <a:noFill/>
        </p:spPr>
        <p:txBody>
          <a:bodyPr wrap="square" tIns="0" rIns="0" bIns="0" lIns="0" anchor="t">
            <a:spAutoFit/>
          </a:bodyPr>
          <a:lstStyle/>
          <a:p>
            <a:pPr algn="l">
              <a:lnSpc>
                <a:spcPct val="90000"/>
              </a:lnSpc>
              <a:spcBef>
                <a:spcPts val="0"/>
              </a:spcBef>
              <a:spcAft>
                <a:spcPts val="0"/>
              </a:spcAft>
            </a:pPr>
            <a:r>
              <a:rPr sz="1700" b="1" i="0">
                <a:solidFill>
                  <a:srgbClr val="FFFFFF"/>
                </a:solidFill>
                <a:latin typeface="Segoe UI"/>
              </a:rPr>
              <a:t>US$ 3</a:t>
            </a:r>
          </a:p>
          <a:p>
            <a:pPr algn="l">
              <a:lnSpc>
                <a:spcPct val="90000"/>
              </a:lnSpc>
              <a:spcBef>
                <a:spcPts val="0"/>
              </a:spcBef>
              <a:spcAft>
                <a:spcPts val="0"/>
              </a:spcAft>
            </a:pPr>
            <a:r>
              <a:rPr sz="750" b="0" i="0" spc="40">
                <a:solidFill>
                  <a:srgbClr val="B8B8B8"/>
                </a:solidFill>
                <a:latin typeface="Segoe UI"/>
              </a:rPr>
              <a:t>por 1M tokens de ENTRADA</a:t>
            </a:r>
          </a:p>
        </p:txBody>
      </p:sp>
      <p:sp>
        <p:nvSpPr>
          <p:cNvPr id="50" name="TextBox 49"/>
          <p:cNvSpPr txBox="1"/>
          <p:nvPr/>
        </p:nvSpPr>
        <p:spPr>
          <a:xfrm>
            <a:off x="8439911" y="5138928"/>
            <a:ext cx="3157697" cy="502920"/>
          </a:xfrm>
          <a:prstGeom prst="rect">
            <a:avLst/>
          </a:prstGeom>
          <a:noFill/>
        </p:spPr>
        <p:txBody>
          <a:bodyPr wrap="square" tIns="0" rIns="0" bIns="0" lIns="0" anchor="t">
            <a:spAutoFit/>
          </a:bodyPr>
          <a:lstStyle/>
          <a:p>
            <a:pPr algn="l">
              <a:lnSpc>
                <a:spcPct val="90000"/>
              </a:lnSpc>
              <a:spcBef>
                <a:spcPts val="0"/>
              </a:spcBef>
              <a:spcAft>
                <a:spcPts val="0"/>
              </a:spcAft>
            </a:pPr>
            <a:r>
              <a:rPr sz="1700" b="1" i="0">
                <a:solidFill>
                  <a:srgbClr val="FFFFFF"/>
                </a:solidFill>
                <a:latin typeface="Segoe UI"/>
              </a:rPr>
              <a:t>US$ 15</a:t>
            </a:r>
          </a:p>
          <a:p>
            <a:pPr algn="l">
              <a:lnSpc>
                <a:spcPct val="90000"/>
              </a:lnSpc>
              <a:spcBef>
                <a:spcPts val="0"/>
              </a:spcBef>
              <a:spcAft>
                <a:spcPts val="0"/>
              </a:spcAft>
            </a:pPr>
            <a:r>
              <a:rPr sz="750" b="0" i="0" spc="40">
                <a:solidFill>
                  <a:srgbClr val="B8B8B8"/>
                </a:solidFill>
                <a:latin typeface="Segoe UI"/>
              </a:rPr>
              <a:t>por 1M tokens de SAÍDA</a:t>
            </a:r>
          </a:p>
        </p:txBody>
      </p:sp>
      <p:sp>
        <p:nvSpPr>
          <p:cNvPr id="51" name="TextBox 50"/>
          <p:cNvSpPr txBox="1"/>
          <p:nvPr/>
        </p:nvSpPr>
        <p:spPr>
          <a:xfrm>
            <a:off x="8439911" y="5705856"/>
            <a:ext cx="3157697" cy="402336"/>
          </a:xfrm>
          <a:prstGeom prst="rect">
            <a:avLst/>
          </a:prstGeom>
          <a:noFill/>
        </p:spPr>
        <p:txBody>
          <a:bodyPr wrap="square" tIns="0" rIns="0" bIns="0" lIns="0" anchor="t">
            <a:spAutoFit/>
          </a:bodyPr>
          <a:lstStyle/>
          <a:p>
            <a:pPr algn="l">
              <a:lnSpc>
                <a:spcPct val="95000"/>
              </a:lnSpc>
              <a:spcBef>
                <a:spcPts val="0"/>
              </a:spcBef>
              <a:spcAft>
                <a:spcPts val="0"/>
              </a:spcAft>
            </a:pPr>
            <a:r>
              <a:rPr sz="750" b="0" i="0">
                <a:solidFill>
                  <a:srgbClr val="9E9E9E"/>
                </a:solidFill>
                <a:latin typeface="Segoe UI"/>
              </a:rPr>
              <a:t>Tarifas públicas de referência — alimentam o cálculo bottom-up da aba IA.</a:t>
            </a:r>
          </a:p>
        </p:txBody>
      </p:sp>
      <p:sp>
        <p:nvSpPr>
          <p:cNvPr id="52" name="TextBox 51"/>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Regra de margem: cada linha de custo carrega a sua própria margem (%), pré-carregada com a margem padrão — 10% / 15% / 20% / 25% na lista, ou qualquer valor digitado. A margem é por item, nunca global.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3 · VOLUMETRIA</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Volumetria</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Do tamanho do legado ao esforço da PoC. Comparada ao baseline, a volumetria produz o Combined Base Factor.</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5989320" cy="2743200"/>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94360" y="1170432"/>
            <a:ext cx="5623559"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2.1 · SOMA PONDERADA CONTRA O BASELINE</a:t>
            </a:r>
          </a:p>
        </p:txBody>
      </p:sp>
      <p:graphicFrame>
        <p:nvGraphicFramePr>
          <p:cNvPr id="9" name="Table 8"/>
          <p:cNvGraphicFramePr>
            <a:graphicFrameLocks noGrp="1"/>
          </p:cNvGraphicFramePr>
          <p:nvPr/>
        </p:nvGraphicFramePr>
        <p:xfrm>
          <a:off x="557784" y="1444752"/>
          <a:ext cx="5696711" cy="1901952"/>
        </p:xfrm>
        <a:graphic>
          <a:graphicData uri="http://schemas.openxmlformats.org/drawingml/2006/table">
            <a:tbl>
              <a:tblPr firstRow="0" bandRow="0">
                <a:tableStyleId>{2D5ABB26-0587-4C30-8999-92F81FD0307C}</a:tableStyleId>
              </a:tblPr>
              <a:tblGrid>
                <a:gridCol w="1572768"/>
                <a:gridCol w="1042415"/>
                <a:gridCol w="877824"/>
                <a:gridCol w="658368"/>
                <a:gridCol w="566928"/>
                <a:gridCol w="978408"/>
              </a:tblGrid>
              <a:tr h="256032">
                <a:tc>
                  <a:txBody>
                    <a:bodyPr wrap="square"/>
                    <a:lstStyle/>
                    <a:p>
                      <a:pPr algn="l"/>
                      <a:r>
                        <a:rPr sz="750" b="1" i="0">
                          <a:solidFill>
                            <a:srgbClr val="767676"/>
                          </a:solidFill>
                          <a:latin typeface="Segoe UI"/>
                        </a:rPr>
                        <a:t>CATEGORIA</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CLIENTE</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BASELINE</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RATIO</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PESO</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CONTRIBUIÇÃO</a:t>
                      </a:r>
                    </a:p>
                  </a:txBody>
                  <a:tcPr marT="18288" marR="64008" marB="18288" marL="64008" anchor="ctr">
                    <a:lnB w="9525" cap="flat" cmpd="sng" algn="ctr">
                      <a:solidFill>
                        <a:srgbClr val="2B2B2B"/>
                      </a:solidFill>
                    </a:lnB>
                    <a:noFill/>
                  </a:tcPr>
                </a:tc>
              </a:tr>
              <a:tr h="329184">
                <a:tc>
                  <a:txBody>
                    <a:bodyPr wrap="square"/>
                    <a:lstStyle/>
                    <a:p>
                      <a:pPr algn="l"/>
                      <a:r>
                        <a:rPr sz="900" b="1" i="0">
                          <a:solidFill>
                            <a:srgbClr val="2B2B2B"/>
                          </a:solidFill>
                          <a:latin typeface="Segoe UI"/>
                        </a:rPr>
                        <a:t>Codebase Size</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2B2B2B"/>
                          </a:solidFill>
                          <a:latin typeface="Segoe UI"/>
                        </a:rPr>
                        <a:t>400</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767676"/>
                          </a:solidFill>
                          <a:latin typeface="Segoe UI"/>
                        </a:rPr>
                        <a:t>1.731</a:t>
                      </a:r>
                    </a:p>
                  </a:txBody>
                  <a:tcPr marT="18288" marR="64008" marB="18288" marL="64008" anchor="ctr">
                    <a:lnB w="6350" cap="flat" cmpd="sng" algn="ctr">
                      <a:solidFill>
                        <a:srgbClr val="E1E1E1"/>
                      </a:solidFill>
                    </a:lnB>
                    <a:solidFill>
                      <a:srgbClr val="FAFAFB"/>
                    </a:solidFill>
                  </a:tcPr>
                </a:tc>
                <a:tc>
                  <a:txBody>
                    <a:bodyPr wrap="square"/>
                    <a:lstStyle/>
                    <a:p>
                      <a:pPr algn="r"/>
                      <a:r>
                        <a:rPr sz="900" b="1" i="0">
                          <a:solidFill>
                            <a:srgbClr val="767676"/>
                          </a:solidFill>
                          <a:latin typeface="Segoe UI"/>
                        </a:rPr>
                        <a:t>0,23×</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767676"/>
                          </a:solidFill>
                          <a:latin typeface="Segoe UI"/>
                        </a:rPr>
                        <a:t>10%</a:t>
                      </a:r>
                    </a:p>
                  </a:txBody>
                  <a:tcPr marT="18288" marR="64008" marB="18288" marL="64008" anchor="ctr">
                    <a:lnB w="6350" cap="flat" cmpd="sng" algn="ctr">
                      <a:solidFill>
                        <a:srgbClr val="E1E1E1"/>
                      </a:solidFill>
                    </a:lnB>
                    <a:solidFill>
                      <a:srgbClr val="FAFAFB"/>
                    </a:solidFill>
                  </a:tcPr>
                </a:tc>
                <a:tc>
                  <a:txBody>
                    <a:bodyPr wrap="square"/>
                    <a:lstStyle/>
                    <a:p>
                      <a:pPr algn="r"/>
                      <a:r>
                        <a:rPr sz="900" b="1" i="0">
                          <a:solidFill>
                            <a:srgbClr val="767676"/>
                          </a:solidFill>
                          <a:latin typeface="Segoe UI"/>
                        </a:rPr>
                        <a:t>0,023</a:t>
                      </a:r>
                    </a:p>
                  </a:txBody>
                  <a:tcPr marT="18288" marR="64008" marB="18288" marL="64008" anchor="ctr">
                    <a:lnB w="6350" cap="flat" cmpd="sng" algn="ctr">
                      <a:solidFill>
                        <a:srgbClr val="E1E1E1"/>
                      </a:solidFill>
                    </a:lnB>
                    <a:solidFill>
                      <a:srgbClr val="FAFAFB"/>
                    </a:solidFill>
                  </a:tcPr>
                </a:tc>
              </a:tr>
              <a:tr h="329184">
                <a:tc>
                  <a:txBody>
                    <a:bodyPr wrap="square"/>
                    <a:lstStyle/>
                    <a:p>
                      <a:pPr algn="l"/>
                      <a:r>
                        <a:rPr sz="900" b="1" i="0">
                          <a:solidFill>
                            <a:srgbClr val="2B2B2B"/>
                          </a:solidFill>
                          <a:latin typeface="Segoe UI"/>
                        </a:rPr>
                        <a:t>Lines of Code</a:t>
                      </a:r>
                    </a:p>
                  </a:txBody>
                  <a:tcPr marT="18288" marR="64008" marB="18288" marL="64008" anchor="ctr">
                    <a:lnB w="6350" cap="flat" cmpd="sng" algn="ctr">
                      <a:solidFill>
                        <a:srgbClr val="E1E1E1"/>
                      </a:solidFill>
                    </a:lnB>
                    <a:noFill/>
                  </a:tcPr>
                </a:tc>
                <a:tc>
                  <a:txBody>
                    <a:bodyPr wrap="square"/>
                    <a:lstStyle/>
                    <a:p>
                      <a:pPr algn="r"/>
                      <a:r>
                        <a:rPr sz="900" b="0" i="0">
                          <a:solidFill>
                            <a:srgbClr val="2B2B2B"/>
                          </a:solidFill>
                          <a:latin typeface="Segoe UI"/>
                        </a:rPr>
                        <a:t>2.028.576</a:t>
                      </a:r>
                    </a:p>
                  </a:txBody>
                  <a:tcPr marT="18288" marR="64008" marB="18288" marL="64008" anchor="ctr">
                    <a:lnB w="6350" cap="flat" cmpd="sng" algn="ctr">
                      <a:solidFill>
                        <a:srgbClr val="E1E1E1"/>
                      </a:solidFill>
                    </a:lnB>
                    <a:noFill/>
                  </a:tcPr>
                </a:tc>
                <a:tc>
                  <a:txBody>
                    <a:bodyPr wrap="square"/>
                    <a:lstStyle/>
                    <a:p>
                      <a:pPr algn="r"/>
                      <a:r>
                        <a:rPr sz="900" b="0" i="0">
                          <a:solidFill>
                            <a:srgbClr val="767676"/>
                          </a:solidFill>
                          <a:latin typeface="Segoe UI"/>
                        </a:rPr>
                        <a:t>254.001</a:t>
                      </a:r>
                    </a:p>
                  </a:txBody>
                  <a:tcPr marT="18288" marR="64008" marB="18288" marL="64008" anchor="ctr">
                    <a:lnB w="6350" cap="flat" cmpd="sng" algn="ctr">
                      <a:solidFill>
                        <a:srgbClr val="E1E1E1"/>
                      </a:solidFill>
                    </a:lnB>
                    <a:noFill/>
                  </a:tcPr>
                </a:tc>
                <a:tc>
                  <a:txBody>
                    <a:bodyPr wrap="square"/>
                    <a:lstStyle/>
                    <a:p>
                      <a:pPr algn="r"/>
                      <a:r>
                        <a:rPr sz="900" b="1" i="0">
                          <a:solidFill>
                            <a:srgbClr val="FF5800"/>
                          </a:solidFill>
                          <a:latin typeface="Segoe UI"/>
                        </a:rPr>
                        <a:t>7,99×</a:t>
                      </a:r>
                    </a:p>
                  </a:txBody>
                  <a:tcPr marT="18288" marR="64008" marB="18288" marL="64008" anchor="ctr">
                    <a:lnB w="6350" cap="flat" cmpd="sng" algn="ctr">
                      <a:solidFill>
                        <a:srgbClr val="E1E1E1"/>
                      </a:solidFill>
                    </a:lnB>
                    <a:noFill/>
                  </a:tcPr>
                </a:tc>
                <a:tc>
                  <a:txBody>
                    <a:bodyPr wrap="square"/>
                    <a:lstStyle/>
                    <a:p>
                      <a:pPr algn="r"/>
                      <a:r>
                        <a:rPr sz="900" b="0" i="0">
                          <a:solidFill>
                            <a:srgbClr val="767676"/>
                          </a:solidFill>
                          <a:latin typeface="Segoe UI"/>
                        </a:rPr>
                        <a:t>50%</a:t>
                      </a:r>
                    </a:p>
                  </a:txBody>
                  <a:tcPr marT="18288" marR="64008" marB="18288" marL="64008" anchor="ctr">
                    <a:lnB w="6350" cap="flat" cmpd="sng" algn="ctr">
                      <a:solidFill>
                        <a:srgbClr val="E1E1E1"/>
                      </a:solidFill>
                    </a:lnB>
                    <a:noFill/>
                  </a:tcPr>
                </a:tc>
                <a:tc>
                  <a:txBody>
                    <a:bodyPr wrap="square"/>
                    <a:lstStyle/>
                    <a:p>
                      <a:pPr algn="r"/>
                      <a:r>
                        <a:rPr sz="1000" b="1" i="0">
                          <a:solidFill>
                            <a:srgbClr val="2B2B2B"/>
                          </a:solidFill>
                          <a:latin typeface="Segoe UI"/>
                        </a:rPr>
                        <a:t>3,993</a:t>
                      </a:r>
                    </a:p>
                  </a:txBody>
                  <a:tcPr marT="18288" marR="64008" marB="18288" marL="64008" anchor="ctr">
                    <a:lnB w="6350" cap="flat" cmpd="sng" algn="ctr">
                      <a:solidFill>
                        <a:srgbClr val="E1E1E1"/>
                      </a:solidFill>
                    </a:lnB>
                    <a:noFill/>
                  </a:tcPr>
                </a:tc>
              </a:tr>
              <a:tr h="329184">
                <a:tc>
                  <a:txBody>
                    <a:bodyPr wrap="square"/>
                    <a:lstStyle/>
                    <a:p>
                      <a:pPr algn="l"/>
                      <a:r>
                        <a:rPr sz="900" b="1" i="0">
                          <a:solidFill>
                            <a:srgbClr val="2B2B2B"/>
                          </a:solidFill>
                          <a:latin typeface="Segoe UI"/>
                        </a:rPr>
                        <a:t>Integrations</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2B2B2B"/>
                          </a:solidFill>
                          <a:latin typeface="Segoe UI"/>
                        </a:rPr>
                        <a:t>45</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767676"/>
                          </a:solidFill>
                          <a:latin typeface="Segoe UI"/>
                        </a:rPr>
                        <a:t>24</a:t>
                      </a:r>
                    </a:p>
                  </a:txBody>
                  <a:tcPr marT="18288" marR="64008" marB="18288" marL="64008" anchor="ctr">
                    <a:lnB w="6350" cap="flat" cmpd="sng" algn="ctr">
                      <a:solidFill>
                        <a:srgbClr val="E1E1E1"/>
                      </a:solidFill>
                    </a:lnB>
                    <a:solidFill>
                      <a:srgbClr val="FAFAFB"/>
                    </a:solidFill>
                  </a:tcPr>
                </a:tc>
                <a:tc>
                  <a:txBody>
                    <a:bodyPr wrap="square"/>
                    <a:lstStyle/>
                    <a:p>
                      <a:pPr algn="r"/>
                      <a:r>
                        <a:rPr sz="900" b="1" i="0">
                          <a:solidFill>
                            <a:srgbClr val="008C95"/>
                          </a:solidFill>
                          <a:latin typeface="Segoe UI"/>
                        </a:rPr>
                        <a:t>1,88×</a:t>
                      </a:r>
                    </a:p>
                  </a:txBody>
                  <a:tcPr marT="18288" marR="64008" marB="18288" marL="64008" anchor="ctr">
                    <a:lnB w="6350" cap="flat" cmpd="sng" algn="ctr">
                      <a:solidFill>
                        <a:srgbClr val="E1E1E1"/>
                      </a:solidFill>
                    </a:lnB>
                    <a:solidFill>
                      <a:srgbClr val="FAFAFB"/>
                    </a:solidFill>
                  </a:tcPr>
                </a:tc>
                <a:tc>
                  <a:txBody>
                    <a:bodyPr wrap="square"/>
                    <a:lstStyle/>
                    <a:p>
                      <a:pPr algn="r"/>
                      <a:r>
                        <a:rPr sz="900" b="0" i="0">
                          <a:solidFill>
                            <a:srgbClr val="767676"/>
                          </a:solidFill>
                          <a:latin typeface="Segoe UI"/>
                        </a:rPr>
                        <a:t>20%</a:t>
                      </a:r>
                    </a:p>
                  </a:txBody>
                  <a:tcPr marT="18288" marR="64008" marB="18288" marL="64008" anchor="ctr">
                    <a:lnB w="6350" cap="flat" cmpd="sng" algn="ctr">
                      <a:solidFill>
                        <a:srgbClr val="E1E1E1"/>
                      </a:solidFill>
                    </a:lnB>
                    <a:solidFill>
                      <a:srgbClr val="FAFAFB"/>
                    </a:solidFill>
                  </a:tcPr>
                </a:tc>
                <a:tc>
                  <a:txBody>
                    <a:bodyPr wrap="square"/>
                    <a:lstStyle/>
                    <a:p>
                      <a:pPr algn="r"/>
                      <a:r>
                        <a:rPr sz="900" b="1" i="0">
                          <a:solidFill>
                            <a:srgbClr val="767676"/>
                          </a:solidFill>
                          <a:latin typeface="Segoe UI"/>
                        </a:rPr>
                        <a:t>0,375</a:t>
                      </a:r>
                    </a:p>
                  </a:txBody>
                  <a:tcPr marT="18288" marR="64008" marB="18288" marL="64008" anchor="ctr">
                    <a:lnB w="6350" cap="flat" cmpd="sng" algn="ctr">
                      <a:solidFill>
                        <a:srgbClr val="E1E1E1"/>
                      </a:solidFill>
                    </a:lnB>
                    <a:solidFill>
                      <a:srgbClr val="FAFAFB"/>
                    </a:solidFill>
                  </a:tcPr>
                </a:tc>
              </a:tr>
              <a:tr h="329184">
                <a:tc>
                  <a:txBody>
                    <a:bodyPr wrap="square"/>
                    <a:lstStyle/>
                    <a:p>
                      <a:pPr algn="l"/>
                      <a:r>
                        <a:rPr sz="900" b="1" i="0">
                          <a:solidFill>
                            <a:srgbClr val="2B2B2B"/>
                          </a:solidFill>
                          <a:latin typeface="Segoe UI"/>
                        </a:rPr>
                        <a:t>Forms / Screens</a:t>
                      </a:r>
                    </a:p>
                  </a:txBody>
                  <a:tcPr marT="18288" marR="64008" marB="18288" marL="64008" anchor="ctr">
                    <a:lnB w="6350" cap="flat" cmpd="sng" algn="ctr">
                      <a:solidFill>
                        <a:srgbClr val="E1E1E1"/>
                      </a:solidFill>
                    </a:lnB>
                    <a:noFill/>
                  </a:tcPr>
                </a:tc>
                <a:tc>
                  <a:txBody>
                    <a:bodyPr wrap="square"/>
                    <a:lstStyle/>
                    <a:p>
                      <a:pPr algn="r"/>
                      <a:r>
                        <a:rPr sz="900" b="0" i="0">
                          <a:solidFill>
                            <a:srgbClr val="2B2B2B"/>
                          </a:solidFill>
                          <a:latin typeface="Segoe UI"/>
                        </a:rPr>
                        <a:t>776</a:t>
                      </a:r>
                    </a:p>
                  </a:txBody>
                  <a:tcPr marT="18288" marR="64008" marB="18288" marL="64008" anchor="ctr">
                    <a:lnB w="6350" cap="flat" cmpd="sng" algn="ctr">
                      <a:solidFill>
                        <a:srgbClr val="E1E1E1"/>
                      </a:solidFill>
                    </a:lnB>
                    <a:noFill/>
                  </a:tcPr>
                </a:tc>
                <a:tc>
                  <a:txBody>
                    <a:bodyPr wrap="square"/>
                    <a:lstStyle/>
                    <a:p>
                      <a:pPr algn="r"/>
                      <a:r>
                        <a:rPr sz="900" b="0" i="0">
                          <a:solidFill>
                            <a:srgbClr val="767676"/>
                          </a:solidFill>
                          <a:latin typeface="Segoe UI"/>
                        </a:rPr>
                        <a:t>116</a:t>
                      </a:r>
                    </a:p>
                  </a:txBody>
                  <a:tcPr marT="18288" marR="64008" marB="18288" marL="64008" anchor="ctr">
                    <a:lnB w="6350" cap="flat" cmpd="sng" algn="ctr">
                      <a:solidFill>
                        <a:srgbClr val="E1E1E1"/>
                      </a:solidFill>
                    </a:lnB>
                    <a:noFill/>
                  </a:tcPr>
                </a:tc>
                <a:tc>
                  <a:txBody>
                    <a:bodyPr wrap="square"/>
                    <a:lstStyle/>
                    <a:p>
                      <a:pPr algn="r"/>
                      <a:r>
                        <a:rPr sz="900" b="1" i="0">
                          <a:solidFill>
                            <a:srgbClr val="2F4A6B"/>
                          </a:solidFill>
                          <a:latin typeface="Segoe UI"/>
                        </a:rPr>
                        <a:t>6,69×</a:t>
                      </a:r>
                    </a:p>
                  </a:txBody>
                  <a:tcPr marT="18288" marR="64008" marB="18288" marL="64008" anchor="ctr">
                    <a:lnB w="6350" cap="flat" cmpd="sng" algn="ctr">
                      <a:solidFill>
                        <a:srgbClr val="E1E1E1"/>
                      </a:solidFill>
                    </a:lnB>
                    <a:noFill/>
                  </a:tcPr>
                </a:tc>
                <a:tc>
                  <a:txBody>
                    <a:bodyPr wrap="square"/>
                    <a:lstStyle/>
                    <a:p>
                      <a:pPr algn="r"/>
                      <a:r>
                        <a:rPr sz="900" b="0" i="0">
                          <a:solidFill>
                            <a:srgbClr val="767676"/>
                          </a:solidFill>
                          <a:latin typeface="Segoe UI"/>
                        </a:rPr>
                        <a:t>20%</a:t>
                      </a:r>
                    </a:p>
                  </a:txBody>
                  <a:tcPr marT="18288" marR="64008" marB="18288" marL="64008" anchor="ctr">
                    <a:lnB w="6350" cap="flat" cmpd="sng" algn="ctr">
                      <a:solidFill>
                        <a:srgbClr val="E1E1E1"/>
                      </a:solidFill>
                    </a:lnB>
                    <a:noFill/>
                  </a:tcPr>
                </a:tc>
                <a:tc>
                  <a:txBody>
                    <a:bodyPr wrap="square"/>
                    <a:lstStyle/>
                    <a:p>
                      <a:pPr algn="r"/>
                      <a:r>
                        <a:rPr sz="1000" b="1" i="0">
                          <a:solidFill>
                            <a:srgbClr val="2B2B2B"/>
                          </a:solidFill>
                          <a:latin typeface="Segoe UI"/>
                        </a:rPr>
                        <a:t>1,338</a:t>
                      </a:r>
                    </a:p>
                  </a:txBody>
                  <a:tcPr marT="18288" marR="64008" marB="18288" marL="64008" anchor="ctr">
                    <a:lnB w="6350" cap="flat" cmpd="sng" algn="ctr">
                      <a:solidFill>
                        <a:srgbClr val="E1E1E1"/>
                      </a:solidFill>
                    </a:lnB>
                    <a:noFill/>
                  </a:tcPr>
                </a:tc>
              </a:tr>
              <a:tr h="329184">
                <a:tc>
                  <a:txBody>
                    <a:bodyPr/>
                    <a:lstStyle/>
                    <a:p/>
                  </a:txBody>
                  <a:tcPr/>
                </a:tc>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10" name="Rectangle 9"/>
          <p:cNvSpPr/>
          <p:nvPr/>
        </p:nvSpPr>
        <p:spPr>
          <a:xfrm>
            <a:off x="557784" y="3383280"/>
            <a:ext cx="5696712" cy="365760"/>
          </a:xfrm>
          <a:prstGeom prst="rect">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1" name="TextBox 10"/>
          <p:cNvSpPr txBox="1"/>
          <p:nvPr/>
        </p:nvSpPr>
        <p:spPr>
          <a:xfrm>
            <a:off x="685800" y="3433572"/>
            <a:ext cx="3657600" cy="292608"/>
          </a:xfrm>
          <a:prstGeom prst="rect">
            <a:avLst/>
          </a:prstGeom>
          <a:noFill/>
        </p:spPr>
        <p:txBody>
          <a:bodyPr wrap="square" tIns="0" rIns="0" bIns="0" lIns="0" anchor="t">
            <a:spAutoFit/>
          </a:bodyPr>
          <a:lstStyle/>
          <a:p>
            <a:pPr algn="l">
              <a:spcBef>
                <a:spcPts val="0"/>
              </a:spcBef>
              <a:spcAft>
                <a:spcPts val="0"/>
              </a:spcAft>
            </a:pPr>
            <a:r>
              <a:rPr sz="900" b="1" i="0">
                <a:solidFill>
                  <a:srgbClr val="2B2B2B"/>
                </a:solidFill>
                <a:latin typeface="Segoe UI"/>
              </a:rPr>
              <a:t>Índice de volumetria (soma ponderada)</a:t>
            </a:r>
          </a:p>
        </p:txBody>
      </p:sp>
      <p:sp>
        <p:nvSpPr>
          <p:cNvPr id="12" name="TextBox 11"/>
          <p:cNvSpPr txBox="1"/>
          <p:nvPr/>
        </p:nvSpPr>
        <p:spPr>
          <a:xfrm>
            <a:off x="4892040" y="3410712"/>
            <a:ext cx="1280160" cy="310896"/>
          </a:xfrm>
          <a:prstGeom prst="rect">
            <a:avLst/>
          </a:prstGeom>
          <a:noFill/>
        </p:spPr>
        <p:txBody>
          <a:bodyPr wrap="square" tIns="0" rIns="0" bIns="0" lIns="0" anchor="t">
            <a:spAutoFit/>
          </a:bodyPr>
          <a:lstStyle/>
          <a:p>
            <a:pPr algn="r">
              <a:spcBef>
                <a:spcPts val="0"/>
              </a:spcBef>
              <a:spcAft>
                <a:spcPts val="0"/>
              </a:spcAft>
            </a:pPr>
            <a:r>
              <a:rPr sz="1400" b="1" i="0">
                <a:solidFill>
                  <a:srgbClr val="FF5800"/>
                </a:solidFill>
                <a:latin typeface="Segoe UI"/>
              </a:rPr>
              <a:t>5,73</a:t>
            </a:r>
          </a:p>
        </p:txBody>
      </p:sp>
      <p:sp>
        <p:nvSpPr>
          <p:cNvPr id="13" name="Rounded Rectangle 12"/>
          <p:cNvSpPr/>
          <p:nvPr/>
        </p:nvSpPr>
        <p:spPr>
          <a:xfrm>
            <a:off x="6656832" y="1024128"/>
            <a:ext cx="5123657" cy="2743200"/>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4" name="TextBox 13"/>
          <p:cNvSpPr txBox="1"/>
          <p:nvPr/>
        </p:nvSpPr>
        <p:spPr>
          <a:xfrm>
            <a:off x="6839712" y="1170432"/>
            <a:ext cx="4757897"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2.2–2.3 · DA VOLUMETRIA ÀS HORAS</a:t>
            </a:r>
          </a:p>
        </p:txBody>
      </p:sp>
      <p:sp>
        <p:nvSpPr>
          <p:cNvPr id="15" name="Rectangle 14"/>
          <p:cNvSpPr/>
          <p:nvPr/>
        </p:nvSpPr>
        <p:spPr>
          <a:xfrm>
            <a:off x="6803136" y="1444752"/>
            <a:ext cx="32004" cy="333756"/>
          </a:xfrm>
          <a:prstGeom prst="rect">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6" name="TextBox 15"/>
          <p:cNvSpPr txBox="1"/>
          <p:nvPr/>
        </p:nvSpPr>
        <p:spPr>
          <a:xfrm>
            <a:off x="6931152" y="1463040"/>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Índice de volumetria</a:t>
            </a:r>
          </a:p>
          <a:p>
            <a:pPr algn="l">
              <a:lnSpc>
                <a:spcPct val="88000"/>
              </a:lnSpc>
              <a:spcBef>
                <a:spcPts val="0"/>
              </a:spcBef>
              <a:spcAft>
                <a:spcPts val="0"/>
              </a:spcAft>
            </a:pPr>
            <a:r>
              <a:rPr sz="750" b="0" i="0">
                <a:solidFill>
                  <a:srgbClr val="9B9B9B"/>
                </a:solidFill>
                <a:latin typeface="Segoe UI"/>
              </a:rPr>
              <a:t>soma ponderada das 4 métricas</a:t>
            </a:r>
          </a:p>
        </p:txBody>
      </p:sp>
      <p:sp>
        <p:nvSpPr>
          <p:cNvPr id="17" name="TextBox 16"/>
          <p:cNvSpPr txBox="1"/>
          <p:nvPr/>
        </p:nvSpPr>
        <p:spPr>
          <a:xfrm>
            <a:off x="10363169" y="1467612"/>
            <a:ext cx="1234440" cy="352044"/>
          </a:xfrm>
          <a:prstGeom prst="rect">
            <a:avLst/>
          </a:prstGeom>
          <a:noFill/>
        </p:spPr>
        <p:txBody>
          <a:bodyPr wrap="square" tIns="0" rIns="0" bIns="0" lIns="0" anchor="t">
            <a:spAutoFit/>
          </a:bodyPr>
          <a:lstStyle/>
          <a:p>
            <a:pPr algn="r">
              <a:spcBef>
                <a:spcPts val="0"/>
              </a:spcBef>
              <a:spcAft>
                <a:spcPts val="0"/>
              </a:spcAft>
            </a:pPr>
            <a:r>
              <a:rPr sz="1150" b="1" i="0">
                <a:solidFill>
                  <a:srgbClr val="767676"/>
                </a:solidFill>
                <a:latin typeface="Segoe UI"/>
              </a:rPr>
              <a:t>5,73</a:t>
            </a:r>
          </a:p>
        </p:txBody>
      </p:sp>
      <p:sp>
        <p:nvSpPr>
          <p:cNvPr id="18" name="Rectangle 17"/>
          <p:cNvSpPr/>
          <p:nvPr/>
        </p:nvSpPr>
        <p:spPr>
          <a:xfrm>
            <a:off x="6803136" y="1796796"/>
            <a:ext cx="32004" cy="333756"/>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9" name="TextBox 18"/>
          <p:cNvSpPr txBox="1"/>
          <p:nvPr/>
        </p:nvSpPr>
        <p:spPr>
          <a:xfrm>
            <a:off x="6931152" y="1815084"/>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 Stack legada — Delphi 5/7/XE</a:t>
            </a:r>
          </a:p>
          <a:p>
            <a:pPr algn="l">
              <a:lnSpc>
                <a:spcPct val="88000"/>
              </a:lnSpc>
              <a:spcBef>
                <a:spcPts val="0"/>
              </a:spcBef>
              <a:spcAft>
                <a:spcPts val="0"/>
              </a:spcAft>
            </a:pPr>
            <a:r>
              <a:rPr sz="750" b="0" i="0">
                <a:solidFill>
                  <a:srgbClr val="9B9B9B"/>
                </a:solidFill>
                <a:latin typeface="Segoe UI"/>
              </a:rPr>
              <a:t>multiplicador de tecnologia</a:t>
            </a:r>
          </a:p>
        </p:txBody>
      </p:sp>
      <p:sp>
        <p:nvSpPr>
          <p:cNvPr id="20" name="TextBox 19"/>
          <p:cNvSpPr txBox="1"/>
          <p:nvPr/>
        </p:nvSpPr>
        <p:spPr>
          <a:xfrm>
            <a:off x="10363169" y="1819656"/>
            <a:ext cx="1234440" cy="352044"/>
          </a:xfrm>
          <a:prstGeom prst="rect">
            <a:avLst/>
          </a:prstGeom>
          <a:noFill/>
        </p:spPr>
        <p:txBody>
          <a:bodyPr wrap="square" tIns="0" rIns="0" bIns="0" lIns="0" anchor="t">
            <a:spAutoFit/>
          </a:bodyPr>
          <a:lstStyle/>
          <a:p>
            <a:pPr algn="r">
              <a:spcBef>
                <a:spcPts val="0"/>
              </a:spcBef>
              <a:spcAft>
                <a:spcPts val="0"/>
              </a:spcAft>
            </a:pPr>
            <a:r>
              <a:rPr sz="1150" b="1" i="0">
                <a:solidFill>
                  <a:srgbClr val="2F4A6B"/>
                </a:solidFill>
                <a:latin typeface="Segoe UI"/>
              </a:rPr>
              <a:t>1,25</a:t>
            </a:r>
          </a:p>
        </p:txBody>
      </p:sp>
      <p:sp>
        <p:nvSpPr>
          <p:cNvPr id="21" name="Rectangle 20"/>
          <p:cNvSpPr/>
          <p:nvPr/>
        </p:nvSpPr>
        <p:spPr>
          <a:xfrm>
            <a:off x="6803136" y="2148840"/>
            <a:ext cx="32004" cy="333756"/>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2" name="TextBox 21"/>
          <p:cNvSpPr txBox="1"/>
          <p:nvPr/>
        </p:nvSpPr>
        <p:spPr>
          <a:xfrm>
            <a:off x="6931152" y="2167128"/>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 Tipo de migração — Refactor</a:t>
            </a:r>
          </a:p>
          <a:p>
            <a:pPr algn="l">
              <a:lnSpc>
                <a:spcPct val="88000"/>
              </a:lnSpc>
              <a:spcBef>
                <a:spcPts val="0"/>
              </a:spcBef>
              <a:spcAft>
                <a:spcPts val="0"/>
              </a:spcAft>
            </a:pPr>
            <a:r>
              <a:rPr sz="750" b="0" i="0">
                <a:solidFill>
                  <a:srgbClr val="9B9B9B"/>
                </a:solidFill>
                <a:latin typeface="Segoe UI"/>
              </a:rPr>
              <a:t>Rehost 0,60 · Replatform 0,85 · Rebuild 1,25</a:t>
            </a:r>
          </a:p>
        </p:txBody>
      </p:sp>
      <p:sp>
        <p:nvSpPr>
          <p:cNvPr id="23" name="TextBox 22"/>
          <p:cNvSpPr txBox="1"/>
          <p:nvPr/>
        </p:nvSpPr>
        <p:spPr>
          <a:xfrm>
            <a:off x="10363169" y="2171700"/>
            <a:ext cx="1234440" cy="352044"/>
          </a:xfrm>
          <a:prstGeom prst="rect">
            <a:avLst/>
          </a:prstGeom>
          <a:noFill/>
        </p:spPr>
        <p:txBody>
          <a:bodyPr wrap="square" tIns="0" rIns="0" bIns="0" lIns="0" anchor="t">
            <a:spAutoFit/>
          </a:bodyPr>
          <a:lstStyle/>
          <a:p>
            <a:pPr algn="r">
              <a:spcBef>
                <a:spcPts val="0"/>
              </a:spcBef>
              <a:spcAft>
                <a:spcPts val="0"/>
              </a:spcAft>
            </a:pPr>
            <a:r>
              <a:rPr sz="1150" b="1" i="0">
                <a:solidFill>
                  <a:srgbClr val="2F4A6B"/>
                </a:solidFill>
                <a:latin typeface="Segoe UI"/>
              </a:rPr>
              <a:t>1,00</a:t>
            </a:r>
          </a:p>
        </p:txBody>
      </p:sp>
      <p:sp>
        <p:nvSpPr>
          <p:cNvPr id="24" name="Rectangle 23"/>
          <p:cNvSpPr/>
          <p:nvPr/>
        </p:nvSpPr>
        <p:spPr>
          <a:xfrm>
            <a:off x="6803136" y="2500884"/>
            <a:ext cx="4831049" cy="333756"/>
          </a:xfrm>
          <a:prstGeom prst="rect">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5" name="Rectangle 24"/>
          <p:cNvSpPr/>
          <p:nvPr/>
        </p:nvSpPr>
        <p:spPr>
          <a:xfrm>
            <a:off x="6803136" y="2500884"/>
            <a:ext cx="32004" cy="333756"/>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6" name="TextBox 25"/>
          <p:cNvSpPr txBox="1"/>
          <p:nvPr/>
        </p:nvSpPr>
        <p:spPr>
          <a:xfrm>
            <a:off x="6931152" y="2519172"/>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 Combined Base Factor</a:t>
            </a:r>
          </a:p>
          <a:p>
            <a:pPr algn="l">
              <a:lnSpc>
                <a:spcPct val="88000"/>
              </a:lnSpc>
              <a:spcBef>
                <a:spcPts val="0"/>
              </a:spcBef>
              <a:spcAft>
                <a:spcPts val="0"/>
              </a:spcAft>
            </a:pPr>
            <a:r>
              <a:rPr sz="750" b="0" i="0">
                <a:solidFill>
                  <a:srgbClr val="9B9B9B"/>
                </a:solidFill>
                <a:latin typeface="Segoe UI"/>
              </a:rPr>
              <a:t>quantas vezes o sistema é maior que o baseline</a:t>
            </a:r>
          </a:p>
        </p:txBody>
      </p:sp>
      <p:sp>
        <p:nvSpPr>
          <p:cNvPr id="27" name="TextBox 26"/>
          <p:cNvSpPr txBox="1"/>
          <p:nvPr/>
        </p:nvSpPr>
        <p:spPr>
          <a:xfrm>
            <a:off x="10363169" y="2523744"/>
            <a:ext cx="1234440" cy="352044"/>
          </a:xfrm>
          <a:prstGeom prst="rect">
            <a:avLst/>
          </a:prstGeom>
          <a:noFill/>
        </p:spPr>
        <p:txBody>
          <a:bodyPr wrap="square" tIns="0" rIns="0" bIns="0" lIns="0" anchor="t">
            <a:spAutoFit/>
          </a:bodyPr>
          <a:lstStyle/>
          <a:p>
            <a:pPr algn="r">
              <a:spcBef>
                <a:spcPts val="0"/>
              </a:spcBef>
              <a:spcAft>
                <a:spcPts val="0"/>
              </a:spcAft>
            </a:pPr>
            <a:r>
              <a:rPr sz="1300" b="1" i="0">
                <a:solidFill>
                  <a:srgbClr val="FF5800"/>
                </a:solidFill>
                <a:latin typeface="Segoe UI"/>
              </a:rPr>
              <a:t>7,16×</a:t>
            </a:r>
          </a:p>
        </p:txBody>
      </p:sp>
      <p:sp>
        <p:nvSpPr>
          <p:cNvPr id="28" name="Rectangle 27"/>
          <p:cNvSpPr/>
          <p:nvPr/>
        </p:nvSpPr>
        <p:spPr>
          <a:xfrm>
            <a:off x="6803136" y="2852928"/>
            <a:ext cx="4831049" cy="333756"/>
          </a:xfrm>
          <a:prstGeom prst="rect">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9" name="Rectangle 28"/>
          <p:cNvSpPr/>
          <p:nvPr/>
        </p:nvSpPr>
        <p:spPr>
          <a:xfrm>
            <a:off x="6803136" y="2852928"/>
            <a:ext cx="32004" cy="333756"/>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0" name="TextBox 29"/>
          <p:cNvSpPr txBox="1"/>
          <p:nvPr/>
        </p:nvSpPr>
        <p:spPr>
          <a:xfrm>
            <a:off x="6931152" y="2871216"/>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 Fator de esforço da PoC</a:t>
            </a:r>
          </a:p>
          <a:p>
            <a:pPr algn="l">
              <a:lnSpc>
                <a:spcPct val="88000"/>
              </a:lnSpc>
              <a:spcBef>
                <a:spcPts val="0"/>
              </a:spcBef>
              <a:spcAft>
                <a:spcPts val="0"/>
              </a:spcAft>
            </a:pPr>
            <a:r>
              <a:rPr sz="750" b="0" i="0">
                <a:solidFill>
                  <a:srgbClr val="9B9B9B"/>
                </a:solidFill>
                <a:latin typeface="Segoe UI"/>
              </a:rPr>
              <a:t>sublinear: a PoC tem escopo fixo (1 BC piloto)</a:t>
            </a:r>
          </a:p>
        </p:txBody>
      </p:sp>
      <p:sp>
        <p:nvSpPr>
          <p:cNvPr id="31" name="TextBox 30"/>
          <p:cNvSpPr txBox="1"/>
          <p:nvPr/>
        </p:nvSpPr>
        <p:spPr>
          <a:xfrm>
            <a:off x="10363169" y="2875788"/>
            <a:ext cx="1234440" cy="352044"/>
          </a:xfrm>
          <a:prstGeom prst="rect">
            <a:avLst/>
          </a:prstGeom>
          <a:noFill/>
        </p:spPr>
        <p:txBody>
          <a:bodyPr wrap="square" tIns="0" rIns="0" bIns="0" lIns="0" anchor="t">
            <a:spAutoFit/>
          </a:bodyPr>
          <a:lstStyle/>
          <a:p>
            <a:pPr algn="r">
              <a:spcBef>
                <a:spcPts val="0"/>
              </a:spcBef>
              <a:spcAft>
                <a:spcPts val="0"/>
              </a:spcAft>
            </a:pPr>
            <a:r>
              <a:rPr sz="1300" b="1" i="0">
                <a:solidFill>
                  <a:srgbClr val="008C95"/>
                </a:solidFill>
                <a:latin typeface="Segoe UI"/>
              </a:rPr>
              <a:t>2,68×</a:t>
            </a:r>
          </a:p>
        </p:txBody>
      </p:sp>
      <p:sp>
        <p:nvSpPr>
          <p:cNvPr id="32" name="Rectangle 31"/>
          <p:cNvSpPr/>
          <p:nvPr/>
        </p:nvSpPr>
        <p:spPr>
          <a:xfrm>
            <a:off x="6803136" y="3204972"/>
            <a:ext cx="4831049" cy="333756"/>
          </a:xfrm>
          <a:prstGeom prst="rect">
            <a:avLst/>
          </a:prstGeom>
          <a:solidFill>
            <a:srgbClr val="EBF6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3" name="Rectangle 32"/>
          <p:cNvSpPr/>
          <p:nvPr/>
        </p:nvSpPr>
        <p:spPr>
          <a:xfrm>
            <a:off x="6803136" y="3204972"/>
            <a:ext cx="32004" cy="333756"/>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4" name="TextBox 33"/>
          <p:cNvSpPr txBox="1"/>
          <p:nvPr/>
        </p:nvSpPr>
        <p:spPr>
          <a:xfrm>
            <a:off x="6931152" y="3223260"/>
            <a:ext cx="3614897" cy="352044"/>
          </a:xfrm>
          <a:prstGeom prst="rect">
            <a:avLst/>
          </a:prstGeom>
          <a:noFill/>
        </p:spPr>
        <p:txBody>
          <a:bodyPr wrap="square" tIns="0" rIns="0" bIns="0" lIns="0" anchor="t">
            <a:spAutoFit/>
          </a:bodyPr>
          <a:lstStyle/>
          <a:p>
            <a:pPr algn="l">
              <a:lnSpc>
                <a:spcPct val="88000"/>
              </a:lnSpc>
              <a:spcBef>
                <a:spcPts val="0"/>
              </a:spcBef>
              <a:spcAft>
                <a:spcPts val="0"/>
              </a:spcAft>
            </a:pPr>
            <a:r>
              <a:rPr sz="900" b="1" i="0">
                <a:solidFill>
                  <a:srgbClr val="2B2B2B"/>
                </a:solidFill>
                <a:latin typeface="Segoe UI"/>
              </a:rPr>
              <a:t>= Horas recomendadas</a:t>
            </a:r>
          </a:p>
          <a:p>
            <a:pPr algn="l">
              <a:lnSpc>
                <a:spcPct val="88000"/>
              </a:lnSpc>
              <a:spcBef>
                <a:spcPts val="0"/>
              </a:spcBef>
              <a:spcAft>
                <a:spcPts val="0"/>
              </a:spcAft>
            </a:pPr>
            <a:r>
              <a:rPr sz="750" b="0" i="0">
                <a:solidFill>
                  <a:srgbClr val="9B9B9B"/>
                </a:solidFill>
                <a:latin typeface="Segoe UI"/>
              </a:rPr>
              <a:t>800 h de referência × fator de esforço</a:t>
            </a:r>
          </a:p>
        </p:txBody>
      </p:sp>
      <p:sp>
        <p:nvSpPr>
          <p:cNvPr id="35" name="TextBox 34"/>
          <p:cNvSpPr txBox="1"/>
          <p:nvPr/>
        </p:nvSpPr>
        <p:spPr>
          <a:xfrm>
            <a:off x="10363169" y="3227832"/>
            <a:ext cx="1234440" cy="352044"/>
          </a:xfrm>
          <a:prstGeom prst="rect">
            <a:avLst/>
          </a:prstGeom>
          <a:noFill/>
        </p:spPr>
        <p:txBody>
          <a:bodyPr wrap="square" tIns="0" rIns="0" bIns="0" lIns="0" anchor="t">
            <a:spAutoFit/>
          </a:bodyPr>
          <a:lstStyle/>
          <a:p>
            <a:pPr algn="r">
              <a:spcBef>
                <a:spcPts val="0"/>
              </a:spcBef>
              <a:spcAft>
                <a:spcPts val="0"/>
              </a:spcAft>
            </a:pPr>
            <a:r>
              <a:rPr sz="1300" b="1" i="0">
                <a:solidFill>
                  <a:srgbClr val="008C95"/>
                </a:solidFill>
                <a:latin typeface="Segoe UI"/>
              </a:rPr>
              <a:t>2.141 h</a:t>
            </a:r>
          </a:p>
        </p:txBody>
      </p:sp>
      <p:sp>
        <p:nvSpPr>
          <p:cNvPr id="36" name="Rounded Rectangle 35"/>
          <p:cNvSpPr/>
          <p:nvPr/>
        </p:nvSpPr>
        <p:spPr>
          <a:xfrm>
            <a:off x="411480" y="3950208"/>
            <a:ext cx="11369009" cy="1207008"/>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7" name="TextBox 36"/>
          <p:cNvSpPr txBox="1"/>
          <p:nvPr/>
        </p:nvSpPr>
        <p:spPr>
          <a:xfrm>
            <a:off x="594360" y="4087368"/>
            <a:ext cx="54864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CE056A"/>
                </a:solidFill>
                <a:latin typeface="Segoe UI"/>
              </a:rPr>
              <a:t>2.4 · BACKLOG ESTIMADO — O QUE DIRIGE O CUSTO DE IA EM F4</a:t>
            </a:r>
          </a:p>
        </p:txBody>
      </p:sp>
      <p:sp>
        <p:nvSpPr>
          <p:cNvPr id="38" name="Rounded Rectangle 37"/>
          <p:cNvSpPr/>
          <p:nvPr/>
        </p:nvSpPr>
        <p:spPr>
          <a:xfrm>
            <a:off x="594360" y="4352544"/>
            <a:ext cx="2462776" cy="676656"/>
          </a:xfrm>
          <a:prstGeom prst="roundRect">
            <a:avLst>
              <a:gd name="adj" fmla="val 8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9" name="TextBox 38"/>
          <p:cNvSpPr txBox="1"/>
          <p:nvPr/>
        </p:nvSpPr>
        <p:spPr>
          <a:xfrm>
            <a:off x="685800" y="4398264"/>
            <a:ext cx="2279896" cy="640080"/>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2B2B2B"/>
                </a:solidFill>
                <a:latin typeface="Segoe UI"/>
              </a:rPr>
              <a:t>3.147</a:t>
            </a:r>
            <a:r>
              <a:rPr sz="800" b="1" i="0">
                <a:solidFill>
                  <a:srgbClr val="2B2B2B"/>
                </a:solidFill>
                <a:latin typeface="Segoe UI"/>
              </a:rPr>
              <a:t>   tasks no programa completo</a:t>
            </a:r>
          </a:p>
          <a:p>
            <a:pPr algn="l">
              <a:lnSpc>
                <a:spcPct val="90000"/>
              </a:lnSpc>
              <a:spcBef>
                <a:spcPts val="100"/>
              </a:spcBef>
              <a:spcAft>
                <a:spcPts val="0"/>
              </a:spcAft>
            </a:pPr>
            <a:r>
              <a:rPr sz="750" b="0" i="0">
                <a:solidFill>
                  <a:srgbClr val="767676"/>
                </a:solidFill>
                <a:latin typeface="Segoe UI"/>
              </a:rPr>
              <a:t>proporcional ao LOC, calibrado em 394 tasks / 254.001 LOC</a:t>
            </a:r>
          </a:p>
        </p:txBody>
      </p:sp>
      <p:sp>
        <p:nvSpPr>
          <p:cNvPr id="40" name="TextBox 39"/>
          <p:cNvSpPr txBox="1"/>
          <p:nvPr/>
        </p:nvSpPr>
        <p:spPr>
          <a:xfrm>
            <a:off x="3102856" y="4553712"/>
            <a:ext cx="310896" cy="292608"/>
          </a:xfrm>
          <a:prstGeom prst="rect">
            <a:avLst/>
          </a:prstGeom>
          <a:noFill/>
        </p:spPr>
        <p:txBody>
          <a:bodyPr wrap="square" tIns="0" rIns="0" bIns="0" lIns="0" anchor="t">
            <a:spAutoFit/>
          </a:bodyPr>
          <a:lstStyle/>
          <a:p>
            <a:pPr algn="ctr">
              <a:spcBef>
                <a:spcPts val="0"/>
              </a:spcBef>
              <a:spcAft>
                <a:spcPts val="0"/>
              </a:spcAft>
            </a:pPr>
            <a:r>
              <a:rPr sz="1100" b="1" i="0">
                <a:solidFill>
                  <a:srgbClr val="C8C8C8"/>
                </a:solidFill>
                <a:latin typeface="Segoe UI"/>
              </a:rPr>
              <a:t>▶</a:t>
            </a:r>
          </a:p>
        </p:txBody>
      </p:sp>
      <p:sp>
        <p:nvSpPr>
          <p:cNvPr id="41" name="Rounded Rectangle 40"/>
          <p:cNvSpPr/>
          <p:nvPr/>
        </p:nvSpPr>
        <p:spPr>
          <a:xfrm>
            <a:off x="3441184" y="4352544"/>
            <a:ext cx="2462776" cy="676656"/>
          </a:xfrm>
          <a:prstGeom prst="roundRect">
            <a:avLst>
              <a:gd name="adj" fmla="val 8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2" name="TextBox 41"/>
          <p:cNvSpPr txBox="1"/>
          <p:nvPr/>
        </p:nvSpPr>
        <p:spPr>
          <a:xfrm>
            <a:off x="3532624" y="4398264"/>
            <a:ext cx="2279896" cy="640080"/>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2B2B2B"/>
                </a:solidFill>
                <a:latin typeface="Segoe UI"/>
              </a:rPr>
              <a:t>315</a:t>
            </a:r>
            <a:r>
              <a:rPr sz="800" b="1" i="0">
                <a:solidFill>
                  <a:srgbClr val="2B2B2B"/>
                </a:solidFill>
                <a:latin typeface="Segoe UI"/>
              </a:rPr>
              <a:t>   tasks por bounded context</a:t>
            </a:r>
          </a:p>
          <a:p>
            <a:pPr algn="l">
              <a:lnSpc>
                <a:spcPct val="90000"/>
              </a:lnSpc>
              <a:spcBef>
                <a:spcPts val="100"/>
              </a:spcBef>
              <a:spcAft>
                <a:spcPts val="0"/>
              </a:spcAft>
            </a:pPr>
            <a:r>
              <a:rPr sz="750" b="0" i="0">
                <a:solidFill>
                  <a:srgbClr val="767676"/>
                </a:solidFill>
                <a:latin typeface="Segoe UI"/>
              </a:rPr>
              <a:t>3.147 tasks ÷ 10 bounded contexts</a:t>
            </a:r>
          </a:p>
        </p:txBody>
      </p:sp>
      <p:sp>
        <p:nvSpPr>
          <p:cNvPr id="43" name="TextBox 42"/>
          <p:cNvSpPr txBox="1"/>
          <p:nvPr/>
        </p:nvSpPr>
        <p:spPr>
          <a:xfrm>
            <a:off x="5949680" y="4553712"/>
            <a:ext cx="310896" cy="292608"/>
          </a:xfrm>
          <a:prstGeom prst="rect">
            <a:avLst/>
          </a:prstGeom>
          <a:noFill/>
        </p:spPr>
        <p:txBody>
          <a:bodyPr wrap="square" tIns="0" rIns="0" bIns="0" lIns="0" anchor="t">
            <a:spAutoFit/>
          </a:bodyPr>
          <a:lstStyle/>
          <a:p>
            <a:pPr algn="ctr">
              <a:spcBef>
                <a:spcPts val="0"/>
              </a:spcBef>
              <a:spcAft>
                <a:spcPts val="0"/>
              </a:spcAft>
            </a:pPr>
            <a:r>
              <a:rPr sz="1100" b="1" i="0">
                <a:solidFill>
                  <a:srgbClr val="C8C8C8"/>
                </a:solidFill>
                <a:latin typeface="Segoe UI"/>
              </a:rPr>
              <a:t>▶</a:t>
            </a:r>
          </a:p>
        </p:txBody>
      </p:sp>
      <p:sp>
        <p:nvSpPr>
          <p:cNvPr id="44" name="Rounded Rectangle 43"/>
          <p:cNvSpPr/>
          <p:nvPr/>
        </p:nvSpPr>
        <p:spPr>
          <a:xfrm>
            <a:off x="6288008" y="4352544"/>
            <a:ext cx="2462776" cy="676656"/>
          </a:xfrm>
          <a:prstGeom prst="roundRect">
            <a:avLst>
              <a:gd name="adj" fmla="val 8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5" name="TextBox 44"/>
          <p:cNvSpPr txBox="1"/>
          <p:nvPr/>
        </p:nvSpPr>
        <p:spPr>
          <a:xfrm>
            <a:off x="6379448" y="4398264"/>
            <a:ext cx="2279896" cy="640080"/>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2B2B2B"/>
                </a:solidFill>
                <a:latin typeface="Segoe UI"/>
              </a:rPr>
              <a:t>40</a:t>
            </a:r>
            <a:r>
              <a:rPr sz="800" b="1" i="0">
                <a:solidFill>
                  <a:srgbClr val="2B2B2B"/>
                </a:solidFill>
                <a:latin typeface="Segoe UI"/>
              </a:rPr>
              <a:t>   teto de tasks de codegen na PoC</a:t>
            </a:r>
          </a:p>
          <a:p>
            <a:pPr algn="l">
              <a:lnSpc>
                <a:spcPct val="90000"/>
              </a:lnSpc>
              <a:spcBef>
                <a:spcPts val="100"/>
              </a:spcBef>
              <a:spcAft>
                <a:spcPts val="0"/>
              </a:spcAft>
            </a:pPr>
            <a:r>
              <a:rPr sz="750" b="0" i="0">
                <a:solidFill>
                  <a:srgbClr val="767676"/>
                </a:solidFill>
                <a:latin typeface="Segoe UI"/>
              </a:rPr>
              <a:t>capacidade real de F4 em 4 semanas com 1 dev sênior</a:t>
            </a:r>
          </a:p>
        </p:txBody>
      </p:sp>
      <p:sp>
        <p:nvSpPr>
          <p:cNvPr id="46" name="TextBox 45"/>
          <p:cNvSpPr txBox="1"/>
          <p:nvPr/>
        </p:nvSpPr>
        <p:spPr>
          <a:xfrm>
            <a:off x="8796505" y="4553712"/>
            <a:ext cx="310896" cy="292608"/>
          </a:xfrm>
          <a:prstGeom prst="rect">
            <a:avLst/>
          </a:prstGeom>
          <a:noFill/>
        </p:spPr>
        <p:txBody>
          <a:bodyPr wrap="square" tIns="0" rIns="0" bIns="0" lIns="0" anchor="t">
            <a:spAutoFit/>
          </a:bodyPr>
          <a:lstStyle/>
          <a:p>
            <a:pPr algn="ctr">
              <a:spcBef>
                <a:spcPts val="0"/>
              </a:spcBef>
              <a:spcAft>
                <a:spcPts val="0"/>
              </a:spcAft>
            </a:pPr>
            <a:r>
              <a:rPr sz="1100" b="1" i="0">
                <a:solidFill>
                  <a:srgbClr val="C8C8C8"/>
                </a:solidFill>
                <a:latin typeface="Segoe UI"/>
              </a:rPr>
              <a:t>▶</a:t>
            </a:r>
          </a:p>
        </p:txBody>
      </p:sp>
      <p:sp>
        <p:nvSpPr>
          <p:cNvPr id="47" name="Rounded Rectangle 46"/>
          <p:cNvSpPr/>
          <p:nvPr/>
        </p:nvSpPr>
        <p:spPr>
          <a:xfrm>
            <a:off x="9134833" y="4352544"/>
            <a:ext cx="2462776" cy="676656"/>
          </a:xfrm>
          <a:prstGeom prst="roundRect">
            <a:avLst>
              <a:gd name="adj" fmla="val 8000"/>
            </a:avLst>
          </a:prstGeom>
          <a:solidFill>
            <a:srgbClr val="FDEC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8" name="TextBox 47"/>
          <p:cNvSpPr txBox="1"/>
          <p:nvPr/>
        </p:nvSpPr>
        <p:spPr>
          <a:xfrm>
            <a:off x="9226273" y="4398264"/>
            <a:ext cx="2279896" cy="640080"/>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CE056A"/>
                </a:solidFill>
                <a:latin typeface="Segoe UI"/>
              </a:rPr>
              <a:t>40</a:t>
            </a:r>
            <a:r>
              <a:rPr sz="800" b="1" i="0">
                <a:solidFill>
                  <a:srgbClr val="CE056A"/>
                </a:solidFill>
                <a:latin typeface="Segoe UI"/>
              </a:rPr>
              <a:t>   tasks de codegen executadas (F4)</a:t>
            </a:r>
          </a:p>
          <a:p>
            <a:pPr algn="l">
              <a:lnSpc>
                <a:spcPct val="90000"/>
              </a:lnSpc>
              <a:spcBef>
                <a:spcPts val="100"/>
              </a:spcBef>
              <a:spcAft>
                <a:spcPts val="0"/>
              </a:spcAft>
            </a:pPr>
            <a:r>
              <a:rPr sz="750" b="0" i="0">
                <a:solidFill>
                  <a:srgbClr val="767676"/>
                </a:solidFill>
                <a:latin typeface="Segoe UI"/>
              </a:rPr>
              <a:t>MIN(tasks por BC ; teto) — a PoC é time-boxed</a:t>
            </a:r>
          </a:p>
        </p:txBody>
      </p:sp>
      <p:sp>
        <p:nvSpPr>
          <p:cNvPr id="49" name="Rounded Rectangle 48"/>
          <p:cNvSpPr/>
          <p:nvPr/>
        </p:nvSpPr>
        <p:spPr>
          <a:xfrm>
            <a:off x="411480" y="5303520"/>
            <a:ext cx="11369009" cy="685799"/>
          </a:xfrm>
          <a:prstGeom prst="roundRect">
            <a:avLst>
              <a:gd name="adj" fmla="val 6000"/>
            </a:avLst>
          </a:prstGeom>
          <a:solidFill>
            <a:srgbClr val="FFF8E6"/>
          </a:solidFill>
          <a:ln w="9525">
            <a:solidFill>
              <a:srgbClr val="FFB414"/>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50" name="Rectangle 49"/>
          <p:cNvSpPr/>
          <p:nvPr/>
        </p:nvSpPr>
        <p:spPr>
          <a:xfrm>
            <a:off x="411480" y="5304434"/>
            <a:ext cx="50292" cy="683971"/>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51" name="TextBox 50"/>
          <p:cNvSpPr txBox="1"/>
          <p:nvPr/>
        </p:nvSpPr>
        <p:spPr>
          <a:xfrm>
            <a:off x="667512" y="5394960"/>
            <a:ext cx="10866089" cy="685799"/>
          </a:xfrm>
          <a:prstGeom prst="rect">
            <a:avLst/>
          </a:prstGeom>
          <a:noFill/>
        </p:spPr>
        <p:txBody>
          <a:bodyPr wrap="square" tIns="0" rIns="0" bIns="0" lIns="0" anchor="t">
            <a:spAutoFit/>
          </a:bodyPr>
          <a:lstStyle/>
          <a:p>
            <a:pPr algn="l">
              <a:lnSpc>
                <a:spcPct val="95000"/>
              </a:lnSpc>
              <a:spcBef>
                <a:spcPts val="0"/>
              </a:spcBef>
              <a:spcAft>
                <a:spcPts val="0"/>
              </a:spcAft>
            </a:pPr>
            <a:r>
              <a:rPr sz="950" b="1" i="0">
                <a:solidFill>
                  <a:srgbClr val="B07600"/>
                </a:solidFill>
                <a:latin typeface="Segoe UI"/>
              </a:rPr>
              <a:t>⚠  Guardrail automático   </a:t>
            </a:r>
            <a:r>
              <a:rPr sz="900" b="0" i="0">
                <a:solidFill>
                  <a:srgbClr val="4A4A4A"/>
                </a:solidFill>
                <a:latin typeface="Segoe UI"/>
              </a:rPr>
              <a:t>— com a volumetria de exemplo carregada (2.028.576 LOC · 776 telas · 45 integrações), a calculadora recomenda </a:t>
            </a:r>
            <a:r>
              <a:rPr sz="900" b="1" i="0">
                <a:solidFill>
                  <a:srgbClr val="B07600"/>
                </a:solidFill>
                <a:latin typeface="Segoe UI"/>
              </a:rPr>
              <a:t>2.141 h</a:t>
            </a:r>
            <a:r>
              <a:rPr sz="900" b="0" i="0">
                <a:solidFill>
                  <a:srgbClr val="4A4A4A"/>
                </a:solidFill>
                <a:latin typeface="Segoe UI"/>
              </a:rPr>
              <a:t> contra as 800 h alocadas, e o BC piloto fica coberto em apenas </a:t>
            </a:r>
            <a:r>
              <a:rPr sz="900" b="1" i="0">
                <a:solidFill>
                  <a:srgbClr val="B07600"/>
                </a:solidFill>
                <a:latin typeface="Segoe UI"/>
              </a:rPr>
              <a:t>12,7%</a:t>
            </a:r>
            <a:r>
              <a:rPr sz="900" b="0" i="0">
                <a:solidFill>
                  <a:srgbClr val="4A4A4A"/>
                </a:solidFill>
                <a:latin typeface="Segoe UI"/>
              </a:rPr>
              <a:t>. A planilha sinaliza: selecione um BC menor, reduza o escopo ou amplie o prazo.</a:t>
            </a:r>
          </a:p>
        </p:txBody>
      </p:sp>
      <p:sp>
        <p:nvSpPr>
          <p:cNvPr id="52" name="TextBox 51"/>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A volumetria acima é o exemplo carregado na calculadora (sistema ~8× o baseline). Substitua pelos números reais do cliente para redimensionar horas, backlog e preço.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4 · EQUIPE</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Equipe Alocada</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É aqui que o preço é formado: horas × rate card por nível. Horas = alocação semanal × semanas da PoC.</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7699248" cy="4526280"/>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76072" y="1161288"/>
            <a:ext cx="45720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3.1 · ALOCAÇÃO DA POC — 11 PAPÉIS · 4 SEMANAS</a:t>
            </a:r>
          </a:p>
        </p:txBody>
      </p:sp>
      <p:sp>
        <p:nvSpPr>
          <p:cNvPr id="9" name="TextBox 8"/>
          <p:cNvSpPr txBox="1"/>
          <p:nvPr/>
        </p:nvSpPr>
        <p:spPr>
          <a:xfrm>
            <a:off x="5001767" y="1156716"/>
            <a:ext cx="2926080" cy="219456"/>
          </a:xfrm>
          <a:prstGeom prst="rect">
            <a:avLst/>
          </a:prstGeom>
          <a:noFill/>
        </p:spPr>
        <p:txBody>
          <a:bodyPr wrap="square" tIns="0" rIns="0" bIns="0" lIns="0" anchor="t">
            <a:spAutoFit/>
          </a:bodyPr>
          <a:lstStyle/>
          <a:p>
            <a:pPr algn="r">
              <a:spcBef>
                <a:spcPts val="0"/>
              </a:spcBef>
              <a:spcAft>
                <a:spcPts val="0"/>
              </a:spcAft>
            </a:pPr>
            <a:r>
              <a:rPr sz="750" b="0" i="1">
                <a:solidFill>
                  <a:srgbClr val="9B9B9B"/>
                </a:solidFill>
                <a:latin typeface="Segoe UI"/>
              </a:rPr>
              <a:t>custos já com margem de 20% por item</a:t>
            </a:r>
          </a:p>
        </p:txBody>
      </p:sp>
      <p:graphicFrame>
        <p:nvGraphicFramePr>
          <p:cNvPr id="10" name="Table 9"/>
          <p:cNvGraphicFramePr>
            <a:graphicFrameLocks noGrp="1"/>
          </p:cNvGraphicFramePr>
          <p:nvPr/>
        </p:nvGraphicFramePr>
        <p:xfrm>
          <a:off x="557784" y="1426464"/>
          <a:ext cx="7388352" cy="3973068"/>
        </p:xfrm>
        <a:graphic>
          <a:graphicData uri="http://schemas.openxmlformats.org/drawingml/2006/table">
            <a:tbl>
              <a:tblPr firstRow="0" bandRow="0">
                <a:tableStyleId>{2D5ABB26-0587-4C30-8999-92F81FD0307C}</a:tableStyleId>
              </a:tblPr>
              <a:tblGrid>
                <a:gridCol w="1188720"/>
                <a:gridCol w="2304288"/>
                <a:gridCol w="1170432"/>
                <a:gridCol w="384048"/>
                <a:gridCol w="384048"/>
                <a:gridCol w="512064"/>
                <a:gridCol w="475488"/>
                <a:gridCol w="969264"/>
              </a:tblGrid>
              <a:tr h="274320">
                <a:tc>
                  <a:txBody>
                    <a:bodyPr wrap="square"/>
                    <a:lstStyle/>
                    <a:p>
                      <a:pPr algn="l"/>
                      <a:r>
                        <a:rPr sz="700" b="1" i="0">
                          <a:solidFill>
                            <a:srgbClr val="767676"/>
                          </a:solidFill>
                          <a:latin typeface="Segoe UI"/>
                        </a:rPr>
                        <a:t>FRENTE</a:t>
                      </a:r>
                    </a:p>
                  </a:txBody>
                  <a:tcPr marT="18288" marR="45720" marB="18288" marL="45720" anchor="ctr">
                    <a:lnB w="9525" cap="flat" cmpd="sng" algn="ctr">
                      <a:solidFill>
                        <a:srgbClr val="2B2B2B"/>
                      </a:solidFill>
                    </a:lnB>
                    <a:noFill/>
                  </a:tcPr>
                </a:tc>
                <a:tc>
                  <a:txBody>
                    <a:bodyPr wrap="square"/>
                    <a:lstStyle/>
                    <a:p>
                      <a:pPr algn="l"/>
                      <a:r>
                        <a:rPr sz="700" b="1" i="0">
                          <a:solidFill>
                            <a:srgbClr val="767676"/>
                          </a:solidFill>
                          <a:latin typeface="Segoe UI"/>
                        </a:rPr>
                        <a:t>PAPEL</a:t>
                      </a:r>
                    </a:p>
                  </a:txBody>
                  <a:tcPr marT="18288" marR="45720" marB="18288" marL="45720" anchor="ctr">
                    <a:lnB w="9525" cap="flat" cmpd="sng" algn="ctr">
                      <a:solidFill>
                        <a:srgbClr val="2B2B2B"/>
                      </a:solidFill>
                    </a:lnB>
                    <a:noFill/>
                  </a:tcPr>
                </a:tc>
                <a:tc>
                  <a:txBody>
                    <a:bodyPr wrap="square"/>
                    <a:lstStyle/>
                    <a:p>
                      <a:pPr algn="l"/>
                      <a:r>
                        <a:rPr sz="700" b="1" i="0">
                          <a:solidFill>
                            <a:srgbClr val="767676"/>
                          </a:solidFill>
                          <a:latin typeface="Segoe UI"/>
                        </a:rPr>
                        <a:t>NÍVEL</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H/SEM</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SEM</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HORAS</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US$/H</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CUSTO (US$)</a:t>
                      </a:r>
                    </a:p>
                  </a:txBody>
                  <a:tcPr marT="18288" marR="45720" marB="18288" marL="45720" anchor="ctr">
                    <a:lnB w="9525" cap="flat" cmpd="sng" algn="ctr">
                      <a:solidFill>
                        <a:srgbClr val="2B2B2B"/>
                      </a:solidFill>
                    </a:lnB>
                    <a:noFill/>
                  </a:tcPr>
                </a:tc>
              </a:tr>
              <a:tr h="306324">
                <a:tc>
                  <a:txBody>
                    <a:bodyPr wrap="square"/>
                    <a:lstStyle/>
                    <a:p>
                      <a:pPr algn="l"/>
                      <a:r>
                        <a:rPr sz="750" b="1" i="0">
                          <a:solidFill>
                            <a:srgbClr val="767676"/>
                          </a:solidFill>
                          <a:latin typeface="Segoe UI"/>
                        </a:rPr>
                        <a:t>Governance Brazil</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Project / Program Manager</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Manager</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10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40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95</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4.560</a:t>
                      </a:r>
                    </a:p>
                  </a:txBody>
                  <a:tcPr marT="9144" marR="45720" marB="9144" marL="45720" anchor="ctr">
                    <a:lnB w="6350" cap="flat" cmpd="sng" algn="ctr">
                      <a:solidFill>
                        <a:srgbClr val="E1E1E1"/>
                      </a:solidFill>
                    </a:lnB>
                    <a:solidFill>
                      <a:srgbClr val="FAFAFB"/>
                    </a:solidFill>
                  </a:tcPr>
                </a:tc>
              </a:tr>
              <a:tr h="306324">
                <a:tc>
                  <a:txBody>
                    <a:bodyPr wrap="square"/>
                    <a:lstStyle/>
                    <a:p>
                      <a:pPr algn="l"/>
                      <a:r>
                        <a:rPr sz="750" b="1" i="0">
                          <a:solidFill>
                            <a:srgbClr val="FF5800"/>
                          </a:solidFill>
                          <a:latin typeface="Segoe UI"/>
                        </a:rPr>
                        <a:t>01 · AVA Fabric</a:t>
                      </a:r>
                    </a:p>
                  </a:txBody>
                  <a:tcPr marT="9144" marR="45720" marB="9144" marL="45720" anchor="ctr">
                    <a:lnB w="6350" cap="flat" cmpd="sng" algn="ctr">
                      <a:solidFill>
                        <a:srgbClr val="E1E1E1"/>
                      </a:solidFill>
                    </a:lnB>
                    <a:noFill/>
                  </a:tcPr>
                </a:tc>
                <a:tc>
                  <a:txBody>
                    <a:bodyPr wrap="square"/>
                    <a:lstStyle/>
                    <a:p>
                      <a:pPr algn="l"/>
                      <a:r>
                        <a:rPr sz="800" b="0" i="0">
                          <a:solidFill>
                            <a:srgbClr val="2B2B2B"/>
                          </a:solidFill>
                          <a:latin typeface="Segoe UI"/>
                        </a:rPr>
                        <a:t>Solution Architect da esteira (F0-F3S)</a:t>
                      </a:r>
                    </a:p>
                  </a:txBody>
                  <a:tcPr marT="9144" marR="45720" marB="9144" marL="45720" anchor="ctr">
                    <a:lnB w="6350" cap="flat" cmpd="sng" algn="ctr">
                      <a:solidFill>
                        <a:srgbClr val="E1E1E1"/>
                      </a:solidFill>
                    </a:lnB>
                    <a:noFill/>
                  </a:tcPr>
                </a:tc>
                <a:tc>
                  <a:txBody>
                    <a:bodyPr wrap="square"/>
                    <a:lstStyle/>
                    <a:p>
                      <a:pPr algn="l"/>
                      <a:r>
                        <a:rPr sz="750" b="0" i="0">
                          <a:solidFill>
                            <a:srgbClr val="767676"/>
                          </a:solidFill>
                          <a:latin typeface="Segoe UI"/>
                        </a:rPr>
                        <a:t>Manager</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40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4</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160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95</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18.240</a:t>
                      </a:r>
                    </a:p>
                  </a:txBody>
                  <a:tcPr marT="9144" marR="45720" marB="9144" marL="45720" anchor="ctr">
                    <a:lnB w="6350" cap="flat" cmpd="sng" algn="ctr">
                      <a:solidFill>
                        <a:srgbClr val="E1E1E1"/>
                      </a:solidFill>
                    </a:lnB>
                    <a:noFill/>
                  </a:tcPr>
                </a:tc>
              </a:tr>
              <a:tr h="306324">
                <a:tc>
                  <a:txBody>
                    <a:bodyPr wrap="square"/>
                    <a:lstStyle/>
                    <a:p>
                      <a:pPr algn="l"/>
                      <a:r>
                        <a:rPr sz="750" b="1" i="0">
                          <a:solidFill>
                            <a:srgbClr val="FF5800"/>
                          </a:solidFill>
                          <a:latin typeface="Segoe UI"/>
                        </a:rPr>
                        <a:t>01 · AVA Fabric</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Platform engineer (runner, gates)</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Associate Manager</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20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80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78</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7.488</a:t>
                      </a:r>
                    </a:p>
                  </a:txBody>
                  <a:tcPr marT="9144" marR="45720" marB="9144" marL="45720" anchor="ctr">
                    <a:lnB w="6350" cap="flat" cmpd="sng" algn="ctr">
                      <a:solidFill>
                        <a:srgbClr val="E1E1E1"/>
                      </a:solidFill>
                    </a:lnB>
                    <a:solidFill>
                      <a:srgbClr val="FAFAFB"/>
                    </a:solidFill>
                  </a:tcPr>
                </a:tc>
              </a:tr>
              <a:tr h="306324">
                <a:tc>
                  <a:txBody>
                    <a:bodyPr wrap="square"/>
                    <a:lstStyle/>
                    <a:p>
                      <a:pPr algn="l"/>
                      <a:r>
                        <a:rPr sz="750" b="1" i="0">
                          <a:solidFill>
                            <a:srgbClr val="008C95"/>
                          </a:solidFill>
                          <a:latin typeface="Segoe UI"/>
                        </a:rPr>
                        <a:t>02 · AS-IS (F0-F1)</a:t>
                      </a:r>
                    </a:p>
                  </a:txBody>
                  <a:tcPr marT="9144" marR="45720" marB="9144" marL="45720" anchor="ctr">
                    <a:lnB w="6350" cap="flat" cmpd="sng" algn="ctr">
                      <a:solidFill>
                        <a:srgbClr val="E1E1E1"/>
                      </a:solidFill>
                    </a:lnB>
                    <a:noFill/>
                  </a:tcPr>
                </a:tc>
                <a:tc>
                  <a:txBody>
                    <a:bodyPr wrap="square"/>
                    <a:lstStyle/>
                    <a:p>
                      <a:pPr algn="l"/>
                      <a:r>
                        <a:rPr sz="800" b="0" i="0">
                          <a:solidFill>
                            <a:srgbClr val="2B2B2B"/>
                          </a:solidFill>
                          <a:latin typeface="Segoe UI"/>
                        </a:rPr>
                        <a:t>Analista de legado (.NET / Delphi / VB)</a:t>
                      </a:r>
                    </a:p>
                  </a:txBody>
                  <a:tcPr marT="9144" marR="45720" marB="9144" marL="45720" anchor="ctr">
                    <a:lnB w="6350" cap="flat" cmpd="sng" algn="ctr">
                      <a:solidFill>
                        <a:srgbClr val="E1E1E1"/>
                      </a:solidFill>
                    </a:lnB>
                    <a:noFill/>
                  </a:tcPr>
                </a:tc>
                <a:tc>
                  <a:txBody>
                    <a:bodyPr wrap="square"/>
                    <a:lstStyle/>
                    <a:p>
                      <a:pPr algn="l"/>
                      <a:r>
                        <a:rPr sz="750" b="0" i="0">
                          <a:solidFill>
                            <a:srgbClr val="767676"/>
                          </a:solidFill>
                          <a:latin typeface="Segoe UI"/>
                        </a:rPr>
                        <a:t>Team Lead / Consultant</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40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2</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80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62</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5.952</a:t>
                      </a:r>
                    </a:p>
                  </a:txBody>
                  <a:tcPr marT="9144" marR="45720" marB="9144" marL="45720" anchor="ctr">
                    <a:lnB w="6350" cap="flat" cmpd="sng" algn="ctr">
                      <a:solidFill>
                        <a:srgbClr val="E1E1E1"/>
                      </a:solidFill>
                    </a:lnB>
                    <a:noFill/>
                  </a:tcPr>
                </a:tc>
              </a:tr>
              <a:tr h="306324">
                <a:tc>
                  <a:txBody>
                    <a:bodyPr wrap="square"/>
                    <a:lstStyle/>
                    <a:p>
                      <a:pPr algn="l"/>
                      <a:r>
                        <a:rPr sz="750" b="1" i="0">
                          <a:solidFill>
                            <a:srgbClr val="2F4A6B"/>
                          </a:solidFill>
                          <a:latin typeface="Segoe UI"/>
                        </a:rPr>
                        <a:t>03 · TO-BE (F2-F3S)</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Arquiteto TO-BE / SpecKit</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Team Lead / Consultant</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2</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80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62</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5.952</a:t>
                      </a:r>
                    </a:p>
                  </a:txBody>
                  <a:tcPr marT="9144" marR="45720" marB="9144" marL="45720" anchor="ctr">
                    <a:lnB w="6350" cap="flat" cmpd="sng" algn="ctr">
                      <a:solidFill>
                        <a:srgbClr val="E1E1E1"/>
                      </a:solidFill>
                    </a:lnB>
                    <a:solidFill>
                      <a:srgbClr val="FAFAFB"/>
                    </a:solidFill>
                  </a:tcPr>
                </a:tc>
              </a:tr>
              <a:tr h="306324">
                <a:tc>
                  <a:txBody>
                    <a:bodyPr wrap="square"/>
                    <a:lstStyle/>
                    <a:p>
                      <a:pPr algn="l"/>
                      <a:r>
                        <a:rPr sz="750" b="1" i="0">
                          <a:solidFill>
                            <a:srgbClr val="CE056A"/>
                          </a:solidFill>
                          <a:latin typeface="Segoe UI"/>
                        </a:rPr>
                        <a:t>04 · Codegen (F4)</a:t>
                      </a:r>
                    </a:p>
                  </a:txBody>
                  <a:tcPr marT="9144" marR="45720" marB="9144" marL="45720" anchor="ctr">
                    <a:lnB w="6350" cap="flat" cmpd="sng" algn="ctr">
                      <a:solidFill>
                        <a:srgbClr val="E1E1E1"/>
                      </a:solidFill>
                    </a:lnB>
                    <a:noFill/>
                  </a:tcPr>
                </a:tc>
                <a:tc>
                  <a:txBody>
                    <a:bodyPr wrap="square"/>
                    <a:lstStyle/>
                    <a:p>
                      <a:pPr algn="l"/>
                      <a:r>
                        <a:rPr sz="800" b="0" i="0">
                          <a:solidFill>
                            <a:srgbClr val="2B2B2B"/>
                          </a:solidFill>
                          <a:latin typeface="Segoe UI"/>
                        </a:rPr>
                        <a:t>Dev sênior .NET (build gate)</a:t>
                      </a:r>
                    </a:p>
                  </a:txBody>
                  <a:tcPr marT="9144" marR="45720" marB="9144" marL="45720" anchor="ctr">
                    <a:lnB w="6350" cap="flat" cmpd="sng" algn="ctr">
                      <a:solidFill>
                        <a:srgbClr val="E1E1E1"/>
                      </a:solidFill>
                    </a:lnB>
                    <a:noFill/>
                  </a:tcPr>
                </a:tc>
                <a:tc>
                  <a:txBody>
                    <a:bodyPr wrap="square"/>
                    <a:lstStyle/>
                    <a:p>
                      <a:pPr algn="l"/>
                      <a:r>
                        <a:rPr sz="750" b="0" i="0">
                          <a:solidFill>
                            <a:srgbClr val="767676"/>
                          </a:solidFill>
                          <a:latin typeface="Segoe UI"/>
                        </a:rPr>
                        <a:t>Team Lead / Consultant</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40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2</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80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62</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5.952</a:t>
                      </a:r>
                    </a:p>
                  </a:txBody>
                  <a:tcPr marT="9144" marR="45720" marB="9144" marL="45720" anchor="ctr">
                    <a:lnB w="6350" cap="flat" cmpd="sng" algn="ctr">
                      <a:solidFill>
                        <a:srgbClr val="E1E1E1"/>
                      </a:solidFill>
                    </a:lnB>
                    <a:noFill/>
                  </a:tcPr>
                </a:tc>
              </a:tr>
              <a:tr h="306324">
                <a:tc>
                  <a:txBody>
                    <a:bodyPr wrap="square"/>
                    <a:lstStyle/>
                    <a:p>
                      <a:pPr algn="l"/>
                      <a:r>
                        <a:rPr sz="750" b="1" i="0">
                          <a:solidFill>
                            <a:srgbClr val="CE056A"/>
                          </a:solidFill>
                          <a:latin typeface="Segoe UI"/>
                        </a:rPr>
                        <a:t>04 · Codegen (F4)</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Dev Angular</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Senior Analyst</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20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1</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20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45</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1.080</a:t>
                      </a:r>
                    </a:p>
                  </a:txBody>
                  <a:tcPr marT="9144" marR="45720" marB="9144" marL="45720" anchor="ctr">
                    <a:lnB w="6350" cap="flat" cmpd="sng" algn="ctr">
                      <a:solidFill>
                        <a:srgbClr val="E1E1E1"/>
                      </a:solidFill>
                    </a:lnB>
                    <a:solidFill>
                      <a:srgbClr val="FAFAFB"/>
                    </a:solidFill>
                  </a:tcPr>
                </a:tc>
              </a:tr>
              <a:tr h="306324">
                <a:tc>
                  <a:txBody>
                    <a:bodyPr wrap="square"/>
                    <a:lstStyle/>
                    <a:p>
                      <a:pPr algn="l"/>
                      <a:r>
                        <a:rPr sz="750" b="1" i="0">
                          <a:solidFill>
                            <a:srgbClr val="4B912A"/>
                          </a:solidFill>
                          <a:latin typeface="Segoe UI"/>
                        </a:rPr>
                        <a:t>05 · QA (F5)</a:t>
                      </a:r>
                    </a:p>
                  </a:txBody>
                  <a:tcPr marT="9144" marR="45720" marB="9144" marL="45720" anchor="ctr">
                    <a:lnB w="6350" cap="flat" cmpd="sng" algn="ctr">
                      <a:solidFill>
                        <a:srgbClr val="E1E1E1"/>
                      </a:solidFill>
                    </a:lnB>
                    <a:noFill/>
                  </a:tcPr>
                </a:tc>
                <a:tc>
                  <a:txBody>
                    <a:bodyPr wrap="square"/>
                    <a:lstStyle/>
                    <a:p>
                      <a:pPr algn="l"/>
                      <a:r>
                        <a:rPr sz="800" b="0" i="0">
                          <a:solidFill>
                            <a:srgbClr val="2B2B2B"/>
                          </a:solidFill>
                          <a:latin typeface="Segoe UI"/>
                        </a:rPr>
                        <a:t>QA engineer</a:t>
                      </a:r>
                    </a:p>
                  </a:txBody>
                  <a:tcPr marT="9144" marR="45720" marB="9144" marL="45720" anchor="ctr">
                    <a:lnB w="6350" cap="flat" cmpd="sng" algn="ctr">
                      <a:solidFill>
                        <a:srgbClr val="E1E1E1"/>
                      </a:solidFill>
                    </a:lnB>
                    <a:noFill/>
                  </a:tcPr>
                </a:tc>
                <a:tc>
                  <a:txBody>
                    <a:bodyPr wrap="square"/>
                    <a:lstStyle/>
                    <a:p>
                      <a:pPr algn="l"/>
                      <a:r>
                        <a:rPr sz="750" b="0" i="0">
                          <a:solidFill>
                            <a:srgbClr val="767676"/>
                          </a:solidFill>
                          <a:latin typeface="Segoe UI"/>
                        </a:rPr>
                        <a:t>Senior Analyst</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20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1</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20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45</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1.080</a:t>
                      </a:r>
                    </a:p>
                  </a:txBody>
                  <a:tcPr marT="9144" marR="45720" marB="9144" marL="45720" anchor="ctr">
                    <a:lnB w="6350" cap="flat" cmpd="sng" algn="ctr">
                      <a:solidFill>
                        <a:srgbClr val="E1E1E1"/>
                      </a:solidFill>
                    </a:lnB>
                    <a:noFill/>
                  </a:tcPr>
                </a:tc>
              </a:tr>
              <a:tr h="306324">
                <a:tc>
                  <a:txBody>
                    <a:bodyPr wrap="square"/>
                    <a:lstStyle/>
                    <a:p>
                      <a:pPr algn="l"/>
                      <a:r>
                        <a:rPr sz="750" b="1" i="0">
                          <a:solidFill>
                            <a:srgbClr val="4B912A"/>
                          </a:solidFill>
                          <a:latin typeface="Segoe UI"/>
                        </a:rPr>
                        <a:t>06 · DevOps (F6)</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DevOps / IaC (Terraform)</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Senior Analyst</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20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1</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20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45</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1.080</a:t>
                      </a:r>
                    </a:p>
                  </a:txBody>
                  <a:tcPr marT="9144" marR="45720" marB="9144" marL="45720" anchor="ctr">
                    <a:lnB w="6350" cap="flat" cmpd="sng" algn="ctr">
                      <a:solidFill>
                        <a:srgbClr val="E1E1E1"/>
                      </a:solidFill>
                    </a:lnB>
                    <a:solidFill>
                      <a:srgbClr val="FAFAFB"/>
                    </a:solidFill>
                  </a:tcPr>
                </a:tc>
              </a:tr>
              <a:tr h="306324">
                <a:tc>
                  <a:txBody>
                    <a:bodyPr wrap="square"/>
                    <a:lstStyle/>
                    <a:p>
                      <a:pPr algn="l"/>
                      <a:r>
                        <a:rPr sz="750" b="1" i="0">
                          <a:solidFill>
                            <a:srgbClr val="C80000"/>
                          </a:solidFill>
                          <a:latin typeface="Segoe UI"/>
                        </a:rPr>
                        <a:t>07 · Security (F7)</a:t>
                      </a:r>
                    </a:p>
                  </a:txBody>
                  <a:tcPr marT="9144" marR="45720" marB="9144" marL="45720" anchor="ctr">
                    <a:lnB w="6350" cap="flat" cmpd="sng" algn="ctr">
                      <a:solidFill>
                        <a:srgbClr val="E1E1E1"/>
                      </a:solidFill>
                    </a:lnB>
                    <a:noFill/>
                  </a:tcPr>
                </a:tc>
                <a:tc>
                  <a:txBody>
                    <a:bodyPr wrap="square"/>
                    <a:lstStyle/>
                    <a:p>
                      <a:pPr algn="l"/>
                      <a:r>
                        <a:rPr sz="800" b="0" i="0">
                          <a:solidFill>
                            <a:srgbClr val="2B2B2B"/>
                          </a:solidFill>
                          <a:latin typeface="Segoe UI"/>
                        </a:rPr>
                        <a:t>Security &amp; compliance (LGPD / OWASP)</a:t>
                      </a:r>
                    </a:p>
                  </a:txBody>
                  <a:tcPr marT="9144" marR="45720" marB="9144" marL="45720" anchor="ctr">
                    <a:lnB w="6350" cap="flat" cmpd="sng" algn="ctr">
                      <a:solidFill>
                        <a:srgbClr val="E1E1E1"/>
                      </a:solidFill>
                    </a:lnB>
                    <a:noFill/>
                  </a:tcPr>
                </a:tc>
                <a:tc>
                  <a:txBody>
                    <a:bodyPr wrap="square"/>
                    <a:lstStyle/>
                    <a:p>
                      <a:pPr algn="l"/>
                      <a:r>
                        <a:rPr sz="750" b="0" i="0">
                          <a:solidFill>
                            <a:srgbClr val="767676"/>
                          </a:solidFill>
                          <a:latin typeface="Segoe UI"/>
                        </a:rPr>
                        <a:t>Associate Manager</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20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3</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60</a:t>
                      </a:r>
                    </a:p>
                  </a:txBody>
                  <a:tcPr marT="9144" marR="45720" marB="9144" marL="45720" anchor="ctr">
                    <a:lnB w="6350" cap="flat" cmpd="sng" algn="ctr">
                      <a:solidFill>
                        <a:srgbClr val="E1E1E1"/>
                      </a:solidFill>
                    </a:lnB>
                    <a:noFill/>
                  </a:tcPr>
                </a:tc>
                <a:tc>
                  <a:txBody>
                    <a:bodyPr wrap="square"/>
                    <a:lstStyle/>
                    <a:p>
                      <a:pPr algn="r"/>
                      <a:r>
                        <a:rPr sz="800" b="0" i="0">
                          <a:solidFill>
                            <a:srgbClr val="767676"/>
                          </a:solidFill>
                          <a:latin typeface="Segoe UI"/>
                        </a:rPr>
                        <a:t>78</a:t>
                      </a:r>
                    </a:p>
                  </a:txBody>
                  <a:tcPr marT="9144" marR="45720" marB="9144" marL="45720" anchor="ctr">
                    <a:lnB w="6350" cap="flat" cmpd="sng" algn="ctr">
                      <a:solidFill>
                        <a:srgbClr val="E1E1E1"/>
                      </a:solidFill>
                    </a:lnB>
                    <a:noFill/>
                  </a:tcPr>
                </a:tc>
                <a:tc>
                  <a:txBody>
                    <a:bodyPr wrap="square"/>
                    <a:lstStyle/>
                    <a:p>
                      <a:pPr algn="r"/>
                      <a:r>
                        <a:rPr sz="850" b="1" i="0">
                          <a:solidFill>
                            <a:srgbClr val="2B2B2B"/>
                          </a:solidFill>
                          <a:latin typeface="Segoe UI"/>
                        </a:rPr>
                        <a:t>5.616</a:t>
                      </a:r>
                    </a:p>
                  </a:txBody>
                  <a:tcPr marT="9144" marR="45720" marB="9144" marL="45720" anchor="ctr">
                    <a:lnB w="6350" cap="flat" cmpd="sng" algn="ctr">
                      <a:solidFill>
                        <a:srgbClr val="E1E1E1"/>
                      </a:solidFill>
                    </a:lnB>
                    <a:noFill/>
                  </a:tcPr>
                </a:tc>
              </a:tr>
              <a:tr h="306324">
                <a:tc>
                  <a:txBody>
                    <a:bodyPr wrap="square"/>
                    <a:lstStyle/>
                    <a:p>
                      <a:pPr algn="l"/>
                      <a:r>
                        <a:rPr sz="750" b="1" i="0">
                          <a:solidFill>
                            <a:srgbClr val="FF5800"/>
                          </a:solidFill>
                          <a:latin typeface="Segoe UI"/>
                        </a:rPr>
                        <a:t>AVA Fabric Factory</a:t>
                      </a:r>
                    </a:p>
                  </a:txBody>
                  <a:tcPr marT="9144" marR="45720" marB="9144" marL="45720" anchor="ctr">
                    <a:lnB w="6350" cap="flat" cmpd="sng" algn="ctr">
                      <a:solidFill>
                        <a:srgbClr val="E1E1E1"/>
                      </a:solidFill>
                    </a:lnB>
                    <a:solidFill>
                      <a:srgbClr val="FAFAFB"/>
                    </a:solidFill>
                  </a:tcPr>
                </a:tc>
                <a:tc>
                  <a:txBody>
                    <a:bodyPr wrap="square"/>
                    <a:lstStyle/>
                    <a:p>
                      <a:pPr algn="l"/>
                      <a:r>
                        <a:rPr sz="800" b="0" i="0">
                          <a:solidFill>
                            <a:srgbClr val="2B2B2B"/>
                          </a:solidFill>
                          <a:latin typeface="Segoe UI"/>
                        </a:rPr>
                        <a:t>Execução do pipeline — 110 agentes, 9 fases</a:t>
                      </a:r>
                    </a:p>
                  </a:txBody>
                  <a:tcPr marT="9144" marR="45720" marB="9144"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Shared Service - Onshore</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160</a:t>
                      </a:r>
                    </a:p>
                  </a:txBody>
                  <a:tcPr marT="9144" marR="45720" marB="9144"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38</a:t>
                      </a:r>
                    </a:p>
                  </a:txBody>
                  <a:tcPr marT="9144" marR="45720" marB="9144"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7.296</a:t>
                      </a:r>
                    </a:p>
                  </a:txBody>
                  <a:tcPr marT="9144" marR="45720" marB="9144" marL="45720" anchor="ctr">
                    <a:lnB w="6350" cap="flat" cmpd="sng" algn="ctr">
                      <a:solidFill>
                        <a:srgbClr val="E1E1E1"/>
                      </a:solidFill>
                    </a:lnB>
                    <a:solidFill>
                      <a:srgbClr val="FAFAFB"/>
                    </a:solidFill>
                  </a:tcPr>
                </a:tc>
              </a:tr>
              <a:tr h="329184">
                <a:tc>
                  <a:txBody>
                    <a:bodyPr wrap="square"/>
                    <a:lstStyle/>
                    <a:p>
                      <a:pPr algn="l"/>
                      <a:r>
                        <a:rPr sz="900" b="1" i="0">
                          <a:solidFill>
                            <a:srgbClr val="FFFFFF"/>
                          </a:solidFill>
                          <a:latin typeface="Segoe UI"/>
                        </a:rPr>
                        <a:t>TOTAL</a:t>
                      </a:r>
                    </a:p>
                  </a:txBody>
                  <a:tcPr marT="18288" marR="45720" marB="18288" marL="45720" anchor="ctr">
                    <a:solidFill>
                      <a:srgbClr val="2B2B2B"/>
                    </a:solidFill>
                  </a:tcPr>
                </a:tc>
                <a:tc>
                  <a:txBody>
                    <a:bodyPr wrap="square"/>
                    <a:lstStyle/>
                    <a:p>
                      <a:pPr algn="l"/>
                      <a:r>
                        <a:rPr sz="800" b="0" i="0">
                          <a:solidFill>
                            <a:srgbClr val="D6D6D6"/>
                          </a:solidFill>
                          <a:latin typeface="Segoe UI"/>
                        </a:rPr>
                        <a:t>11 papéis · PoC de 4 semanas</a:t>
                      </a:r>
                    </a:p>
                  </a:txBody>
                  <a:tcPr marT="18288" marR="45720" marB="18288" marL="45720" anchor="ctr">
                    <a:solidFill>
                      <a:srgbClr val="2B2B2B"/>
                    </a:solidFill>
                  </a:tcPr>
                </a:tc>
                <a:tc>
                  <a:txBody>
                    <a:bodyPr wrap="square"/>
                    <a:lstStyle/>
                    <a:p>
                      <a:pPr algn="l"/>
                      <a:r>
                        <a:rPr sz="850" b="0" i="0">
                          <a:solidFill>
                            <a:srgbClr val="2B2B2B"/>
                          </a:solidFill>
                          <a:latin typeface="Segoe UI"/>
                        </a:rPr>
                        <a:t/>
                      </a:r>
                    </a:p>
                  </a:txBody>
                  <a:tcPr marT="18288" marR="45720" marB="18288" marL="45720" anchor="ctr">
                    <a:solidFill>
                      <a:srgbClr val="2B2B2B"/>
                    </a:solidFill>
                  </a:tcPr>
                </a:tc>
                <a:tc>
                  <a:txBody>
                    <a:bodyPr wrap="square"/>
                    <a:lstStyle/>
                    <a:p>
                      <a:pPr algn="l"/>
                      <a:r>
                        <a:rPr sz="850" b="0" i="0">
                          <a:solidFill>
                            <a:srgbClr val="2B2B2B"/>
                          </a:solidFill>
                          <a:latin typeface="Segoe UI"/>
                        </a:rPr>
                        <a:t/>
                      </a:r>
                    </a:p>
                  </a:txBody>
                  <a:tcPr marT="18288" marR="45720" marB="18288" marL="45720" anchor="ctr">
                    <a:solidFill>
                      <a:srgbClr val="2B2B2B"/>
                    </a:solidFill>
                  </a:tcPr>
                </a:tc>
                <a:tc>
                  <a:txBody>
                    <a:bodyPr wrap="square"/>
                    <a:lstStyle/>
                    <a:p>
                      <a:pPr algn="l"/>
                      <a:r>
                        <a:rPr sz="850" b="0" i="0">
                          <a:solidFill>
                            <a:srgbClr val="2B2B2B"/>
                          </a:solidFill>
                          <a:latin typeface="Segoe UI"/>
                        </a:rPr>
                        <a:t/>
                      </a:r>
                    </a:p>
                  </a:txBody>
                  <a:tcPr marT="18288" marR="45720" marB="18288" marL="45720" anchor="ctr">
                    <a:solidFill>
                      <a:srgbClr val="2B2B2B"/>
                    </a:solidFill>
                  </a:tcPr>
                </a:tc>
                <a:tc>
                  <a:txBody>
                    <a:bodyPr wrap="square"/>
                    <a:lstStyle/>
                    <a:p>
                      <a:pPr algn="r"/>
                      <a:r>
                        <a:rPr sz="950" b="1" i="0">
                          <a:solidFill>
                            <a:srgbClr val="FFFFFF"/>
                          </a:solidFill>
                          <a:latin typeface="Segoe UI"/>
                        </a:rPr>
                        <a:t>800</a:t>
                      </a:r>
                    </a:p>
                  </a:txBody>
                  <a:tcPr marT="18288" marR="45720" marB="18288" marL="45720" anchor="ctr">
                    <a:solidFill>
                      <a:srgbClr val="2B2B2B"/>
                    </a:solidFill>
                  </a:tcPr>
                </a:tc>
                <a:tc>
                  <a:txBody>
                    <a:bodyPr wrap="square"/>
                    <a:lstStyle/>
                    <a:p>
                      <a:pPr algn="l"/>
                      <a:r>
                        <a:rPr sz="850" b="0" i="0">
                          <a:solidFill>
                            <a:srgbClr val="2B2B2B"/>
                          </a:solidFill>
                          <a:latin typeface="Segoe UI"/>
                        </a:rPr>
                        <a:t/>
                      </a:r>
                    </a:p>
                  </a:txBody>
                  <a:tcPr marT="18288" marR="45720" marB="18288" marL="45720" anchor="ctr">
                    <a:solidFill>
                      <a:srgbClr val="2B2B2B"/>
                    </a:solidFill>
                  </a:tcPr>
                </a:tc>
                <a:tc>
                  <a:txBody>
                    <a:bodyPr wrap="square"/>
                    <a:lstStyle/>
                    <a:p>
                      <a:pPr algn="r"/>
                      <a:r>
                        <a:rPr sz="950" b="1" i="0">
                          <a:solidFill>
                            <a:srgbClr val="FFB414"/>
                          </a:solidFill>
                          <a:latin typeface="Segoe UI"/>
                        </a:rPr>
                        <a:t>64.296</a:t>
                      </a:r>
                    </a:p>
                  </a:txBody>
                  <a:tcPr marT="18288" marR="45720" marB="18288" marL="45720" anchor="ctr">
                    <a:solidFill>
                      <a:srgbClr val="2B2B2B"/>
                    </a:solidFill>
                  </a:tcPr>
                </a:tc>
              </a:tr>
            </a:tbl>
          </a:graphicData>
        </a:graphic>
      </p:graphicFrame>
      <p:sp>
        <p:nvSpPr>
          <p:cNvPr id="11" name="Rounded Rectangle 10"/>
          <p:cNvSpPr/>
          <p:nvPr/>
        </p:nvSpPr>
        <p:spPr>
          <a:xfrm>
            <a:off x="8366759" y="1024128"/>
            <a:ext cx="3413729" cy="731520"/>
          </a:xfrm>
          <a:prstGeom prst="roundRect">
            <a:avLst>
              <a:gd name="adj" fmla="val 6000"/>
            </a:avLst>
          </a:prstGeom>
          <a:solidFill>
            <a:srgbClr val="FFF1E8"/>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2" name="Rectangle 11"/>
          <p:cNvSpPr/>
          <p:nvPr/>
        </p:nvSpPr>
        <p:spPr>
          <a:xfrm>
            <a:off x="8366759" y="1025042"/>
            <a:ext cx="41148" cy="729691"/>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3" name="TextBox 12"/>
          <p:cNvSpPr txBox="1"/>
          <p:nvPr/>
        </p:nvSpPr>
        <p:spPr>
          <a:xfrm>
            <a:off x="8567928" y="1124712"/>
            <a:ext cx="3047969" cy="731520"/>
          </a:xfrm>
          <a:prstGeom prst="rect">
            <a:avLst/>
          </a:prstGeom>
          <a:noFill/>
        </p:spPr>
        <p:txBody>
          <a:bodyPr wrap="square" tIns="0" rIns="0" bIns="0" lIns="0" anchor="t">
            <a:spAutoFit/>
          </a:bodyPr>
          <a:lstStyle/>
          <a:p>
            <a:pPr algn="l">
              <a:lnSpc>
                <a:spcPct val="88000"/>
              </a:lnSpc>
              <a:spcBef>
                <a:spcPts val="0"/>
              </a:spcBef>
              <a:spcAft>
                <a:spcPts val="0"/>
              </a:spcAft>
            </a:pPr>
            <a:r>
              <a:rPr sz="1800" b="1" i="0">
                <a:solidFill>
                  <a:srgbClr val="FF5800"/>
                </a:solidFill>
                <a:latin typeface="Segoe UI"/>
              </a:rPr>
              <a:t>US$ 64.296</a:t>
            </a:r>
          </a:p>
          <a:p>
            <a:pPr algn="l">
              <a:lnSpc>
                <a:spcPct val="90000"/>
              </a:lnSpc>
              <a:spcBef>
                <a:spcPts val="100"/>
              </a:spcBef>
              <a:spcAft>
                <a:spcPts val="0"/>
              </a:spcAft>
            </a:pPr>
            <a:r>
              <a:rPr sz="850" b="1" i="0">
                <a:solidFill>
                  <a:srgbClr val="2B2B2B"/>
                </a:solidFill>
                <a:latin typeface="Segoe UI"/>
              </a:rPr>
              <a:t>custo de pessoas com margem</a:t>
            </a:r>
          </a:p>
          <a:p>
            <a:pPr algn="l">
              <a:lnSpc>
                <a:spcPct val="90000"/>
              </a:lnSpc>
              <a:spcBef>
                <a:spcPts val="0"/>
              </a:spcBef>
              <a:spcAft>
                <a:spcPts val="0"/>
              </a:spcAft>
            </a:pPr>
            <a:r>
              <a:rPr sz="750" b="0" i="0">
                <a:solidFill>
                  <a:srgbClr val="767676"/>
                </a:solidFill>
                <a:latin typeface="Segoe UI"/>
              </a:rPr>
              <a:t>98,2% do subtotal da PoC</a:t>
            </a:r>
          </a:p>
        </p:txBody>
      </p:sp>
      <p:sp>
        <p:nvSpPr>
          <p:cNvPr id="14" name="Rounded Rectangle 13"/>
          <p:cNvSpPr/>
          <p:nvPr/>
        </p:nvSpPr>
        <p:spPr>
          <a:xfrm>
            <a:off x="8366759" y="1865376"/>
            <a:ext cx="3413729" cy="731520"/>
          </a:xfrm>
          <a:prstGeom prst="roundRect">
            <a:avLst>
              <a:gd name="adj" fmla="val 6000"/>
            </a:avLst>
          </a:prstGeom>
          <a:solidFill>
            <a:srgbClr val="FAFAFB"/>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5" name="Rectangle 14"/>
          <p:cNvSpPr/>
          <p:nvPr/>
        </p:nvSpPr>
        <p:spPr>
          <a:xfrm>
            <a:off x="8366759" y="1866290"/>
            <a:ext cx="41148" cy="729691"/>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6" name="TextBox 15"/>
          <p:cNvSpPr txBox="1"/>
          <p:nvPr/>
        </p:nvSpPr>
        <p:spPr>
          <a:xfrm>
            <a:off x="8567928" y="1965960"/>
            <a:ext cx="3047969" cy="731520"/>
          </a:xfrm>
          <a:prstGeom prst="rect">
            <a:avLst/>
          </a:prstGeom>
          <a:noFill/>
        </p:spPr>
        <p:txBody>
          <a:bodyPr wrap="square" tIns="0" rIns="0" bIns="0" lIns="0" anchor="t">
            <a:spAutoFit/>
          </a:bodyPr>
          <a:lstStyle/>
          <a:p>
            <a:pPr algn="l">
              <a:lnSpc>
                <a:spcPct val="88000"/>
              </a:lnSpc>
              <a:spcBef>
                <a:spcPts val="0"/>
              </a:spcBef>
              <a:spcAft>
                <a:spcPts val="0"/>
              </a:spcAft>
            </a:pPr>
            <a:r>
              <a:rPr sz="1800" b="1" i="0">
                <a:solidFill>
                  <a:srgbClr val="2B2B2B"/>
                </a:solidFill>
                <a:latin typeface="Segoe UI"/>
              </a:rPr>
              <a:t>800 h</a:t>
            </a:r>
          </a:p>
          <a:p>
            <a:pPr algn="l">
              <a:lnSpc>
                <a:spcPct val="90000"/>
              </a:lnSpc>
              <a:spcBef>
                <a:spcPts val="100"/>
              </a:spcBef>
              <a:spcAft>
                <a:spcPts val="0"/>
              </a:spcAft>
            </a:pPr>
            <a:r>
              <a:rPr sz="850" b="1" i="0">
                <a:solidFill>
                  <a:srgbClr val="2B2B2B"/>
                </a:solidFill>
                <a:latin typeface="Segoe UI"/>
              </a:rPr>
              <a:t>horas totais alocadas</a:t>
            </a:r>
          </a:p>
          <a:p>
            <a:pPr algn="l">
              <a:lnSpc>
                <a:spcPct val="90000"/>
              </a:lnSpc>
              <a:spcBef>
                <a:spcPts val="0"/>
              </a:spcBef>
              <a:spcAft>
                <a:spcPts val="0"/>
              </a:spcAft>
            </a:pPr>
            <a:r>
              <a:rPr sz="750" b="0" i="0">
                <a:solidFill>
                  <a:srgbClr val="767676"/>
                </a:solidFill>
                <a:latin typeface="Segoe UI"/>
              </a:rPr>
              <a:t>11 papéis em 4 semanas</a:t>
            </a:r>
          </a:p>
        </p:txBody>
      </p:sp>
      <p:sp>
        <p:nvSpPr>
          <p:cNvPr id="17" name="Rounded Rectangle 16"/>
          <p:cNvSpPr/>
          <p:nvPr/>
        </p:nvSpPr>
        <p:spPr>
          <a:xfrm>
            <a:off x="8366759" y="2706624"/>
            <a:ext cx="3413729" cy="731520"/>
          </a:xfrm>
          <a:prstGeom prst="roundRect">
            <a:avLst>
              <a:gd name="adj" fmla="val 6000"/>
            </a:avLst>
          </a:prstGeom>
          <a:solidFill>
            <a:srgbClr val="EBF6F7"/>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8" name="Rectangle 17"/>
          <p:cNvSpPr/>
          <p:nvPr/>
        </p:nvSpPr>
        <p:spPr>
          <a:xfrm>
            <a:off x="8366759" y="2707538"/>
            <a:ext cx="41148" cy="729691"/>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9" name="TextBox 18"/>
          <p:cNvSpPr txBox="1"/>
          <p:nvPr/>
        </p:nvSpPr>
        <p:spPr>
          <a:xfrm>
            <a:off x="8567928" y="2807208"/>
            <a:ext cx="3047969" cy="731520"/>
          </a:xfrm>
          <a:prstGeom prst="rect">
            <a:avLst/>
          </a:prstGeom>
          <a:noFill/>
        </p:spPr>
        <p:txBody>
          <a:bodyPr wrap="square" tIns="0" rIns="0" bIns="0" lIns="0" anchor="t">
            <a:spAutoFit/>
          </a:bodyPr>
          <a:lstStyle/>
          <a:p>
            <a:pPr algn="l">
              <a:lnSpc>
                <a:spcPct val="88000"/>
              </a:lnSpc>
              <a:spcBef>
                <a:spcPts val="0"/>
              </a:spcBef>
              <a:spcAft>
                <a:spcPts val="0"/>
              </a:spcAft>
            </a:pPr>
            <a:r>
              <a:rPr sz="1800" b="1" i="0">
                <a:solidFill>
                  <a:srgbClr val="008C95"/>
                </a:solidFill>
                <a:latin typeface="Segoe UI"/>
              </a:rPr>
              <a:t>5,0</a:t>
            </a:r>
          </a:p>
          <a:p>
            <a:pPr algn="l">
              <a:lnSpc>
                <a:spcPct val="90000"/>
              </a:lnSpc>
              <a:spcBef>
                <a:spcPts val="100"/>
              </a:spcBef>
              <a:spcAft>
                <a:spcPts val="0"/>
              </a:spcAft>
            </a:pPr>
            <a:r>
              <a:rPr sz="850" b="1" i="0">
                <a:solidFill>
                  <a:srgbClr val="2B2B2B"/>
                </a:solidFill>
                <a:latin typeface="Segoe UI"/>
              </a:rPr>
              <a:t>FTE médio na PoC</a:t>
            </a:r>
          </a:p>
          <a:p>
            <a:pPr algn="l">
              <a:lnSpc>
                <a:spcPct val="90000"/>
              </a:lnSpc>
              <a:spcBef>
                <a:spcPts val="0"/>
              </a:spcBef>
              <a:spcAft>
                <a:spcPts val="0"/>
              </a:spcAft>
            </a:pPr>
            <a:r>
              <a:rPr sz="750" b="0" i="0">
                <a:solidFill>
                  <a:srgbClr val="767676"/>
                </a:solidFill>
                <a:latin typeface="Segoe UI"/>
              </a:rPr>
              <a:t>800 h ÷ (4 semanas × 40 h)</a:t>
            </a:r>
          </a:p>
        </p:txBody>
      </p:sp>
      <p:sp>
        <p:nvSpPr>
          <p:cNvPr id="20" name="Rounded Rectangle 19"/>
          <p:cNvSpPr/>
          <p:nvPr/>
        </p:nvSpPr>
        <p:spPr>
          <a:xfrm>
            <a:off x="8366759" y="3547872"/>
            <a:ext cx="3413729" cy="731520"/>
          </a:xfrm>
          <a:prstGeom prst="roundRect">
            <a:avLst>
              <a:gd name="adj" fmla="val 6000"/>
            </a:avLst>
          </a:prstGeom>
          <a:solidFill>
            <a:srgbClr val="FAFAFB"/>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1" name="Rectangle 20"/>
          <p:cNvSpPr/>
          <p:nvPr/>
        </p:nvSpPr>
        <p:spPr>
          <a:xfrm>
            <a:off x="8366759" y="3548786"/>
            <a:ext cx="41148" cy="729691"/>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2" name="TextBox 21"/>
          <p:cNvSpPr txBox="1"/>
          <p:nvPr/>
        </p:nvSpPr>
        <p:spPr>
          <a:xfrm>
            <a:off x="8567928" y="3648456"/>
            <a:ext cx="3047969" cy="731520"/>
          </a:xfrm>
          <a:prstGeom prst="rect">
            <a:avLst/>
          </a:prstGeom>
          <a:noFill/>
        </p:spPr>
        <p:txBody>
          <a:bodyPr wrap="square" tIns="0" rIns="0" bIns="0" lIns="0" anchor="t">
            <a:spAutoFit/>
          </a:bodyPr>
          <a:lstStyle/>
          <a:p>
            <a:pPr algn="l">
              <a:lnSpc>
                <a:spcPct val="88000"/>
              </a:lnSpc>
              <a:spcBef>
                <a:spcPts val="0"/>
              </a:spcBef>
              <a:spcAft>
                <a:spcPts val="0"/>
              </a:spcAft>
            </a:pPr>
            <a:r>
              <a:rPr sz="1800" b="1" i="0">
                <a:solidFill>
                  <a:srgbClr val="2F4A6B"/>
                </a:solidFill>
                <a:latin typeface="Segoe UI"/>
              </a:rPr>
              <a:t>US$ 80,37</a:t>
            </a:r>
          </a:p>
          <a:p>
            <a:pPr algn="l">
              <a:lnSpc>
                <a:spcPct val="90000"/>
              </a:lnSpc>
              <a:spcBef>
                <a:spcPts val="100"/>
              </a:spcBef>
              <a:spcAft>
                <a:spcPts val="0"/>
              </a:spcAft>
            </a:pPr>
            <a:r>
              <a:rPr sz="850" b="1" i="0">
                <a:solidFill>
                  <a:srgbClr val="2B2B2B"/>
                </a:solidFill>
                <a:latin typeface="Segoe UI"/>
              </a:rPr>
              <a:t>custo médio por hora</a:t>
            </a:r>
          </a:p>
          <a:p>
            <a:pPr algn="l">
              <a:lnSpc>
                <a:spcPct val="90000"/>
              </a:lnSpc>
              <a:spcBef>
                <a:spcPts val="0"/>
              </a:spcBef>
              <a:spcAft>
                <a:spcPts val="0"/>
              </a:spcAft>
            </a:pPr>
            <a:r>
              <a:rPr sz="750" b="0" i="0">
                <a:solidFill>
                  <a:srgbClr val="767676"/>
                </a:solidFill>
                <a:latin typeface="Segoe UI"/>
              </a:rPr>
              <a:t>taxa efetiva de venda da hora</a:t>
            </a:r>
          </a:p>
        </p:txBody>
      </p:sp>
      <p:sp>
        <p:nvSpPr>
          <p:cNvPr id="23" name="Rounded Rectangle 22"/>
          <p:cNvSpPr/>
          <p:nvPr/>
        </p:nvSpPr>
        <p:spPr>
          <a:xfrm>
            <a:off x="8366759" y="4389120"/>
            <a:ext cx="3413729" cy="1161288"/>
          </a:xfrm>
          <a:prstGeom prst="roundRect">
            <a:avLst>
              <a:gd name="adj" fmla="val 6000"/>
            </a:avLst>
          </a:prstGeom>
          <a:solidFill>
            <a:srgbClr val="FFF8E6"/>
          </a:solidFill>
          <a:ln w="9525">
            <a:solidFill>
              <a:srgbClr val="FFB414"/>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4" name="Rectangle 23"/>
          <p:cNvSpPr/>
          <p:nvPr/>
        </p:nvSpPr>
        <p:spPr>
          <a:xfrm>
            <a:off x="8366759" y="4390034"/>
            <a:ext cx="41148" cy="1159459"/>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5" name="TextBox 24"/>
          <p:cNvSpPr txBox="1"/>
          <p:nvPr/>
        </p:nvSpPr>
        <p:spPr>
          <a:xfrm>
            <a:off x="8567928" y="4507992"/>
            <a:ext cx="3029681" cy="1161288"/>
          </a:xfrm>
          <a:prstGeom prst="rect">
            <a:avLst/>
          </a:prstGeom>
          <a:noFill/>
        </p:spPr>
        <p:txBody>
          <a:bodyPr wrap="square" tIns="0" rIns="0" bIns="0" lIns="0" anchor="t">
            <a:spAutoFit/>
          </a:bodyPr>
          <a:lstStyle/>
          <a:p>
            <a:pPr algn="l">
              <a:lnSpc>
                <a:spcPct val="90000"/>
              </a:lnSpc>
              <a:spcBef>
                <a:spcPts val="0"/>
              </a:spcBef>
              <a:spcAft>
                <a:spcPts val="0"/>
              </a:spcAft>
            </a:pPr>
            <a:r>
              <a:rPr sz="900" b="1" i="0">
                <a:solidFill>
                  <a:srgbClr val="B07600"/>
                </a:solidFill>
                <a:latin typeface="Segoe UI"/>
              </a:rPr>
              <a:t>⚠  Aderência do dimensionamento</a:t>
            </a:r>
          </a:p>
          <a:p>
            <a:pPr algn="l">
              <a:lnSpc>
                <a:spcPct val="90000"/>
              </a:lnSpc>
              <a:spcBef>
                <a:spcPts val="600"/>
              </a:spcBef>
              <a:spcAft>
                <a:spcPts val="0"/>
              </a:spcAft>
            </a:pPr>
            <a:r>
              <a:rPr sz="2000" b="1" i="0">
                <a:solidFill>
                  <a:srgbClr val="B07600"/>
                </a:solidFill>
                <a:latin typeface="Segoe UI"/>
              </a:rPr>
              <a:t>37%</a:t>
            </a:r>
            <a:r>
              <a:rPr sz="800" b="1" i="0">
                <a:solidFill>
                  <a:srgbClr val="4A4A4A"/>
                </a:solidFill>
                <a:latin typeface="Segoe UI"/>
              </a:rPr>
              <a:t>   alocado ÷ recomendado</a:t>
            </a:r>
          </a:p>
          <a:p>
            <a:pPr algn="l">
              <a:lnSpc>
                <a:spcPct val="100000"/>
              </a:lnSpc>
              <a:spcBef>
                <a:spcPts val="500"/>
              </a:spcBef>
              <a:spcAft>
                <a:spcPts val="0"/>
              </a:spcAft>
            </a:pPr>
            <a:r>
              <a:rPr sz="800" b="0" i="0">
                <a:solidFill>
                  <a:srgbClr val="4A4A4A"/>
                </a:solidFill>
                <a:latin typeface="Segoe UI"/>
              </a:rPr>
              <a:t>800 h alocadas contra 2.141 h recomendadas pela volumetria de exemplo. Para cobrir esse dimensionamento no mesmo prazo seriam necessários </a:t>
            </a:r>
            <a:r>
              <a:rPr sz="800" b="1" i="0">
                <a:solidFill>
                  <a:srgbClr val="B07600"/>
                </a:solidFill>
                <a:latin typeface="Segoe UI"/>
              </a:rPr>
              <a:t>13,4 FTE</a:t>
            </a:r>
            <a:r>
              <a:rPr sz="800" b="0" i="0">
                <a:solidFill>
                  <a:srgbClr val="4A4A4A"/>
                </a:solidFill>
                <a:latin typeface="Segoe UI"/>
              </a:rPr>
              <a:t> — sinal de que o escopo precisa ser reduzido, o time ampliado ou o prazo renegociado.</a:t>
            </a:r>
          </a:p>
        </p:txBody>
      </p:sp>
      <p:sp>
        <p:nvSpPr>
          <p:cNvPr id="26" name="TextBox 25"/>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Rate card ilustrativo (aba Parametros, linhas 18–23). O custo bruto é de US$ 53.580; com margem de 20% por item, US$ 64.296.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5 · INFRAESTRUTURA</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Infraestrutura Azure</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Repassada a custo durante a PoC. Meses = semanas ÷ 4,345 = 0,92 mês — menos de um mês cheio de consumo.</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6903720" cy="299923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76072" y="1170432"/>
            <a:ext cx="45720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4.1 · ITENS DE INFRAESTRUTURA DURANTE A POC</a:t>
            </a:r>
          </a:p>
        </p:txBody>
      </p:sp>
      <p:graphicFrame>
        <p:nvGraphicFramePr>
          <p:cNvPr id="9" name="Table 8"/>
          <p:cNvGraphicFramePr>
            <a:graphicFrameLocks noGrp="1"/>
          </p:cNvGraphicFramePr>
          <p:nvPr/>
        </p:nvGraphicFramePr>
        <p:xfrm>
          <a:off x="557784" y="1444752"/>
          <a:ext cx="6611111" cy="2432304"/>
        </p:xfrm>
        <a:graphic>
          <a:graphicData uri="http://schemas.openxmlformats.org/drawingml/2006/table">
            <a:tbl>
              <a:tblPr firstRow="0" bandRow="0">
                <a:tableStyleId>{2D5ABB26-0587-4C30-8999-92F81FD0307C}</a:tableStyleId>
              </a:tblPr>
              <a:tblGrid>
                <a:gridCol w="3310128"/>
                <a:gridCol w="822960"/>
                <a:gridCol w="658368"/>
                <a:gridCol w="777240"/>
                <a:gridCol w="1042415"/>
              </a:tblGrid>
              <a:tr h="256032">
                <a:tc>
                  <a:txBody>
                    <a:bodyPr wrap="square"/>
                    <a:lstStyle/>
                    <a:p>
                      <a:pPr algn="l"/>
                      <a:r>
                        <a:rPr sz="750" b="1" i="0">
                          <a:solidFill>
                            <a:srgbClr val="767676"/>
                          </a:solidFill>
                          <a:latin typeface="Segoe UI"/>
                        </a:rPr>
                        <a:t>ITEM</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US$ / MÊS</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MESES</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CUSTO</a:t>
                      </a:r>
                    </a:p>
                  </a:txBody>
                  <a:tcPr marT="18288" marR="64008" marB="18288" marL="64008" anchor="ctr">
                    <a:lnB w="9525" cap="flat" cmpd="sng" algn="ctr">
                      <a:solidFill>
                        <a:srgbClr val="2B2B2B"/>
                      </a:solidFill>
                    </a:lnB>
                    <a:noFill/>
                  </a:tcPr>
                </a:tc>
                <a:tc>
                  <a:txBody>
                    <a:bodyPr wrap="square"/>
                    <a:lstStyle/>
                    <a:p>
                      <a:pPr algn="r"/>
                      <a:r>
                        <a:rPr sz="750" b="1" i="0">
                          <a:solidFill>
                            <a:srgbClr val="767676"/>
                          </a:solidFill>
                          <a:latin typeface="Segoe UI"/>
                        </a:rPr>
                        <a:t>C/ MARGEM</a:t>
                      </a:r>
                    </a:p>
                  </a:txBody>
                  <a:tcPr marT="18288" marR="64008" marB="18288" marL="64008" anchor="ctr">
                    <a:lnB w="9525" cap="flat" cmpd="sng" algn="ctr">
                      <a:solidFill>
                        <a:srgbClr val="2B2B2B"/>
                      </a:solidFill>
                    </a:lnB>
                    <a:noFill/>
                  </a:tcPr>
                </a:tc>
              </a:tr>
              <a:tr h="457200">
                <a:tc>
                  <a:txBody>
                    <a:bodyPr wrap="square"/>
                    <a:lstStyle/>
                    <a:p>
                      <a:pPr algn="l"/>
                      <a:r>
                        <a:rPr sz="900" b="1" i="0">
                          <a:solidFill>
                            <a:srgbClr val="2B2B2B"/>
                          </a:solidFill>
                          <a:latin typeface="Segoe UI"/>
                        </a:rPr>
                        <a:t>Pipeline runner VM (Standard D8s v5)</a:t>
                      </a:r>
                      <a:r>
                        <a:rPr sz="750" b="0" i="0">
                          <a:solidFill>
                            <a:srgbClr val="767676"/>
                          </a:solidFill>
                          <a:latin typeface="Segoe UI"/>
                        </a:rPr>
                        <a:t>
Executa a esteira de agentes (Standard D8s v5, ~730 h/mês)</a:t>
                      </a:r>
                    </a:p>
                  </a:txBody>
                  <a:tcPr marT="18288" marR="64008" marB="18288" marL="64008" anchor="ctr">
                    <a:lnB w="6350" cap="flat" cmpd="sng" algn="ctr">
                      <a:solidFill>
                        <a:srgbClr val="E1E1E1"/>
                      </a:solidFill>
                    </a:lnB>
                    <a:solidFill>
                      <a:srgbClr val="FAFAFB"/>
                    </a:solidFill>
                  </a:tcPr>
                </a:tc>
                <a:tc>
                  <a:txBody>
                    <a:bodyPr wrap="square"/>
                    <a:lstStyle/>
                    <a:p>
                      <a:pPr algn="r"/>
                      <a:r>
                        <a:rPr sz="950" b="1" i="0">
                          <a:solidFill>
                            <a:srgbClr val="FF5800"/>
                          </a:solidFill>
                          <a:latin typeface="Segoe UI"/>
                        </a:rPr>
                        <a:t>280</a:t>
                      </a:r>
                    </a:p>
                  </a:txBody>
                  <a:tcPr marT="18288" marR="64008" marB="18288" marL="64008"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0,92</a:t>
                      </a:r>
                    </a:p>
                  </a:txBody>
                  <a:tcPr marT="18288" marR="64008" marB="18288" marL="64008"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257,77</a:t>
                      </a:r>
                    </a:p>
                  </a:txBody>
                  <a:tcPr marT="18288" marR="64008" marB="18288" marL="64008" anchor="ctr">
                    <a:lnB w="6350" cap="flat" cmpd="sng" algn="ctr">
                      <a:solidFill>
                        <a:srgbClr val="E1E1E1"/>
                      </a:solidFill>
                    </a:lnB>
                    <a:solidFill>
                      <a:srgbClr val="FAFAFB"/>
                    </a:solidFill>
                  </a:tcPr>
                </a:tc>
                <a:tc>
                  <a:txBody>
                    <a:bodyPr wrap="square"/>
                    <a:lstStyle/>
                    <a:p>
                      <a:pPr algn="r"/>
                      <a:r>
                        <a:rPr sz="950" b="1" i="0">
                          <a:solidFill>
                            <a:srgbClr val="2B2B2B"/>
                          </a:solidFill>
                          <a:latin typeface="Segoe UI"/>
                        </a:rPr>
                        <a:t>309,32</a:t>
                      </a:r>
                    </a:p>
                  </a:txBody>
                  <a:tcPr marT="18288" marR="64008" marB="18288" marL="64008" anchor="ctr">
                    <a:lnB w="6350" cap="flat" cmpd="sng" algn="ctr">
                      <a:solidFill>
                        <a:srgbClr val="E1E1E1"/>
                      </a:solidFill>
                    </a:lnB>
                    <a:solidFill>
                      <a:srgbClr val="FAFAFB"/>
                    </a:solidFill>
                  </a:tcPr>
                </a:tc>
              </a:tr>
              <a:tr h="457200">
                <a:tc>
                  <a:txBody>
                    <a:bodyPr wrap="square"/>
                    <a:lstStyle/>
                    <a:p>
                      <a:pPr algn="l"/>
                      <a:r>
                        <a:rPr sz="900" b="1" i="0">
                          <a:solidFill>
                            <a:srgbClr val="2B2B2B"/>
                          </a:solidFill>
                          <a:latin typeface="Segoe UI"/>
                        </a:rPr>
                        <a:t>Ambiente DEV do BC piloto</a:t>
                      </a:r>
                      <a:r>
                        <a:rPr sz="750" b="0" i="0">
                          <a:solidFill>
                            <a:srgbClr val="767676"/>
                          </a:solidFill>
                          <a:latin typeface="Segoe UI"/>
                        </a:rPr>
                        <a:t>
App Service + SQL + Redis, dimensionamento DEV</a:t>
                      </a:r>
                    </a:p>
                  </a:txBody>
                  <a:tcPr marT="18288" marR="64008" marB="18288" marL="64008" anchor="ctr">
                    <a:lnB w="6350" cap="flat" cmpd="sng" algn="ctr">
                      <a:solidFill>
                        <a:srgbClr val="E1E1E1"/>
                      </a:solidFill>
                    </a:lnB>
                    <a:noFill/>
                  </a:tcPr>
                </a:tc>
                <a:tc>
                  <a:txBody>
                    <a:bodyPr wrap="square"/>
                    <a:lstStyle/>
                    <a:p>
                      <a:pPr algn="r"/>
                      <a:r>
                        <a:rPr sz="950" b="1" i="0">
                          <a:solidFill>
                            <a:srgbClr val="008C95"/>
                          </a:solidFill>
                          <a:latin typeface="Segoe UI"/>
                        </a:rPr>
                        <a:t>65</a:t>
                      </a:r>
                    </a:p>
                  </a:txBody>
                  <a:tcPr marT="18288" marR="64008" marB="18288" marL="64008" anchor="ctr">
                    <a:lnB w="6350" cap="flat" cmpd="sng" algn="ctr">
                      <a:solidFill>
                        <a:srgbClr val="E1E1E1"/>
                      </a:solidFill>
                    </a:lnB>
                    <a:noFill/>
                  </a:tcPr>
                </a:tc>
                <a:tc>
                  <a:txBody>
                    <a:bodyPr wrap="square"/>
                    <a:lstStyle/>
                    <a:p>
                      <a:pPr algn="r"/>
                      <a:r>
                        <a:rPr sz="850" b="0" i="0">
                          <a:solidFill>
                            <a:srgbClr val="767676"/>
                          </a:solidFill>
                          <a:latin typeface="Segoe UI"/>
                        </a:rPr>
                        <a:t>0,92</a:t>
                      </a:r>
                    </a:p>
                  </a:txBody>
                  <a:tcPr marT="18288" marR="64008" marB="18288" marL="64008" anchor="ctr">
                    <a:lnB w="6350" cap="flat" cmpd="sng" algn="ctr">
                      <a:solidFill>
                        <a:srgbClr val="E1E1E1"/>
                      </a:solidFill>
                    </a:lnB>
                    <a:noFill/>
                  </a:tcPr>
                </a:tc>
                <a:tc>
                  <a:txBody>
                    <a:bodyPr wrap="square"/>
                    <a:lstStyle/>
                    <a:p>
                      <a:pPr algn="r"/>
                      <a:r>
                        <a:rPr sz="850" b="0" i="0">
                          <a:solidFill>
                            <a:srgbClr val="767676"/>
                          </a:solidFill>
                          <a:latin typeface="Segoe UI"/>
                        </a:rPr>
                        <a:t>59,84</a:t>
                      </a:r>
                    </a:p>
                  </a:txBody>
                  <a:tcPr marT="18288" marR="64008" marB="18288" marL="64008" anchor="ctr">
                    <a:lnB w="6350" cap="flat" cmpd="sng" algn="ctr">
                      <a:solidFill>
                        <a:srgbClr val="E1E1E1"/>
                      </a:solidFill>
                    </a:lnB>
                    <a:noFill/>
                  </a:tcPr>
                </a:tc>
                <a:tc>
                  <a:txBody>
                    <a:bodyPr wrap="square"/>
                    <a:lstStyle/>
                    <a:p>
                      <a:pPr algn="r"/>
                      <a:r>
                        <a:rPr sz="950" b="1" i="0">
                          <a:solidFill>
                            <a:srgbClr val="2B2B2B"/>
                          </a:solidFill>
                          <a:latin typeface="Segoe UI"/>
                        </a:rPr>
                        <a:t>71,81</a:t>
                      </a:r>
                    </a:p>
                  </a:txBody>
                  <a:tcPr marT="18288" marR="64008" marB="18288" marL="64008" anchor="ctr">
                    <a:lnB w="6350" cap="flat" cmpd="sng" algn="ctr">
                      <a:solidFill>
                        <a:srgbClr val="E1E1E1"/>
                      </a:solidFill>
                    </a:lnB>
                    <a:noFill/>
                  </a:tcPr>
                </a:tc>
              </a:tr>
              <a:tr h="457200">
                <a:tc>
                  <a:txBody>
                    <a:bodyPr wrap="square"/>
                    <a:lstStyle/>
                    <a:p>
                      <a:pPr algn="l"/>
                      <a:r>
                        <a:rPr sz="900" b="1" i="0">
                          <a:solidFill>
                            <a:srgbClr val="2B2B2B"/>
                          </a:solidFill>
                          <a:latin typeface="Segoe UI"/>
                        </a:rPr>
                        <a:t>Serviços compartilhados (ACR + Log Analytics)</a:t>
                      </a:r>
                      <a:r>
                        <a:rPr sz="750" b="0" i="0">
                          <a:solidFill>
                            <a:srgbClr val="767676"/>
                          </a:solidFill>
                          <a:latin typeface="Segoe UI"/>
                        </a:rPr>
                        <a:t>
Container Registry + Log Analytics workspace</a:t>
                      </a:r>
                    </a:p>
                  </a:txBody>
                  <a:tcPr marT="18288" marR="64008" marB="18288" marL="64008" anchor="ctr">
                    <a:lnB w="6350" cap="flat" cmpd="sng" algn="ctr">
                      <a:solidFill>
                        <a:srgbClr val="E1E1E1"/>
                      </a:solidFill>
                    </a:lnB>
                    <a:solidFill>
                      <a:srgbClr val="FAFAFB"/>
                    </a:solidFill>
                  </a:tcPr>
                </a:tc>
                <a:tc>
                  <a:txBody>
                    <a:bodyPr wrap="square"/>
                    <a:lstStyle/>
                    <a:p>
                      <a:pPr algn="r"/>
                      <a:r>
                        <a:rPr sz="950" b="1" i="0">
                          <a:solidFill>
                            <a:srgbClr val="2F4A6B"/>
                          </a:solidFill>
                          <a:latin typeface="Segoe UI"/>
                        </a:rPr>
                        <a:t>45</a:t>
                      </a:r>
                    </a:p>
                  </a:txBody>
                  <a:tcPr marT="18288" marR="64008" marB="18288" marL="64008"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0,92</a:t>
                      </a:r>
                    </a:p>
                  </a:txBody>
                  <a:tcPr marT="18288" marR="64008" marB="18288" marL="64008"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41,43</a:t>
                      </a:r>
                    </a:p>
                  </a:txBody>
                  <a:tcPr marT="18288" marR="64008" marB="18288" marL="64008" anchor="ctr">
                    <a:lnB w="6350" cap="flat" cmpd="sng" algn="ctr">
                      <a:solidFill>
                        <a:srgbClr val="E1E1E1"/>
                      </a:solidFill>
                    </a:lnB>
                    <a:solidFill>
                      <a:srgbClr val="FAFAFB"/>
                    </a:solidFill>
                  </a:tcPr>
                </a:tc>
                <a:tc>
                  <a:txBody>
                    <a:bodyPr wrap="square"/>
                    <a:lstStyle/>
                    <a:p>
                      <a:pPr algn="r"/>
                      <a:r>
                        <a:rPr sz="950" b="1" i="0">
                          <a:solidFill>
                            <a:srgbClr val="2B2B2B"/>
                          </a:solidFill>
                          <a:latin typeface="Segoe UI"/>
                        </a:rPr>
                        <a:t>49,71</a:t>
                      </a:r>
                    </a:p>
                  </a:txBody>
                  <a:tcPr marT="18288" marR="64008" marB="18288" marL="64008" anchor="ctr">
                    <a:lnB w="6350" cap="flat" cmpd="sng" algn="ctr">
                      <a:solidFill>
                        <a:srgbClr val="E1E1E1"/>
                      </a:solidFill>
                    </a:lnB>
                    <a:solidFill>
                      <a:srgbClr val="FAFAFB"/>
                    </a:solidFill>
                  </a:tcPr>
                </a:tc>
              </a:tr>
              <a:tr h="457200">
                <a:tc>
                  <a:txBody>
                    <a:bodyPr wrap="square"/>
                    <a:lstStyle/>
                    <a:p>
                      <a:pPr algn="l"/>
                      <a:r>
                        <a:rPr sz="900" b="1" i="0">
                          <a:solidFill>
                            <a:srgbClr val="2B2B2B"/>
                          </a:solidFill>
                          <a:latin typeface="Segoe UI"/>
                        </a:rPr>
                        <a:t>Storage de artefatos e egress</a:t>
                      </a:r>
                      <a:r>
                        <a:rPr sz="750" b="0" i="0">
                          <a:solidFill>
                            <a:srgbClr val="767676"/>
                          </a:solidFill>
                          <a:latin typeface="Segoe UI"/>
                        </a:rPr>
                        <a:t>
232 artefatos / 82 MB no run de referência</a:t>
                      </a:r>
                    </a:p>
                  </a:txBody>
                  <a:tcPr marT="18288" marR="64008" marB="18288" marL="64008" anchor="ctr">
                    <a:lnB w="6350" cap="flat" cmpd="sng" algn="ctr">
                      <a:solidFill>
                        <a:srgbClr val="E1E1E1"/>
                      </a:solidFill>
                    </a:lnB>
                    <a:noFill/>
                  </a:tcPr>
                </a:tc>
                <a:tc>
                  <a:txBody>
                    <a:bodyPr wrap="square"/>
                    <a:lstStyle/>
                    <a:p>
                      <a:pPr algn="r"/>
                      <a:r>
                        <a:rPr sz="950" b="1" i="0">
                          <a:solidFill>
                            <a:srgbClr val="4B912A"/>
                          </a:solidFill>
                          <a:latin typeface="Segoe UI"/>
                        </a:rPr>
                        <a:t>10</a:t>
                      </a:r>
                    </a:p>
                  </a:txBody>
                  <a:tcPr marT="18288" marR="64008" marB="18288" marL="64008" anchor="ctr">
                    <a:lnB w="6350" cap="flat" cmpd="sng" algn="ctr">
                      <a:solidFill>
                        <a:srgbClr val="E1E1E1"/>
                      </a:solidFill>
                    </a:lnB>
                    <a:noFill/>
                  </a:tcPr>
                </a:tc>
                <a:tc>
                  <a:txBody>
                    <a:bodyPr wrap="square"/>
                    <a:lstStyle/>
                    <a:p>
                      <a:pPr algn="r"/>
                      <a:r>
                        <a:rPr sz="850" b="0" i="0">
                          <a:solidFill>
                            <a:srgbClr val="767676"/>
                          </a:solidFill>
                          <a:latin typeface="Segoe UI"/>
                        </a:rPr>
                        <a:t>0,92</a:t>
                      </a:r>
                    </a:p>
                  </a:txBody>
                  <a:tcPr marT="18288" marR="64008" marB="18288" marL="64008" anchor="ctr">
                    <a:lnB w="6350" cap="flat" cmpd="sng" algn="ctr">
                      <a:solidFill>
                        <a:srgbClr val="E1E1E1"/>
                      </a:solidFill>
                    </a:lnB>
                    <a:noFill/>
                  </a:tcPr>
                </a:tc>
                <a:tc>
                  <a:txBody>
                    <a:bodyPr wrap="square"/>
                    <a:lstStyle/>
                    <a:p>
                      <a:pPr algn="r"/>
                      <a:r>
                        <a:rPr sz="850" b="0" i="0">
                          <a:solidFill>
                            <a:srgbClr val="767676"/>
                          </a:solidFill>
                          <a:latin typeface="Segoe UI"/>
                        </a:rPr>
                        <a:t>9,21</a:t>
                      </a:r>
                    </a:p>
                  </a:txBody>
                  <a:tcPr marT="18288" marR="64008" marB="18288" marL="64008" anchor="ctr">
                    <a:lnB w="6350" cap="flat" cmpd="sng" algn="ctr">
                      <a:solidFill>
                        <a:srgbClr val="E1E1E1"/>
                      </a:solidFill>
                    </a:lnB>
                    <a:noFill/>
                  </a:tcPr>
                </a:tc>
                <a:tc>
                  <a:txBody>
                    <a:bodyPr wrap="square"/>
                    <a:lstStyle/>
                    <a:p>
                      <a:pPr algn="r"/>
                      <a:r>
                        <a:rPr sz="950" b="1" i="0">
                          <a:solidFill>
                            <a:srgbClr val="2B2B2B"/>
                          </a:solidFill>
                          <a:latin typeface="Segoe UI"/>
                        </a:rPr>
                        <a:t>11,05</a:t>
                      </a:r>
                    </a:p>
                  </a:txBody>
                  <a:tcPr marT="18288" marR="64008" marB="18288" marL="64008" anchor="ctr">
                    <a:lnB w="6350" cap="flat" cmpd="sng" algn="ctr">
                      <a:solidFill>
                        <a:srgbClr val="E1E1E1"/>
                      </a:solidFill>
                    </a:lnB>
                    <a:noFill/>
                  </a:tcPr>
                </a:tc>
              </a:tr>
              <a:tr h="347472">
                <a:tc>
                  <a:txBody>
                    <a:bodyPr wrap="square"/>
                    <a:lstStyle/>
                    <a:p>
                      <a:pPr algn="l"/>
                      <a:r>
                        <a:rPr sz="900" b="1" i="0">
                          <a:solidFill>
                            <a:srgbClr val="FFFFFF"/>
                          </a:solidFill>
                          <a:latin typeface="Segoe UI"/>
                        </a:rPr>
                        <a:t>TOTAL INFRAESTRUTURA</a:t>
                      </a:r>
                    </a:p>
                  </a:txBody>
                  <a:tcPr marT="18288" marR="64008" marB="18288" marL="64008" anchor="ctr">
                    <a:solidFill>
                      <a:srgbClr val="2B2B2B"/>
                    </a:solidFill>
                  </a:tcPr>
                </a:tc>
                <a:tc>
                  <a:txBody>
                    <a:bodyPr wrap="square"/>
                    <a:lstStyle/>
                    <a:p>
                      <a:pPr algn="l"/>
                      <a:r>
                        <a:rPr sz="850" b="0" i="0">
                          <a:solidFill>
                            <a:srgbClr val="2B2B2B"/>
                          </a:solidFill>
                          <a:latin typeface="Segoe UI"/>
                        </a:rPr>
                        <a:t/>
                      </a:r>
                    </a:p>
                  </a:txBody>
                  <a:tcPr marT="18288" marR="64008" marB="18288" marL="64008" anchor="ctr">
                    <a:solidFill>
                      <a:srgbClr val="2B2B2B"/>
                    </a:solidFill>
                  </a:tcPr>
                </a:tc>
                <a:tc>
                  <a:txBody>
                    <a:bodyPr wrap="square"/>
                    <a:lstStyle/>
                    <a:p>
                      <a:pPr algn="l"/>
                      <a:r>
                        <a:rPr sz="850" b="0" i="0">
                          <a:solidFill>
                            <a:srgbClr val="2B2B2B"/>
                          </a:solidFill>
                          <a:latin typeface="Segoe UI"/>
                        </a:rPr>
                        <a:t/>
                      </a:r>
                    </a:p>
                  </a:txBody>
                  <a:tcPr marT="18288" marR="64008" marB="18288" marL="64008" anchor="ctr">
                    <a:solidFill>
                      <a:srgbClr val="2B2B2B"/>
                    </a:solidFill>
                  </a:tcPr>
                </a:tc>
                <a:tc>
                  <a:txBody>
                    <a:bodyPr wrap="square"/>
                    <a:lstStyle/>
                    <a:p>
                      <a:pPr algn="r"/>
                      <a:r>
                        <a:rPr sz="900" b="0" i="0">
                          <a:solidFill>
                            <a:srgbClr val="D6D6D6"/>
                          </a:solidFill>
                          <a:latin typeface="Segoe UI"/>
                        </a:rPr>
                        <a:t>368,24</a:t>
                      </a:r>
                    </a:p>
                  </a:txBody>
                  <a:tcPr marT="18288" marR="64008" marB="18288" marL="64008" anchor="ctr">
                    <a:solidFill>
                      <a:srgbClr val="2B2B2B"/>
                    </a:solidFill>
                  </a:tcPr>
                </a:tc>
                <a:tc>
                  <a:txBody>
                    <a:bodyPr wrap="square"/>
                    <a:lstStyle/>
                    <a:p>
                      <a:pPr algn="r"/>
                      <a:r>
                        <a:rPr sz="1000" b="1" i="0">
                          <a:solidFill>
                            <a:srgbClr val="FFB414"/>
                          </a:solidFill>
                          <a:latin typeface="Segoe UI"/>
                        </a:rPr>
                        <a:t>441,89</a:t>
                      </a:r>
                    </a:p>
                  </a:txBody>
                  <a:tcPr marT="18288" marR="64008" marB="18288" marL="64008" anchor="ctr">
                    <a:solidFill>
                      <a:srgbClr val="2B2B2B"/>
                    </a:solidFill>
                  </a:tcPr>
                </a:tc>
              </a:tr>
            </a:tbl>
          </a:graphicData>
        </a:graphic>
      </p:graphicFrame>
      <p:sp>
        <p:nvSpPr>
          <p:cNvPr id="10" name="Rounded Rectangle 9"/>
          <p:cNvSpPr/>
          <p:nvPr/>
        </p:nvSpPr>
        <p:spPr>
          <a:xfrm>
            <a:off x="7571231" y="1024128"/>
            <a:ext cx="4209257" cy="2999232"/>
          </a:xfrm>
          <a:prstGeom prst="roundRect">
            <a:avLst>
              <a:gd name="adj" fmla="val 6000"/>
            </a:avLst>
          </a:prstGeom>
          <a:solidFill>
            <a:srgbClr val="FF5800"/>
          </a:solidFill>
          <a:ln w="9525">
            <a:solidFill>
              <a:srgbClr val="FF5800"/>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1" name="TextBox 10"/>
          <p:cNvSpPr txBox="1"/>
          <p:nvPr/>
        </p:nvSpPr>
        <p:spPr>
          <a:xfrm>
            <a:off x="7827263" y="1280160"/>
            <a:ext cx="3697193" cy="2377440"/>
          </a:xfrm>
          <a:prstGeom prst="rect">
            <a:avLst/>
          </a:prstGeom>
          <a:noFill/>
        </p:spPr>
        <p:txBody>
          <a:bodyPr wrap="square" tIns="0" rIns="0" bIns="0" lIns="0" anchor="t">
            <a:spAutoFit/>
          </a:bodyPr>
          <a:lstStyle/>
          <a:p>
            <a:pPr algn="l">
              <a:lnSpc>
                <a:spcPct val="90000"/>
              </a:lnSpc>
              <a:spcBef>
                <a:spcPts val="0"/>
              </a:spcBef>
              <a:spcAft>
                <a:spcPts val="0"/>
              </a:spcAft>
            </a:pPr>
            <a:r>
              <a:rPr sz="850" b="1" i="0" spc="80">
                <a:solidFill>
                  <a:srgbClr val="FFE2D2"/>
                </a:solidFill>
                <a:latin typeface="Segoe UI"/>
              </a:rPr>
              <a:t>TOTAL DE INFRAESTRUTURA DA PoC</a:t>
            </a:r>
          </a:p>
          <a:p>
            <a:pPr algn="l">
              <a:lnSpc>
                <a:spcPct val="85000"/>
              </a:lnSpc>
              <a:spcBef>
                <a:spcPts val="600"/>
              </a:spcBef>
              <a:spcAft>
                <a:spcPts val="0"/>
              </a:spcAft>
            </a:pPr>
            <a:r>
              <a:rPr sz="3400" b="1" i="0">
                <a:solidFill>
                  <a:srgbClr val="FFFFFF"/>
                </a:solidFill>
                <a:latin typeface="Segoe UI"/>
              </a:rPr>
              <a:t>US$ 441,89</a:t>
            </a:r>
          </a:p>
          <a:p>
            <a:pPr algn="l">
              <a:lnSpc>
                <a:spcPct val="90000"/>
              </a:lnSpc>
              <a:spcBef>
                <a:spcPts val="200"/>
              </a:spcBef>
              <a:spcAft>
                <a:spcPts val="0"/>
              </a:spcAft>
            </a:pPr>
            <a:r>
              <a:rPr sz="900" b="0" i="0">
                <a:solidFill>
                  <a:srgbClr val="FFE2D2"/>
                </a:solidFill>
                <a:latin typeface="Segoe UI"/>
              </a:rPr>
              <a:t>com margem · 4 semanas</a:t>
            </a:r>
          </a:p>
          <a:p>
            <a:pPr algn="l">
              <a:lnSpc>
                <a:spcPct val="105000"/>
              </a:lnSpc>
              <a:spcBef>
                <a:spcPts val="1400"/>
              </a:spcBef>
              <a:spcAft>
                <a:spcPts val="0"/>
              </a:spcAft>
            </a:pPr>
            <a:r>
              <a:rPr sz="950" b="0" i="0">
                <a:solidFill>
                  <a:srgbClr val="FFFFFF"/>
                </a:solidFill>
                <a:latin typeface="Segoe UI"/>
              </a:rPr>
              <a:t>Equivale a </a:t>
            </a:r>
            <a:r>
              <a:rPr sz="950" b="1" i="0">
                <a:solidFill>
                  <a:srgbClr val="FFFFFF"/>
                </a:solidFill>
                <a:latin typeface="Segoe UI"/>
              </a:rPr>
              <a:t>0,7%</a:t>
            </a:r>
            <a:r>
              <a:rPr sz="950" b="0" i="0">
                <a:solidFill>
                  <a:srgbClr val="FFFFFF"/>
                </a:solidFill>
                <a:latin typeface="Segoe UI"/>
              </a:rPr>
              <a:t> do subtotal da PoC. A conta de nuvem não é o que precifica esta oferta — ela é praticamente ruído diante do custo de pessoas.</a:t>
            </a:r>
          </a:p>
        </p:txBody>
      </p:sp>
      <p:sp>
        <p:nvSpPr>
          <p:cNvPr id="12" name="Rounded Rectangle 11"/>
          <p:cNvSpPr/>
          <p:nvPr/>
        </p:nvSpPr>
        <p:spPr>
          <a:xfrm>
            <a:off x="411480" y="4224528"/>
            <a:ext cx="11369009" cy="1764791"/>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3" name="TextBox 12"/>
          <p:cNvSpPr txBox="1"/>
          <p:nvPr/>
        </p:nvSpPr>
        <p:spPr>
          <a:xfrm>
            <a:off x="594360" y="4370832"/>
            <a:ext cx="73152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008C95"/>
                </a:solidFill>
                <a:latin typeface="Segoe UI"/>
              </a:rPr>
              <a:t>POC × PROGRAMA COMPLETO — A MESMA CONTA EM OUTRA ESCALA</a:t>
            </a:r>
          </a:p>
        </p:txBody>
      </p:sp>
      <p:sp>
        <p:nvSpPr>
          <p:cNvPr id="14" name="TextBox 13"/>
          <p:cNvSpPr txBox="1"/>
          <p:nvPr/>
        </p:nvSpPr>
        <p:spPr>
          <a:xfrm>
            <a:off x="594360" y="4681728"/>
            <a:ext cx="5669280" cy="219456"/>
          </a:xfrm>
          <a:prstGeom prst="rect">
            <a:avLst/>
          </a:prstGeom>
          <a:noFill/>
        </p:spPr>
        <p:txBody>
          <a:bodyPr wrap="square" tIns="0" rIns="0" bIns="0" lIns="0" anchor="t">
            <a:spAutoFit/>
          </a:bodyPr>
          <a:lstStyle/>
          <a:p>
            <a:pPr algn="l">
              <a:spcBef>
                <a:spcPts val="0"/>
              </a:spcBef>
              <a:spcAft>
                <a:spcPts val="0"/>
              </a:spcAft>
            </a:pPr>
            <a:r>
              <a:rPr sz="850" b="1" i="0">
                <a:solidFill>
                  <a:srgbClr val="2B2B2B"/>
                </a:solidFill>
                <a:latin typeface="Segoe UI"/>
              </a:rPr>
              <a:t>PoC — runner + DEV do BC piloto + compartilhados</a:t>
            </a:r>
          </a:p>
        </p:txBody>
      </p:sp>
      <p:sp>
        <p:nvSpPr>
          <p:cNvPr id="15" name="Rectangle 14"/>
          <p:cNvSpPr/>
          <p:nvPr/>
        </p:nvSpPr>
        <p:spPr>
          <a:xfrm>
            <a:off x="594360" y="4919472"/>
            <a:ext cx="7802849" cy="1737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6" name="Rectangle 15"/>
          <p:cNvSpPr/>
          <p:nvPr/>
        </p:nvSpPr>
        <p:spPr>
          <a:xfrm>
            <a:off x="594360" y="4919472"/>
            <a:ext cx="2213574" cy="173736"/>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7" name="TextBox 16"/>
          <p:cNvSpPr txBox="1"/>
          <p:nvPr/>
        </p:nvSpPr>
        <p:spPr>
          <a:xfrm>
            <a:off x="8488649" y="4855464"/>
            <a:ext cx="3108960" cy="274320"/>
          </a:xfrm>
          <a:prstGeom prst="rect">
            <a:avLst/>
          </a:prstGeom>
          <a:noFill/>
        </p:spPr>
        <p:txBody>
          <a:bodyPr wrap="square" tIns="0" rIns="0" bIns="0" lIns="0" anchor="t">
            <a:spAutoFit/>
          </a:bodyPr>
          <a:lstStyle/>
          <a:p>
            <a:pPr algn="r">
              <a:spcBef>
                <a:spcPts val="0"/>
              </a:spcBef>
              <a:spcAft>
                <a:spcPts val="0"/>
              </a:spcAft>
            </a:pPr>
            <a:r>
              <a:rPr sz="900" b="1" i="0">
                <a:solidFill>
                  <a:srgbClr val="FF5800"/>
                </a:solidFill>
                <a:latin typeface="Segoe UI"/>
              </a:rPr>
              <a:t>US$ 400 / mês  ·  US$ 442 no período, com margem</a:t>
            </a:r>
          </a:p>
        </p:txBody>
      </p:sp>
      <p:sp>
        <p:nvSpPr>
          <p:cNvPr id="18" name="TextBox 17"/>
          <p:cNvSpPr txBox="1"/>
          <p:nvPr/>
        </p:nvSpPr>
        <p:spPr>
          <a:xfrm>
            <a:off x="594360" y="5248656"/>
            <a:ext cx="5669280" cy="219456"/>
          </a:xfrm>
          <a:prstGeom prst="rect">
            <a:avLst/>
          </a:prstGeom>
          <a:noFill/>
        </p:spPr>
        <p:txBody>
          <a:bodyPr wrap="square" tIns="0" rIns="0" bIns="0" lIns="0" anchor="t">
            <a:spAutoFit/>
          </a:bodyPr>
          <a:lstStyle/>
          <a:p>
            <a:pPr algn="l">
              <a:spcBef>
                <a:spcPts val="0"/>
              </a:spcBef>
              <a:spcAft>
                <a:spcPts val="0"/>
              </a:spcAft>
            </a:pPr>
            <a:r>
              <a:rPr sz="850" b="1" i="0">
                <a:solidFill>
                  <a:srgbClr val="2B2B2B"/>
                </a:solidFill>
                <a:latin typeface="Segoe UI"/>
              </a:rPr>
              <a:t>Programa completo — DEV + STG + PROD + compartilhados</a:t>
            </a:r>
          </a:p>
        </p:txBody>
      </p:sp>
      <p:sp>
        <p:nvSpPr>
          <p:cNvPr id="19" name="Rectangle 18"/>
          <p:cNvSpPr/>
          <p:nvPr/>
        </p:nvSpPr>
        <p:spPr>
          <a:xfrm>
            <a:off x="594360" y="5486400"/>
            <a:ext cx="7802849" cy="1737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0" name="Rectangle 19"/>
          <p:cNvSpPr/>
          <p:nvPr/>
        </p:nvSpPr>
        <p:spPr>
          <a:xfrm>
            <a:off x="594360" y="5486400"/>
            <a:ext cx="7802849" cy="173736"/>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1" name="TextBox 20"/>
          <p:cNvSpPr txBox="1"/>
          <p:nvPr/>
        </p:nvSpPr>
        <p:spPr>
          <a:xfrm>
            <a:off x="8488649" y="5422392"/>
            <a:ext cx="3108960" cy="274320"/>
          </a:xfrm>
          <a:prstGeom prst="rect">
            <a:avLst/>
          </a:prstGeom>
          <a:noFill/>
        </p:spPr>
        <p:txBody>
          <a:bodyPr wrap="square" tIns="0" rIns="0" bIns="0" lIns="0" anchor="t">
            <a:spAutoFit/>
          </a:bodyPr>
          <a:lstStyle/>
          <a:p>
            <a:pPr algn="r">
              <a:spcBef>
                <a:spcPts val="0"/>
              </a:spcBef>
              <a:spcAft>
                <a:spcPts val="0"/>
              </a:spcAft>
            </a:pPr>
            <a:r>
              <a:rPr sz="900" b="1" i="0">
                <a:solidFill>
                  <a:srgbClr val="2F4A6B"/>
                </a:solidFill>
                <a:latin typeface="Segoe UI"/>
              </a:rPr>
              <a:t>US$ 1.410 / mês  ·  US$ 16.920 / ano</a:t>
            </a:r>
          </a:p>
        </p:txBody>
      </p:sp>
      <p:sp>
        <p:nvSpPr>
          <p:cNvPr id="22" name="TextBox 21"/>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Referência do programa completo: azure-infra-estimator do run real (fora do escopo da PoC). Durante a PoC existe apenas o ambiente DEV do bounded context piloto.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6 · MODELO DE IA</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Custo do Modelo de IA</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Bottom-up por fase, a partir de tokens medidos no run real — US$ 3 por 1M de entrada · US$ 15 por 1M de saída.</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7699248" cy="4078224"/>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76072" y="1170432"/>
            <a:ext cx="50292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5.1 · CONSUMO POR FASE DA ESTEIRA</a:t>
            </a:r>
          </a:p>
        </p:txBody>
      </p:sp>
      <p:graphicFrame>
        <p:nvGraphicFramePr>
          <p:cNvPr id="9" name="Table 8"/>
          <p:cNvGraphicFramePr>
            <a:graphicFrameLocks noGrp="1"/>
          </p:cNvGraphicFramePr>
          <p:nvPr/>
        </p:nvGraphicFramePr>
        <p:xfrm>
          <a:off x="557784" y="1444752"/>
          <a:ext cx="7406639" cy="3511296"/>
        </p:xfrm>
        <a:graphic>
          <a:graphicData uri="http://schemas.openxmlformats.org/drawingml/2006/table">
            <a:tbl>
              <a:tblPr firstRow="0" bandRow="0">
                <a:tableStyleId>{2D5ABB26-0587-4C30-8999-92F81FD0307C}</a:tableStyleId>
              </a:tblPr>
              <a:tblGrid>
                <a:gridCol w="2084831"/>
                <a:gridCol w="603504"/>
                <a:gridCol w="877824"/>
                <a:gridCol w="822960"/>
                <a:gridCol w="731520"/>
                <a:gridCol w="841248"/>
                <a:gridCol w="1444752"/>
              </a:tblGrid>
              <a:tr h="274320">
                <a:tc>
                  <a:txBody>
                    <a:bodyPr wrap="square"/>
                    <a:lstStyle/>
                    <a:p>
                      <a:pPr algn="l"/>
                      <a:r>
                        <a:rPr sz="700" b="1" i="0">
                          <a:solidFill>
                            <a:srgbClr val="767676"/>
                          </a:solidFill>
                          <a:latin typeface="Segoe UI"/>
                        </a:rPr>
                        <a:t>FASE</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EXEC.</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TOKENS IN</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TOKENS OUT</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CUSTO</a:t>
                      </a:r>
                    </a:p>
                  </a:txBody>
                  <a:tcPr marT="18288" marR="45720" marB="18288" marL="45720" anchor="ctr">
                    <a:lnB w="9525" cap="flat" cmpd="sng" algn="ctr">
                      <a:solidFill>
                        <a:srgbClr val="2B2B2B"/>
                      </a:solidFill>
                    </a:lnB>
                    <a:noFill/>
                  </a:tcPr>
                </a:tc>
                <a:tc>
                  <a:txBody>
                    <a:bodyPr wrap="square"/>
                    <a:lstStyle/>
                    <a:p>
                      <a:pPr algn="r"/>
                      <a:r>
                        <a:rPr sz="700" b="1" i="0">
                          <a:solidFill>
                            <a:srgbClr val="767676"/>
                          </a:solidFill>
                          <a:latin typeface="Segoe UI"/>
                        </a:rPr>
                        <a:t>C/ MARGEM</a:t>
                      </a:r>
                    </a:p>
                  </a:txBody>
                  <a:tcPr marT="18288" marR="45720" marB="18288" marL="45720" anchor="ctr">
                    <a:lnB w="9525" cap="flat" cmpd="sng" algn="ctr">
                      <a:solidFill>
                        <a:srgbClr val="2B2B2B"/>
                      </a:solidFill>
                    </a:lnB>
                    <a:noFill/>
                  </a:tcPr>
                </a:tc>
                <a:tc>
                  <a:txBody>
                    <a:bodyPr wrap="square"/>
                    <a:lstStyle/>
                    <a:p>
                      <a:pPr algn="l"/>
                      <a:r>
                        <a:rPr sz="700" b="1" i="0">
                          <a:solidFill>
                            <a:srgbClr val="767676"/>
                          </a:solidFill>
                          <a:latin typeface="Segoe UI"/>
                        </a:rPr>
                        <a:t>OBSERVAÇÃO</a:t>
                      </a:r>
                    </a:p>
                  </a:txBody>
                  <a:tcPr marT="18288" marR="45720" marB="18288" marL="45720" anchor="ctr">
                    <a:lnB w="9525" cap="flat" cmpd="sng" algn="ctr">
                      <a:solidFill>
                        <a:srgbClr val="2B2B2B"/>
                      </a:solidFill>
                    </a:lnB>
                    <a:noFill/>
                  </a:tcPr>
                </a:tc>
              </a:tr>
              <a:tr h="384048">
                <a:tc>
                  <a:txBody>
                    <a:bodyPr wrap="square"/>
                    <a:lstStyle/>
                    <a:p>
                      <a:pPr algn="l"/>
                      <a:r>
                        <a:rPr sz="850" b="1" i="0">
                          <a:solidFill>
                            <a:srgbClr val="008C95"/>
                          </a:solidFill>
                          <a:latin typeface="Segoe UI"/>
                        </a:rPr>
                        <a:t>F0–F1 · AS-IS Diagnostic</a:t>
                      </a:r>
                    </a:p>
                  </a:txBody>
                  <a:tcPr marT="18288" marR="45720" marB="18288"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8</a:t>
                      </a:r>
                    </a:p>
                  </a:txBody>
                  <a:tcPr marT="18288" marR="45720" marB="18288"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700.000</a:t>
                      </a:r>
                    </a:p>
                  </a:txBody>
                  <a:tcPr marT="18288" marR="45720" marB="18288"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60.000</a:t>
                      </a:r>
                    </a:p>
                  </a:txBody>
                  <a:tcPr marT="18288" marR="45720" marB="18288" marL="45720"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24,00</a:t>
                      </a:r>
                    </a:p>
                  </a:txBody>
                  <a:tcPr marT="18288" marR="45720" marB="18288" marL="45720" anchor="ctr">
                    <a:lnB w="6350" cap="flat" cmpd="sng" algn="ctr">
                      <a:solidFill>
                        <a:srgbClr val="E1E1E1"/>
                      </a:solidFill>
                    </a:lnB>
                    <a:solidFill>
                      <a:srgbClr val="FAFAFB"/>
                    </a:solidFill>
                  </a:tcPr>
                </a:tc>
                <a:tc>
                  <a:txBody>
                    <a:bodyPr wrap="square"/>
                    <a:lstStyle/>
                    <a:p>
                      <a:pPr algn="r"/>
                      <a:r>
                        <a:rPr sz="900" b="1" i="0">
                          <a:solidFill>
                            <a:srgbClr val="2B2B2B"/>
                          </a:solidFill>
                          <a:latin typeface="Segoe UI"/>
                        </a:rPr>
                        <a:t>28,80</a:t>
                      </a:r>
                    </a:p>
                  </a:txBody>
                  <a:tcPr marT="18288" marR="45720" marB="18288"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7 agentes + extração AST</a:t>
                      </a:r>
                    </a:p>
                  </a:txBody>
                  <a:tcPr marT="18288" marR="45720" marB="18288" marL="45720" anchor="ctr">
                    <a:lnB w="6350" cap="flat" cmpd="sng" algn="ctr">
                      <a:solidFill>
                        <a:srgbClr val="E1E1E1"/>
                      </a:solidFill>
                    </a:lnB>
                    <a:solidFill>
                      <a:srgbClr val="FAFAFB"/>
                    </a:solidFill>
                  </a:tcPr>
                </a:tc>
              </a:tr>
              <a:tr h="384048">
                <a:tc>
                  <a:txBody>
                    <a:bodyPr wrap="square"/>
                    <a:lstStyle/>
                    <a:p>
                      <a:pPr algn="l"/>
                      <a:r>
                        <a:rPr sz="850" b="1" i="0">
                          <a:solidFill>
                            <a:srgbClr val="2F4A6B"/>
                          </a:solidFill>
                          <a:latin typeface="Segoe UI"/>
                        </a:rPr>
                        <a:t>F2 · TO-BE Architecture</a:t>
                      </a:r>
                    </a:p>
                  </a:txBody>
                  <a:tcPr marT="18288" marR="45720" marB="18288" marL="45720" anchor="ctr">
                    <a:lnB w="6350" cap="flat" cmpd="sng" algn="ctr">
                      <a:solidFill>
                        <a:srgbClr val="E1E1E1"/>
                      </a:solidFill>
                    </a:lnB>
                    <a:noFill/>
                  </a:tcPr>
                </a:tc>
                <a:tc>
                  <a:txBody>
                    <a:bodyPr wrap="square"/>
                    <a:lstStyle/>
                    <a:p>
                      <a:pPr algn="r"/>
                      <a:r>
                        <a:rPr sz="850" b="1" i="0">
                          <a:solidFill>
                            <a:srgbClr val="2B2B2B"/>
                          </a:solidFill>
                          <a:latin typeface="Segoe UI"/>
                        </a:rPr>
                        <a:t>3</a:t>
                      </a:r>
                    </a:p>
                  </a:txBody>
                  <a:tcPr marT="18288" marR="45720" marB="18288" marL="45720" anchor="ctr">
                    <a:lnB w="6350" cap="flat" cmpd="sng" algn="ctr">
                      <a:solidFill>
                        <a:srgbClr val="E1E1E1"/>
                      </a:solidFill>
                    </a:lnB>
                    <a:noFill/>
                  </a:tcPr>
                </a:tc>
                <a:tc>
                  <a:txBody>
                    <a:bodyPr wrap="square"/>
                    <a:lstStyle/>
                    <a:p>
                      <a:pPr algn="r"/>
                      <a:r>
                        <a:rPr sz="800" b="0" i="0">
                          <a:solidFill>
                            <a:srgbClr val="767676"/>
                          </a:solidFill>
                          <a:latin typeface="Segoe UI"/>
                        </a:rPr>
                        <a:t>800.000</a:t>
                      </a:r>
                    </a:p>
                  </a:txBody>
                  <a:tcPr marT="18288" marR="45720" marB="18288" marL="45720" anchor="ctr">
                    <a:lnB w="6350" cap="flat" cmpd="sng" algn="ctr">
                      <a:solidFill>
                        <a:srgbClr val="E1E1E1"/>
                      </a:solidFill>
                    </a:lnB>
                    <a:noFill/>
                  </a:tcPr>
                </a:tc>
                <a:tc>
                  <a:txBody>
                    <a:bodyPr wrap="square"/>
                    <a:lstStyle/>
                    <a:p>
                      <a:pPr algn="r"/>
                      <a:r>
                        <a:rPr sz="800" b="0" i="0">
                          <a:solidFill>
                            <a:srgbClr val="767676"/>
                          </a:solidFill>
                          <a:latin typeface="Segoe UI"/>
                        </a:rPr>
                        <a:t>90.000</a:t>
                      </a:r>
                    </a:p>
                  </a:txBody>
                  <a:tcPr marT="18288" marR="45720" marB="18288" marL="45720" anchor="ctr">
                    <a:lnB w="6350" cap="flat" cmpd="sng" algn="ctr">
                      <a:solidFill>
                        <a:srgbClr val="E1E1E1"/>
                      </a:solidFill>
                    </a:lnB>
                    <a:noFill/>
                  </a:tcPr>
                </a:tc>
                <a:tc>
                  <a:txBody>
                    <a:bodyPr wrap="square"/>
                    <a:lstStyle/>
                    <a:p>
                      <a:pPr algn="r"/>
                      <a:r>
                        <a:rPr sz="850" b="0" i="0">
                          <a:solidFill>
                            <a:srgbClr val="767676"/>
                          </a:solidFill>
                          <a:latin typeface="Segoe UI"/>
                        </a:rPr>
                        <a:t>11,25</a:t>
                      </a:r>
                    </a:p>
                  </a:txBody>
                  <a:tcPr marT="18288" marR="45720" marB="18288" marL="45720" anchor="ctr">
                    <a:lnB w="6350" cap="flat" cmpd="sng" algn="ctr">
                      <a:solidFill>
                        <a:srgbClr val="E1E1E1"/>
                      </a:solidFill>
                    </a:lnB>
                    <a:noFill/>
                  </a:tcPr>
                </a:tc>
                <a:tc>
                  <a:txBody>
                    <a:bodyPr wrap="square"/>
                    <a:lstStyle/>
                    <a:p>
                      <a:pPr algn="r"/>
                      <a:r>
                        <a:rPr sz="900" b="1" i="0">
                          <a:solidFill>
                            <a:srgbClr val="2B2B2B"/>
                          </a:solidFill>
                          <a:latin typeface="Segoe UI"/>
                        </a:rPr>
                        <a:t>13,50</a:t>
                      </a:r>
                    </a:p>
                  </a:txBody>
                  <a:tcPr marT="18288" marR="45720" marB="18288" marL="45720" anchor="ctr">
                    <a:lnB w="6350" cap="flat" cmpd="sng" algn="ctr">
                      <a:solidFill>
                        <a:srgbClr val="E1E1E1"/>
                      </a:solidFill>
                    </a:lnB>
                    <a:noFill/>
                  </a:tcPr>
                </a:tc>
                <a:tc>
                  <a:txBody>
                    <a:bodyPr wrap="square"/>
                    <a:lstStyle/>
                    <a:p>
                      <a:pPr algn="l"/>
                      <a:r>
                        <a:rPr sz="750" b="0" i="0">
                          <a:solidFill>
                            <a:srgbClr val="767676"/>
                          </a:solidFill>
                          <a:latin typeface="Segoe UI"/>
                        </a:rPr>
                        <a:t>3 orquestradores</a:t>
                      </a:r>
                    </a:p>
                  </a:txBody>
                  <a:tcPr marT="18288" marR="45720" marB="18288" marL="45720" anchor="ctr">
                    <a:lnB w="6350" cap="flat" cmpd="sng" algn="ctr">
                      <a:solidFill>
                        <a:srgbClr val="E1E1E1"/>
                      </a:solidFill>
                    </a:lnB>
                    <a:noFill/>
                  </a:tcPr>
                </a:tc>
              </a:tr>
              <a:tr h="384048">
                <a:tc>
                  <a:txBody>
                    <a:bodyPr wrap="square"/>
                    <a:lstStyle/>
                    <a:p>
                      <a:pPr algn="l"/>
                      <a:r>
                        <a:rPr sz="850" b="1" i="0">
                          <a:solidFill>
                            <a:srgbClr val="2F4A6B"/>
                          </a:solidFill>
                          <a:latin typeface="Segoe UI"/>
                        </a:rPr>
                        <a:t>F3 · Protótipo</a:t>
                      </a:r>
                    </a:p>
                  </a:txBody>
                  <a:tcPr marT="18288" marR="45720" marB="18288" marL="45720" anchor="ctr">
                    <a:lnB w="6350" cap="flat" cmpd="sng" algn="ctr">
                      <a:solidFill>
                        <a:srgbClr val="E1E1E1"/>
                      </a:solidFill>
                    </a:lnB>
                    <a:solidFill>
                      <a:srgbClr val="FAFAFB"/>
                    </a:solidFill>
                  </a:tcPr>
                </a:tc>
                <a:tc>
                  <a:txBody>
                    <a:bodyPr wrap="square"/>
                    <a:lstStyle/>
                    <a:p>
                      <a:pPr algn="r"/>
                      <a:r>
                        <a:rPr sz="850" b="1" i="0">
                          <a:solidFill>
                            <a:srgbClr val="2B2B2B"/>
                          </a:solidFill>
                          <a:latin typeface="Segoe UI"/>
                        </a:rPr>
                        <a:t>1</a:t>
                      </a:r>
                    </a:p>
                  </a:txBody>
                  <a:tcPr marT="18288" marR="45720" marB="18288"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400.000</a:t>
                      </a:r>
                    </a:p>
                  </a:txBody>
                  <a:tcPr marT="18288" marR="45720" marB="18288" marL="45720" anchor="ctr">
                    <a:lnB w="6350" cap="flat" cmpd="sng" algn="ctr">
                      <a:solidFill>
                        <a:srgbClr val="E1E1E1"/>
                      </a:solidFill>
                    </a:lnB>
                    <a:solidFill>
                      <a:srgbClr val="FAFAFB"/>
                    </a:solidFill>
                  </a:tcPr>
                </a:tc>
                <a:tc>
                  <a:txBody>
                    <a:bodyPr wrap="square"/>
                    <a:lstStyle/>
                    <a:p>
                      <a:pPr algn="r"/>
                      <a:r>
                        <a:rPr sz="800" b="0" i="0">
                          <a:solidFill>
                            <a:srgbClr val="767676"/>
                          </a:solidFill>
                          <a:latin typeface="Segoe UI"/>
                        </a:rPr>
                        <a:t>60.000</a:t>
                      </a:r>
                    </a:p>
                  </a:txBody>
                  <a:tcPr marT="18288" marR="45720" marB="18288" marL="45720" anchor="ctr">
                    <a:lnB w="6350" cap="flat" cmpd="sng" algn="ctr">
                      <a:solidFill>
                        <a:srgbClr val="E1E1E1"/>
                      </a:solidFill>
                    </a:lnB>
                    <a:solidFill>
                      <a:srgbClr val="FAFAFB"/>
                    </a:solidFill>
                  </a:tcPr>
                </a:tc>
                <a:tc>
                  <a:txBody>
                    <a:bodyPr wrap="square"/>
                    <a:lstStyle/>
                    <a:p>
                      <a:pPr algn="r"/>
                      <a:r>
                        <a:rPr sz="850" b="0" i="0">
                          <a:solidFill>
                            <a:srgbClr val="767676"/>
                          </a:solidFill>
                          <a:latin typeface="Segoe UI"/>
                        </a:rPr>
                        <a:t>2,10</a:t>
                      </a:r>
                    </a:p>
                  </a:txBody>
                  <a:tcPr marT="18288" marR="45720" marB="18288" marL="45720" anchor="ctr">
                    <a:lnB w="6350" cap="flat" cmpd="sng" algn="ctr">
                      <a:solidFill>
                        <a:srgbClr val="E1E1E1"/>
                      </a:solidFill>
                    </a:lnB>
                    <a:solidFill>
                      <a:srgbClr val="FAFAFB"/>
                    </a:solidFill>
                  </a:tcPr>
                </a:tc>
                <a:tc>
                  <a:txBody>
                    <a:bodyPr wrap="square"/>
                    <a:lstStyle/>
                    <a:p>
                      <a:pPr algn="r"/>
                      <a:r>
                        <a:rPr sz="900" b="1" i="0">
                          <a:solidFill>
                            <a:srgbClr val="2B2B2B"/>
                          </a:solidFill>
                          <a:latin typeface="Segoe UI"/>
                        </a:rPr>
                        <a:t>2,52</a:t>
                      </a:r>
                    </a:p>
                  </a:txBody>
                  <a:tcPr marT="18288" marR="45720" marB="18288" marL="45720" anchor="ctr">
                    <a:lnB w="6350" cap="flat" cmpd="sng" algn="ctr">
                      <a:solidFill>
                        <a:srgbClr val="E1E1E1"/>
                      </a:solidFill>
                    </a:lnB>
                    <a:solidFill>
                      <a:srgbClr val="FAFAFB"/>
                    </a:solidFill>
                  </a:tcPr>
                </a:tc>
                <a:tc>
                  <a:txBody>
                    <a:bodyPr wrap="square"/>
                    <a:lstStyle/>
                    <a:p>
                      <a:pPr algn="l"/>
                      <a:r>
                        <a:rPr sz="750" b="0" i="0">
                          <a:solidFill>
                            <a:srgbClr val="767676"/>
                          </a:solidFill>
                          <a:latin typeface="Segoe UI"/>
                        </a:rPr>
                        <a:t>1 agente</a:t>
                      </a:r>
                    </a:p>
                  </a:txBody>
                  <a:tcPr marT="18288" marR="45720" marB="18288" marL="45720" anchor="ctr">
                    <a:lnB w="6350" cap="flat" cmpd="sng" algn="ctr">
                      <a:solidFill>
                        <a:srgbClr val="E1E1E1"/>
                      </a:solidFill>
                    </a:lnB>
                    <a:solidFill>
                      <a:srgbClr val="FAFAFB"/>
                    </a:solidFill>
                  </a:tcPr>
                </a:tc>
              </a:tr>
              <a:tr h="384048">
                <a:tc>
                  <a:txBody>
                    <a:bodyPr wrap="square"/>
                    <a:lstStyle/>
                    <a:p>
                      <a:pPr algn="l"/>
                      <a:r>
                        <a:rPr sz="850" b="1" i="0">
                          <a:solidFill>
                            <a:srgbClr val="CE056A"/>
                          </a:solidFill>
                          <a:latin typeface="Segoe UI"/>
                        </a:rPr>
                        <a:t>F3S · SpecKit</a:t>
                      </a:r>
                    </a:p>
                  </a:txBody>
                  <a:tcPr marT="18288" marR="45720" marB="18288" marL="45720" anchor="ctr">
                    <a:lnB w="6350" cap="flat" cmpd="sng" algn="ctr">
                      <a:solidFill>
                        <a:srgbClr val="E1E1E1"/>
                      </a:solidFill>
                    </a:lnB>
                    <a:noFill/>
                  </a:tcPr>
                </a:tc>
                <a:tc>
                  <a:txBody>
                    <a:bodyPr wrap="square"/>
                    <a:lstStyle/>
                    <a:p>
                      <a:pPr algn="r"/>
                      <a:r>
                        <a:rPr sz="850" b="1" i="0">
                          <a:solidFill>
                            <a:srgbClr val="2B2B2B"/>
                          </a:solidFill>
                          <a:latin typeface="Segoe UI"/>
                        </a:rPr>
                        <a:t>15</a:t>
                      </a:r>
                    </a:p>
                  </a:txBody>
                  <a:tcPr marT="18288" marR="45720" marB="18288" marL="45720" anchor="ctr">
                    <a:lnB w="6350" cap="flat" cmpd="sng" algn="ctr">
                      <a:solidFill>
                        <a:srgbClr val="E1E1E1"/>
                      </a:solidFill>
                    </a:lnB>
                    <a:noFill/>
                  </a:tcPr>
                </a:tc>
                <a:tc>
                  <a:txBody>
                    <a:bodyPr wrap="square"/>
                    <a:lstStyle/>
                    <a:p>
                      <a:pPr algn="r"/>
                      <a:r>
                        <a:rPr sz="800" b="0" i="0">
                          <a:solidFill>
                            <a:srgbClr val="767676"/>
                          </a:solidFill>
                          <a:latin typeface="Segoe UI"/>
                        </a:rPr>
                        <a:t>500.000</a:t>
                      </a:r>
                    </a:p>
                  </a:txBody>
                  <a:tcPr marT="18288" marR="45720" marB="18288" marL="45720" anchor="ctr">
                    <a:lnB w="6350" cap="flat" cmpd="sng" algn="ctr">
                      <a:solidFill>
                        <a:srgbClr val="E1E1E1"/>
                      </a:solidFill>
                    </a:lnB>
                    <a:noFill/>
                  </a:tcPr>
                </a:tc>
                <a:tc>
                  <a:txBody>
                    <a:bodyPr wrap="square"/>
                    <a:lstStyle/>
                    <a:p>
                      <a:pPr algn="r"/>
                      <a:r>
                        <a:rPr sz="800" b="0" i="0">
                          <a:solidFill>
                            <a:srgbClr val="767676"/>
                          </a:solidFill>
                          <a:latin typeface="Segoe UI"/>
                        </a:rPr>
                        <a:t>90.000</a:t>
                      </a:r>
                    </a:p>
                  </a:txBody>
                  <a:tcPr marT="18288" marR="45720" marB="18288" marL="45720" anchor="ctr">
                    <a:lnB w="6350" cap="flat" cmpd="sng" algn="ctr">
                      <a:solidFill>
                        <a:srgbClr val="E1E1E1"/>
                      </a:solidFill>
                    </a:lnB>
                    <a:noFill/>
                  </a:tcPr>
                </a:tc>
                <a:tc>
                  <a:txBody>
                    <a:bodyPr wrap="square"/>
                    <a:lstStyle/>
                    <a:p>
                      <a:pPr algn="r"/>
                      <a:r>
                        <a:rPr sz="850" b="0" i="0">
                          <a:solidFill>
                            <a:srgbClr val="767676"/>
                          </a:solidFill>
                          <a:latin typeface="Segoe UI"/>
                        </a:rPr>
                        <a:t>42,75</a:t>
                      </a:r>
                    </a:p>
                  </a:txBody>
                  <a:tcPr marT="18288" marR="45720" marB="18288" marL="45720" anchor="ctr">
                    <a:lnB w="6350" cap="flat" cmpd="sng" algn="ctr">
                      <a:solidFill>
                        <a:srgbClr val="E1E1E1"/>
                      </a:solidFill>
                    </a:lnB>
                    <a:noFill/>
                  </a:tcPr>
                </a:tc>
                <a:tc>
                  <a:txBody>
                    <a:bodyPr wrap="square"/>
                    <a:lstStyle/>
                    <a:p>
                      <a:pPr algn="r"/>
                      <a:r>
                        <a:rPr sz="900" b="1" i="0">
                          <a:solidFill>
                            <a:srgbClr val="2B2B2B"/>
                          </a:solidFill>
                          <a:latin typeface="Segoe UI"/>
                        </a:rPr>
                        <a:t>51,30</a:t>
                      </a:r>
                    </a:p>
                  </a:txBody>
                  <a:tcPr marT="18288" marR="45720" marB="18288" marL="45720" anchor="ctr">
                    <a:lnB w="6350" cap="flat" cmpd="sng" algn="ctr">
                      <a:solidFill>
                        <a:srgbClr val="E1E1E1"/>
                      </a:solidFill>
                    </a:lnB>
                    <a:noFill/>
                  </a:tcPr>
                </a:tc>
                <a:tc>
                  <a:txBody>
                    <a:bodyPr wrap="square"/>
                    <a:lstStyle/>
                    <a:p>
                      <a:pPr algn="l"/>
                      <a:r>
                        <a:rPr sz="750" b="0" i="0">
                          <a:solidFill>
                            <a:srgbClr val="767676"/>
                          </a:solidFill>
                          <a:latin typeface="Segoe UI"/>
                        </a:rPr>
                        <a:t>constitution + specs + plans + tasks</a:t>
                      </a:r>
                    </a:p>
                  </a:txBody>
                  <a:tcPr marT="18288" marR="45720" marB="18288" marL="45720" anchor="ctr">
                    <a:lnB w="6350" cap="flat" cmpd="sng" algn="ctr">
                      <a:solidFill>
                        <a:srgbClr val="E1E1E1"/>
                      </a:solidFill>
                    </a:lnB>
                    <a:noFill/>
                  </a:tcPr>
                </a:tc>
              </a:tr>
              <a:tr h="384048">
                <a:tc>
                  <a:txBody>
                    <a:bodyPr wrap="square"/>
                    <a:lstStyle/>
                    <a:p>
                      <a:pPr algn="l"/>
                      <a:r>
                        <a:rPr sz="850" b="1" i="0">
                          <a:solidFill>
                            <a:srgbClr val="FF5800"/>
                          </a:solidFill>
                          <a:latin typeface="Segoe UI"/>
                        </a:rPr>
                        <a:t>F4 · Codegen (BC piloto)</a:t>
                      </a:r>
                    </a:p>
                  </a:txBody>
                  <a:tcPr marT="18288" marR="45720" marB="18288" marL="45720" anchor="ctr">
                    <a:lnB w="6350" cap="flat" cmpd="sng" algn="ctr">
                      <a:solidFill>
                        <a:srgbClr val="E1E1E1"/>
                      </a:solidFill>
                    </a:lnB>
                    <a:solidFill>
                      <a:srgbClr val="FFF1E8"/>
                    </a:solidFill>
                  </a:tcPr>
                </a:tc>
                <a:tc>
                  <a:txBody>
                    <a:bodyPr wrap="square"/>
                    <a:lstStyle/>
                    <a:p>
                      <a:pPr algn="r"/>
                      <a:r>
                        <a:rPr sz="850" b="1" i="0">
                          <a:solidFill>
                            <a:srgbClr val="2B2B2B"/>
                          </a:solidFill>
                          <a:latin typeface="Segoe UI"/>
                        </a:rPr>
                        <a:t>40</a:t>
                      </a:r>
                    </a:p>
                  </a:txBody>
                  <a:tcPr marT="18288" marR="45720" marB="18288" marL="45720" anchor="ctr">
                    <a:lnB w="6350" cap="flat" cmpd="sng" algn="ctr">
                      <a:solidFill>
                        <a:srgbClr val="E1E1E1"/>
                      </a:solidFill>
                    </a:lnB>
                    <a:solidFill>
                      <a:srgbClr val="FFF1E8"/>
                    </a:solidFill>
                  </a:tcPr>
                </a:tc>
                <a:tc>
                  <a:txBody>
                    <a:bodyPr wrap="square"/>
                    <a:lstStyle/>
                    <a:p>
                      <a:pPr algn="r"/>
                      <a:r>
                        <a:rPr sz="800" b="0" i="0">
                          <a:solidFill>
                            <a:srgbClr val="767676"/>
                          </a:solidFill>
                          <a:latin typeface="Segoe UI"/>
                        </a:rPr>
                        <a:t>239.619</a:t>
                      </a:r>
                    </a:p>
                  </a:txBody>
                  <a:tcPr marT="18288" marR="45720" marB="18288" marL="45720" anchor="ctr">
                    <a:lnB w="6350" cap="flat" cmpd="sng" algn="ctr">
                      <a:solidFill>
                        <a:srgbClr val="E1E1E1"/>
                      </a:solidFill>
                    </a:lnB>
                    <a:solidFill>
                      <a:srgbClr val="FFF1E8"/>
                    </a:solidFill>
                  </a:tcPr>
                </a:tc>
                <a:tc>
                  <a:txBody>
                    <a:bodyPr wrap="square"/>
                    <a:lstStyle/>
                    <a:p>
                      <a:pPr algn="r"/>
                      <a:r>
                        <a:rPr sz="800" b="0" i="0">
                          <a:solidFill>
                            <a:srgbClr val="767676"/>
                          </a:solidFill>
                          <a:latin typeface="Segoe UI"/>
                        </a:rPr>
                        <a:t>57.345</a:t>
                      </a:r>
                    </a:p>
                  </a:txBody>
                  <a:tcPr marT="18288" marR="45720" marB="18288" marL="45720" anchor="ctr">
                    <a:lnB w="6350" cap="flat" cmpd="sng" algn="ctr">
                      <a:solidFill>
                        <a:srgbClr val="E1E1E1"/>
                      </a:solidFill>
                    </a:lnB>
                    <a:solidFill>
                      <a:srgbClr val="FFF1E8"/>
                    </a:solidFill>
                  </a:tcPr>
                </a:tc>
                <a:tc>
                  <a:txBody>
                    <a:bodyPr wrap="square"/>
                    <a:lstStyle/>
                    <a:p>
                      <a:pPr algn="r"/>
                      <a:r>
                        <a:rPr sz="850" b="0" i="0">
                          <a:solidFill>
                            <a:srgbClr val="767676"/>
                          </a:solidFill>
                          <a:latin typeface="Segoe UI"/>
                        </a:rPr>
                        <a:t>63,16</a:t>
                      </a:r>
                    </a:p>
                  </a:txBody>
                  <a:tcPr marT="18288" marR="45720" marB="18288" marL="45720" anchor="ctr">
                    <a:lnB w="6350" cap="flat" cmpd="sng" algn="ctr">
                      <a:solidFill>
                        <a:srgbClr val="E1E1E1"/>
                      </a:solidFill>
                    </a:lnB>
                    <a:solidFill>
                      <a:srgbClr val="FFF1E8"/>
                    </a:solidFill>
                  </a:tcPr>
                </a:tc>
                <a:tc>
                  <a:txBody>
                    <a:bodyPr wrap="square"/>
                    <a:lstStyle/>
                    <a:p>
                      <a:pPr algn="r"/>
                      <a:r>
                        <a:rPr sz="900" b="1" i="0">
                          <a:solidFill>
                            <a:srgbClr val="2B2B2B"/>
                          </a:solidFill>
                          <a:latin typeface="Segoe UI"/>
                        </a:rPr>
                        <a:t>75,79</a:t>
                      </a:r>
                    </a:p>
                  </a:txBody>
                  <a:tcPr marT="18288" marR="45720" marB="18288" marL="45720" anchor="ctr">
                    <a:lnB w="6350" cap="flat" cmpd="sng" algn="ctr">
                      <a:solidFill>
                        <a:srgbClr val="E1E1E1"/>
                      </a:solidFill>
                    </a:lnB>
                    <a:solidFill>
                      <a:srgbClr val="FFF1E8"/>
                    </a:solidFill>
                  </a:tcPr>
                </a:tc>
                <a:tc>
                  <a:txBody>
                    <a:bodyPr wrap="square"/>
                    <a:lstStyle/>
                    <a:p>
                      <a:pPr algn="l"/>
                      <a:r>
                        <a:rPr sz="750" b="1" i="0">
                          <a:solidFill>
                            <a:srgbClr val="FF5800"/>
                          </a:solidFill>
                          <a:latin typeface="Segoe UI"/>
                        </a:rPr>
                        <a:t>MEDIDO — 239.619 in / 45–69k out por task</a:t>
                      </a:r>
                    </a:p>
                  </a:txBody>
                  <a:tcPr marT="18288" marR="45720" marB="18288" marL="45720" anchor="ctr">
                    <a:lnB w="6350" cap="flat" cmpd="sng" algn="ctr">
                      <a:solidFill>
                        <a:srgbClr val="E1E1E1"/>
                      </a:solidFill>
                    </a:lnB>
                    <a:solidFill>
                      <a:srgbClr val="FFF1E8"/>
                    </a:solidFill>
                  </a:tcPr>
                </a:tc>
              </a:tr>
              <a:tr h="329184">
                <a:tc>
                  <a:txBody>
                    <a:bodyPr wrap="square"/>
                    <a:lstStyle/>
                    <a:p>
                      <a:pPr algn="l"/>
                      <a:r>
                        <a:rPr sz="850" b="1" i="0">
                          <a:solidFill>
                            <a:srgbClr val="2B2B2B"/>
                          </a:solidFill>
                          <a:latin typeface="Segoe UI"/>
                        </a:rPr>
                        <a:t>Subtotal das fases</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r"/>
                      <a:r>
                        <a:rPr sz="950" b="1" i="0">
                          <a:solidFill>
                            <a:srgbClr val="2B2B2B"/>
                          </a:solidFill>
                          <a:latin typeface="Segoe UI"/>
                        </a:rPr>
                        <a:t>171,91</a:t>
                      </a:r>
                    </a:p>
                  </a:txBody>
                  <a:tcPr marT="18288" marR="45720" marB="18288" marL="45720" anchor="ctr">
                    <a:solidFill>
                      <a:srgbClr val="FAFAFB"/>
                    </a:solidFill>
                  </a:tcPr>
                </a:tc>
                <a:tc>
                  <a:txBody>
                    <a:bodyPr wrap="square"/>
                    <a:lstStyle/>
                    <a:p>
                      <a:pPr algn="l"/>
                      <a:r>
                        <a:rPr sz="750" b="0" i="0">
                          <a:solidFill>
                            <a:srgbClr val="767676"/>
                          </a:solidFill>
                          <a:latin typeface="Segoe UI"/>
                        </a:rPr>
                        <a:t/>
                      </a:r>
                    </a:p>
                  </a:txBody>
                  <a:tcPr marT="18288" marR="45720" marB="18288" marL="45720" anchor="ctr">
                    <a:solidFill>
                      <a:srgbClr val="FAFAFB"/>
                    </a:solidFill>
                  </a:tcPr>
                </a:tc>
              </a:tr>
              <a:tr h="329184">
                <a:tc>
                  <a:txBody>
                    <a:bodyPr wrap="square"/>
                    <a:lstStyle/>
                    <a:p>
                      <a:pPr algn="l"/>
                      <a:r>
                        <a:rPr sz="850" b="1" i="0">
                          <a:solidFill>
                            <a:srgbClr val="767676"/>
                          </a:solidFill>
                          <a:latin typeface="Segoe UI"/>
                        </a:rPr>
                        <a:t>Buffer de re-execução (30%)</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l"/>
                      <a:r>
                        <a:rPr sz="850" b="0" i="0">
                          <a:solidFill>
                            <a:srgbClr val="2B2B2B"/>
                          </a:solidFill>
                          <a:latin typeface="Segoe UI"/>
                        </a:rPr>
                        <a:t/>
                      </a:r>
                    </a:p>
                  </a:txBody>
                  <a:tcPr marT="18288" marR="45720" marB="18288" marL="45720" anchor="ctr">
                    <a:solidFill>
                      <a:srgbClr val="FAFAFB"/>
                    </a:solidFill>
                  </a:tcPr>
                </a:tc>
                <a:tc>
                  <a:txBody>
                    <a:bodyPr wrap="square"/>
                    <a:lstStyle/>
                    <a:p>
                      <a:pPr algn="r"/>
                      <a:r>
                        <a:rPr sz="950" b="1" i="0">
                          <a:solidFill>
                            <a:srgbClr val="767676"/>
                          </a:solidFill>
                          <a:latin typeface="Segoe UI"/>
                        </a:rPr>
                        <a:t>51,57</a:t>
                      </a:r>
                    </a:p>
                  </a:txBody>
                  <a:tcPr marT="18288" marR="45720" marB="18288" marL="45720" anchor="ctr">
                    <a:solidFill>
                      <a:srgbClr val="FAFAFB"/>
                    </a:solidFill>
                  </a:tcPr>
                </a:tc>
                <a:tc>
                  <a:txBody>
                    <a:bodyPr wrap="square"/>
                    <a:lstStyle/>
                    <a:p>
                      <a:pPr algn="l"/>
                      <a:r>
                        <a:rPr sz="750" b="0" i="0">
                          <a:solidFill>
                            <a:srgbClr val="767676"/>
                          </a:solidFill>
                          <a:latin typeface="Segoe UI"/>
                        </a:rPr>
                        <a:t>gates reprovados, reprocessamento de fase, remediação de build</a:t>
                      </a:r>
                    </a:p>
                  </a:txBody>
                  <a:tcPr marT="18288" marR="45720" marB="18288" marL="45720" anchor="ctr">
                    <a:solidFill>
                      <a:srgbClr val="FAFAFB"/>
                    </a:solidFill>
                  </a:tcPr>
                </a:tc>
              </a:tr>
              <a:tr h="329184">
                <a:tc>
                  <a:txBody>
                    <a:bodyPr wrap="square"/>
                    <a:lstStyle/>
                    <a:p>
                      <a:pPr algn="l"/>
                      <a:r>
                        <a:rPr sz="850" b="1" i="0">
                          <a:solidFill>
                            <a:srgbClr val="008C95"/>
                          </a:solidFill>
                          <a:latin typeface="Segoe UI"/>
                        </a:rPr>
                        <a:t>Custo de IA calculado (bottom-up)</a:t>
                      </a:r>
                    </a:p>
                  </a:txBody>
                  <a:tcPr marT="18288" marR="45720" marB="18288" marL="45720" anchor="ctr">
                    <a:solidFill>
                      <a:srgbClr val="EBF6F7"/>
                    </a:solidFill>
                  </a:tcPr>
                </a:tc>
                <a:tc>
                  <a:txBody>
                    <a:bodyPr wrap="square"/>
                    <a:lstStyle/>
                    <a:p>
                      <a:pPr algn="l"/>
                      <a:r>
                        <a:rPr sz="850" b="0" i="0">
                          <a:solidFill>
                            <a:srgbClr val="2B2B2B"/>
                          </a:solidFill>
                          <a:latin typeface="Segoe UI"/>
                        </a:rPr>
                        <a:t/>
                      </a:r>
                    </a:p>
                  </a:txBody>
                  <a:tcPr marT="18288" marR="45720" marB="18288" marL="45720" anchor="ctr">
                    <a:solidFill>
                      <a:srgbClr val="EBF6F7"/>
                    </a:solidFill>
                  </a:tcPr>
                </a:tc>
                <a:tc>
                  <a:txBody>
                    <a:bodyPr wrap="square"/>
                    <a:lstStyle/>
                    <a:p>
                      <a:pPr algn="l"/>
                      <a:r>
                        <a:rPr sz="850" b="0" i="0">
                          <a:solidFill>
                            <a:srgbClr val="2B2B2B"/>
                          </a:solidFill>
                          <a:latin typeface="Segoe UI"/>
                        </a:rPr>
                        <a:t/>
                      </a:r>
                    </a:p>
                  </a:txBody>
                  <a:tcPr marT="18288" marR="45720" marB="18288" marL="45720" anchor="ctr">
                    <a:solidFill>
                      <a:srgbClr val="EBF6F7"/>
                    </a:solidFill>
                  </a:tcPr>
                </a:tc>
                <a:tc>
                  <a:txBody>
                    <a:bodyPr wrap="square"/>
                    <a:lstStyle/>
                    <a:p>
                      <a:pPr algn="l"/>
                      <a:r>
                        <a:rPr sz="850" b="0" i="0">
                          <a:solidFill>
                            <a:srgbClr val="2B2B2B"/>
                          </a:solidFill>
                          <a:latin typeface="Segoe UI"/>
                        </a:rPr>
                        <a:t/>
                      </a:r>
                    </a:p>
                  </a:txBody>
                  <a:tcPr marT="18288" marR="45720" marB="18288" marL="45720" anchor="ctr">
                    <a:solidFill>
                      <a:srgbClr val="EBF6F7"/>
                    </a:solidFill>
                  </a:tcPr>
                </a:tc>
                <a:tc>
                  <a:txBody>
                    <a:bodyPr wrap="square"/>
                    <a:lstStyle/>
                    <a:p>
                      <a:pPr algn="l"/>
                      <a:r>
                        <a:rPr sz="850" b="0" i="0">
                          <a:solidFill>
                            <a:srgbClr val="2B2B2B"/>
                          </a:solidFill>
                          <a:latin typeface="Segoe UI"/>
                        </a:rPr>
                        <a:t/>
                      </a:r>
                    </a:p>
                  </a:txBody>
                  <a:tcPr marT="18288" marR="45720" marB="18288" marL="45720" anchor="ctr">
                    <a:solidFill>
                      <a:srgbClr val="EBF6F7"/>
                    </a:solidFill>
                  </a:tcPr>
                </a:tc>
                <a:tc>
                  <a:txBody>
                    <a:bodyPr wrap="square"/>
                    <a:lstStyle/>
                    <a:p>
                      <a:pPr algn="r"/>
                      <a:r>
                        <a:rPr sz="950" b="1" i="0">
                          <a:solidFill>
                            <a:srgbClr val="008C95"/>
                          </a:solidFill>
                          <a:latin typeface="Segoe UI"/>
                        </a:rPr>
                        <a:t>223,49</a:t>
                      </a:r>
                    </a:p>
                  </a:txBody>
                  <a:tcPr marT="18288" marR="45720" marB="18288" marL="45720" anchor="ctr">
                    <a:solidFill>
                      <a:srgbClr val="EBF6F7"/>
                    </a:solidFill>
                  </a:tcPr>
                </a:tc>
                <a:tc>
                  <a:txBody>
                    <a:bodyPr wrap="square"/>
                    <a:lstStyle/>
                    <a:p>
                      <a:pPr algn="l"/>
                      <a:r>
                        <a:rPr sz="750" b="0" i="0">
                          <a:solidFill>
                            <a:srgbClr val="767676"/>
                          </a:solidFill>
                          <a:latin typeface="Segoe UI"/>
                        </a:rPr>
                        <a:t/>
                      </a:r>
                    </a:p>
                  </a:txBody>
                  <a:tcPr marT="18288" marR="45720" marB="18288" marL="45720" anchor="ctr">
                    <a:solidFill>
                      <a:srgbClr val="EBF6F7"/>
                    </a:solidFill>
                  </a:tcPr>
                </a:tc>
              </a:tr>
              <a:tr h="329184">
                <a:tc>
                  <a:txBody>
                    <a:bodyPr wrap="square"/>
                    <a:lstStyle/>
                    <a:p>
                      <a:pPr algn="l"/>
                      <a:r>
                        <a:rPr sz="850" b="1" i="0">
                          <a:solidFill>
                            <a:srgbClr val="FF5800"/>
                          </a:solidFill>
                          <a:latin typeface="Segoe UI"/>
                        </a:rPr>
                        <a:t>Provisão mínima adotada na proposta</a:t>
                      </a:r>
                    </a:p>
                  </a:txBody>
                  <a:tcPr marT="18288" marR="45720" marB="18288" marL="45720" anchor="ctr">
                    <a:solidFill>
                      <a:srgbClr val="FFF1E8"/>
                    </a:solidFill>
                  </a:tcPr>
                </a:tc>
                <a:tc>
                  <a:txBody>
                    <a:bodyPr wrap="square"/>
                    <a:lstStyle/>
                    <a:p>
                      <a:pPr algn="l"/>
                      <a:r>
                        <a:rPr sz="850" b="0" i="0">
                          <a:solidFill>
                            <a:srgbClr val="2B2B2B"/>
                          </a:solidFill>
                          <a:latin typeface="Segoe UI"/>
                        </a:rPr>
                        <a:t/>
                      </a:r>
                    </a:p>
                  </a:txBody>
                  <a:tcPr marT="18288" marR="45720" marB="18288" marL="45720" anchor="ctr">
                    <a:solidFill>
                      <a:srgbClr val="FFF1E8"/>
                    </a:solidFill>
                  </a:tcPr>
                </a:tc>
                <a:tc>
                  <a:txBody>
                    <a:bodyPr wrap="square"/>
                    <a:lstStyle/>
                    <a:p>
                      <a:pPr algn="l"/>
                      <a:r>
                        <a:rPr sz="850" b="0" i="0">
                          <a:solidFill>
                            <a:srgbClr val="2B2B2B"/>
                          </a:solidFill>
                          <a:latin typeface="Segoe UI"/>
                        </a:rPr>
                        <a:t/>
                      </a:r>
                    </a:p>
                  </a:txBody>
                  <a:tcPr marT="18288" marR="45720" marB="18288" marL="45720" anchor="ctr">
                    <a:solidFill>
                      <a:srgbClr val="FFF1E8"/>
                    </a:solidFill>
                  </a:tcPr>
                </a:tc>
                <a:tc>
                  <a:txBody>
                    <a:bodyPr wrap="square"/>
                    <a:lstStyle/>
                    <a:p>
                      <a:pPr algn="l"/>
                      <a:r>
                        <a:rPr sz="850" b="0" i="0">
                          <a:solidFill>
                            <a:srgbClr val="2B2B2B"/>
                          </a:solidFill>
                          <a:latin typeface="Segoe UI"/>
                        </a:rPr>
                        <a:t/>
                      </a:r>
                    </a:p>
                  </a:txBody>
                  <a:tcPr marT="18288" marR="45720" marB="18288" marL="45720" anchor="ctr">
                    <a:solidFill>
                      <a:srgbClr val="FFF1E8"/>
                    </a:solidFill>
                  </a:tcPr>
                </a:tc>
                <a:tc>
                  <a:txBody>
                    <a:bodyPr wrap="square"/>
                    <a:lstStyle/>
                    <a:p>
                      <a:pPr algn="l"/>
                      <a:r>
                        <a:rPr sz="850" b="0" i="0">
                          <a:solidFill>
                            <a:srgbClr val="2B2B2B"/>
                          </a:solidFill>
                          <a:latin typeface="Segoe UI"/>
                        </a:rPr>
                        <a:t/>
                      </a:r>
                    </a:p>
                  </a:txBody>
                  <a:tcPr marT="18288" marR="45720" marB="18288" marL="45720" anchor="ctr">
                    <a:solidFill>
                      <a:srgbClr val="FFF1E8"/>
                    </a:solidFill>
                  </a:tcPr>
                </a:tc>
                <a:tc>
                  <a:txBody>
                    <a:bodyPr wrap="square"/>
                    <a:lstStyle/>
                    <a:p>
                      <a:pPr algn="r"/>
                      <a:r>
                        <a:rPr sz="950" b="1" i="0">
                          <a:solidFill>
                            <a:srgbClr val="FF5800"/>
                          </a:solidFill>
                          <a:latin typeface="Segoe UI"/>
                        </a:rPr>
                        <a:t>720,00</a:t>
                      </a:r>
                    </a:p>
                  </a:txBody>
                  <a:tcPr marT="18288" marR="45720" marB="18288" marL="45720" anchor="ctr">
                    <a:solidFill>
                      <a:srgbClr val="FFF1E8"/>
                    </a:solidFill>
                  </a:tcPr>
                </a:tc>
                <a:tc>
                  <a:txBody>
                    <a:bodyPr wrap="square"/>
                    <a:lstStyle/>
                    <a:p>
                      <a:pPr algn="l"/>
                      <a:r>
                        <a:rPr sz="750" b="0" i="0">
                          <a:solidFill>
                            <a:srgbClr val="767676"/>
                          </a:solidFill>
                          <a:latin typeface="Segoe UI"/>
                        </a:rPr>
                        <a:t>US$ 600 + margem — critério conservador</a:t>
                      </a:r>
                    </a:p>
                  </a:txBody>
                  <a:tcPr marT="18288" marR="45720" marB="18288" marL="45720" anchor="ctr">
                    <a:solidFill>
                      <a:srgbClr val="FFF1E8"/>
                    </a:solidFill>
                  </a:tcPr>
                </a:tc>
              </a:tr>
            </a:tbl>
          </a:graphicData>
        </a:graphic>
      </p:graphicFrame>
      <p:sp>
        <p:nvSpPr>
          <p:cNvPr id="10" name="Rounded Rectangle 9"/>
          <p:cNvSpPr/>
          <p:nvPr/>
        </p:nvSpPr>
        <p:spPr>
          <a:xfrm>
            <a:off x="8366759" y="1024128"/>
            <a:ext cx="3413729" cy="1188720"/>
          </a:xfrm>
          <a:prstGeom prst="roundRect">
            <a:avLst>
              <a:gd name="adj" fmla="val 6000"/>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1" name="TextBox 10"/>
          <p:cNvSpPr txBox="1"/>
          <p:nvPr/>
        </p:nvSpPr>
        <p:spPr>
          <a:xfrm>
            <a:off x="8586215" y="1179576"/>
            <a:ext cx="2974817" cy="1005840"/>
          </a:xfrm>
          <a:prstGeom prst="rect">
            <a:avLst/>
          </a:prstGeom>
          <a:noFill/>
        </p:spPr>
        <p:txBody>
          <a:bodyPr wrap="square" tIns="0" rIns="0" bIns="0" lIns="0" anchor="t">
            <a:spAutoFit/>
          </a:bodyPr>
          <a:lstStyle/>
          <a:p>
            <a:pPr algn="l">
              <a:lnSpc>
                <a:spcPct val="90000"/>
              </a:lnSpc>
              <a:spcBef>
                <a:spcPts val="0"/>
              </a:spcBef>
              <a:spcAft>
                <a:spcPts val="0"/>
              </a:spcAft>
            </a:pPr>
            <a:r>
              <a:rPr sz="800" b="1" i="0" spc="70">
                <a:solidFill>
                  <a:srgbClr val="FFB414"/>
                </a:solidFill>
                <a:latin typeface="Segoe UI"/>
              </a:rPr>
              <a:t>REFERÊNCIA MEDIDA NO RUN REAL</a:t>
            </a:r>
          </a:p>
          <a:p>
            <a:pPr algn="l">
              <a:lnSpc>
                <a:spcPct val="85000"/>
              </a:lnSpc>
              <a:spcBef>
                <a:spcPts val="400"/>
              </a:spcBef>
              <a:spcAft>
                <a:spcPts val="0"/>
              </a:spcAft>
            </a:pPr>
            <a:r>
              <a:rPr sz="2600" b="1" i="0">
                <a:solidFill>
                  <a:srgbClr val="FFFFFF"/>
                </a:solidFill>
                <a:latin typeface="Segoe UI"/>
              </a:rPr>
              <a:t>US$ 1,58</a:t>
            </a:r>
          </a:p>
          <a:p>
            <a:pPr algn="l">
              <a:lnSpc>
                <a:spcPct val="90000"/>
              </a:lnSpc>
              <a:spcBef>
                <a:spcPts val="200"/>
              </a:spcBef>
              <a:spcAft>
                <a:spcPts val="0"/>
              </a:spcAft>
            </a:pPr>
            <a:r>
              <a:rPr sz="800" b="0" i="0">
                <a:solidFill>
                  <a:srgbClr val="B8B8B8"/>
                </a:solidFill>
                <a:latin typeface="Segoe UI"/>
              </a:rPr>
              <a:t>por task de codegen — o custo unitário que a esteira entrega hoje</a:t>
            </a:r>
          </a:p>
        </p:txBody>
      </p:sp>
      <p:sp>
        <p:nvSpPr>
          <p:cNvPr id="12" name="Rounded Rectangle 11"/>
          <p:cNvSpPr/>
          <p:nvPr/>
        </p:nvSpPr>
        <p:spPr>
          <a:xfrm>
            <a:off x="8366759" y="2359152"/>
            <a:ext cx="3413729" cy="1298448"/>
          </a:xfrm>
          <a:prstGeom prst="roundRect">
            <a:avLst>
              <a:gd name="adj" fmla="val 6000"/>
            </a:avLst>
          </a:prstGeom>
          <a:solidFill>
            <a:srgbClr val="EBF6F7"/>
          </a:solidFill>
          <a:ln w="952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3" name="Rectangle 12"/>
          <p:cNvSpPr/>
          <p:nvPr/>
        </p:nvSpPr>
        <p:spPr>
          <a:xfrm>
            <a:off x="8366759" y="2360066"/>
            <a:ext cx="41148" cy="1296619"/>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4" name="TextBox 13"/>
          <p:cNvSpPr txBox="1"/>
          <p:nvPr/>
        </p:nvSpPr>
        <p:spPr>
          <a:xfrm>
            <a:off x="8567928" y="2496312"/>
            <a:ext cx="3011393" cy="1097280"/>
          </a:xfrm>
          <a:prstGeom prst="rect">
            <a:avLst/>
          </a:prstGeom>
          <a:noFill/>
        </p:spPr>
        <p:txBody>
          <a:bodyPr wrap="square" tIns="0" rIns="0" bIns="0" lIns="0" anchor="t">
            <a:spAutoFit/>
          </a:bodyPr>
          <a:lstStyle/>
          <a:p>
            <a:pPr algn="l">
              <a:lnSpc>
                <a:spcPct val="90000"/>
              </a:lnSpc>
              <a:spcBef>
                <a:spcPts val="0"/>
              </a:spcBef>
              <a:spcAft>
                <a:spcPts val="0"/>
              </a:spcAft>
            </a:pPr>
            <a:r>
              <a:rPr sz="900" b="1" i="0">
                <a:solidFill>
                  <a:srgbClr val="008C95"/>
                </a:solidFill>
                <a:latin typeface="Segoe UI"/>
              </a:rPr>
              <a:t>Conservadorismo por desenho</a:t>
            </a:r>
          </a:p>
          <a:p>
            <a:pPr algn="l">
              <a:lnSpc>
                <a:spcPct val="105000"/>
              </a:lnSpc>
              <a:spcBef>
                <a:spcPts val="600"/>
              </a:spcBef>
              <a:spcAft>
                <a:spcPts val="0"/>
              </a:spcAft>
            </a:pPr>
            <a:r>
              <a:rPr sz="850" b="0" i="0">
                <a:solidFill>
                  <a:srgbClr val="4A4A4A"/>
                </a:solidFill>
                <a:latin typeface="Segoe UI"/>
              </a:rPr>
              <a:t>O cálculo bottom-up chega a </a:t>
            </a:r>
            <a:r>
              <a:rPr sz="850" b="1" i="0">
                <a:solidFill>
                  <a:srgbClr val="008C95"/>
                </a:solidFill>
                <a:latin typeface="Segoe UI"/>
              </a:rPr>
              <a:t>US$ 223,49</a:t>
            </a:r>
            <a:r>
              <a:rPr sz="850" b="0" i="0">
                <a:solidFill>
                  <a:srgbClr val="4A4A4A"/>
                </a:solidFill>
                <a:latin typeface="Segoe UI"/>
              </a:rPr>
              <a:t>, bem abaixo da provisão de </a:t>
            </a:r>
            <a:r>
              <a:rPr sz="850" b="1" i="0">
                <a:solidFill>
                  <a:srgbClr val="FF5800"/>
                </a:solidFill>
                <a:latin typeface="Segoe UI"/>
              </a:rPr>
              <a:t>US$ 720,00</a:t>
            </a:r>
            <a:r>
              <a:rPr sz="850" b="0" i="0">
                <a:solidFill>
                  <a:srgbClr val="4A4A4A"/>
                </a:solidFill>
                <a:latin typeface="Segoe UI"/>
              </a:rPr>
              <a:t>. O Resumo adota sempre o </a:t>
            </a:r>
            <a:r>
              <a:rPr sz="850" b="1" i="0">
                <a:solidFill>
                  <a:srgbClr val="2B2B2B"/>
                </a:solidFill>
                <a:latin typeface="Segoe UI"/>
              </a:rPr>
              <a:t>maior dos dois</a:t>
            </a:r>
            <a:r>
              <a:rPr sz="850" b="0" i="0">
                <a:solidFill>
                  <a:srgbClr val="4A4A4A"/>
                </a:solidFill>
                <a:latin typeface="Segoe UI"/>
              </a:rPr>
              <a:t> — nunca o mais otimista.</a:t>
            </a:r>
          </a:p>
        </p:txBody>
      </p:sp>
      <p:sp>
        <p:nvSpPr>
          <p:cNvPr id="15" name="Rounded Rectangle 14"/>
          <p:cNvSpPr/>
          <p:nvPr/>
        </p:nvSpPr>
        <p:spPr>
          <a:xfrm>
            <a:off x="8366759" y="3803904"/>
            <a:ext cx="3413729" cy="1298448"/>
          </a:xfrm>
          <a:prstGeom prst="roundRect">
            <a:avLst>
              <a:gd name="adj" fmla="val 6000"/>
            </a:avLst>
          </a:prstGeom>
          <a:solidFill>
            <a:srgbClr val="FF5800"/>
          </a:solidFill>
          <a:ln w="9525">
            <a:solidFill>
              <a:srgbClr val="FF5800"/>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6" name="TextBox 15"/>
          <p:cNvSpPr txBox="1"/>
          <p:nvPr/>
        </p:nvSpPr>
        <p:spPr>
          <a:xfrm>
            <a:off x="8586215" y="3950208"/>
            <a:ext cx="2974817" cy="1298448"/>
          </a:xfrm>
          <a:prstGeom prst="rect">
            <a:avLst/>
          </a:prstGeom>
          <a:noFill/>
        </p:spPr>
        <p:txBody>
          <a:bodyPr wrap="square" tIns="0" rIns="0" bIns="0" lIns="0" anchor="t">
            <a:spAutoFit/>
          </a:bodyPr>
          <a:lstStyle/>
          <a:p>
            <a:pPr algn="l">
              <a:lnSpc>
                <a:spcPct val="90000"/>
              </a:lnSpc>
              <a:spcBef>
                <a:spcPts val="0"/>
              </a:spcBef>
              <a:spcAft>
                <a:spcPts val="0"/>
              </a:spcAft>
            </a:pPr>
            <a:r>
              <a:rPr sz="850" b="1" i="0" spc="80">
                <a:solidFill>
                  <a:srgbClr val="FFE2D2"/>
                </a:solidFill>
                <a:latin typeface="Segoe UI"/>
              </a:rPr>
              <a:t>CUSTO DE IA ADOTADO</a:t>
            </a:r>
          </a:p>
          <a:p>
            <a:pPr algn="l">
              <a:lnSpc>
                <a:spcPct val="85000"/>
              </a:lnSpc>
              <a:spcBef>
                <a:spcPts val="400"/>
              </a:spcBef>
              <a:spcAft>
                <a:spcPts val="0"/>
              </a:spcAft>
            </a:pPr>
            <a:r>
              <a:rPr sz="3000" b="1" i="0">
                <a:solidFill>
                  <a:srgbClr val="FFFFFF"/>
                </a:solidFill>
                <a:latin typeface="Segoe UI"/>
              </a:rPr>
              <a:t>US$ 720,00</a:t>
            </a:r>
          </a:p>
          <a:p>
            <a:pPr algn="l">
              <a:lnSpc>
                <a:spcPct val="100000"/>
              </a:lnSpc>
              <a:spcBef>
                <a:spcPts val="400"/>
              </a:spcBef>
              <a:spcAft>
                <a:spcPts val="0"/>
              </a:spcAft>
            </a:pPr>
            <a:r>
              <a:rPr sz="850" b="0" i="0">
                <a:solidFill>
                  <a:srgbClr val="FFE2D2"/>
                </a:solidFill>
                <a:latin typeface="Segoe UI"/>
              </a:rPr>
              <a:t>MAX(calculado ; provisão) — </a:t>
            </a:r>
            <a:r>
              <a:rPr sz="850" b="1" i="0">
                <a:solidFill>
                  <a:srgbClr val="FFFFFF"/>
                </a:solidFill>
                <a:latin typeface="Segoe UI"/>
              </a:rPr>
              <a:t>1,1% do subtotal</a:t>
            </a:r>
          </a:p>
        </p:txBody>
      </p:sp>
      <p:sp>
        <p:nvSpPr>
          <p:cNvPr id="17" name="Rounded Rectangle 16"/>
          <p:cNvSpPr/>
          <p:nvPr/>
        </p:nvSpPr>
        <p:spPr>
          <a:xfrm>
            <a:off x="411480" y="5285232"/>
            <a:ext cx="11369009" cy="704087"/>
          </a:xfrm>
          <a:prstGeom prst="roundRect">
            <a:avLst>
              <a:gd name="adj" fmla="val 6000"/>
            </a:avLst>
          </a:prstGeom>
          <a:solidFill>
            <a:srgbClr val="F7F7F8"/>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8" name="Rectangle 17"/>
          <p:cNvSpPr/>
          <p:nvPr/>
        </p:nvSpPr>
        <p:spPr>
          <a:xfrm>
            <a:off x="411480" y="5286146"/>
            <a:ext cx="50292" cy="702259"/>
          </a:xfrm>
          <a:prstGeom prst="rect">
            <a:avLst/>
          </a:prstGeom>
          <a:solidFill>
            <a:srgbClr val="CE056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9" name="TextBox 18"/>
          <p:cNvSpPr txBox="1"/>
          <p:nvPr/>
        </p:nvSpPr>
        <p:spPr>
          <a:xfrm>
            <a:off x="685800" y="5413248"/>
            <a:ext cx="10820369" cy="704087"/>
          </a:xfrm>
          <a:prstGeom prst="rect">
            <a:avLst/>
          </a:prstGeom>
          <a:noFill/>
        </p:spPr>
        <p:txBody>
          <a:bodyPr wrap="square" tIns="0" rIns="0" bIns="0" lIns="0" anchor="ctr">
            <a:spAutoFit/>
          </a:bodyPr>
          <a:lstStyle/>
          <a:p>
            <a:pPr algn="l">
              <a:lnSpc>
                <a:spcPct val="100000"/>
              </a:lnSpc>
              <a:spcBef>
                <a:spcPts val="0"/>
              </a:spcBef>
              <a:spcAft>
                <a:spcPts val="0"/>
              </a:spcAft>
            </a:pPr>
            <a:r>
              <a:rPr sz="950" b="1" i="0">
                <a:solidFill>
                  <a:srgbClr val="CE056A"/>
                </a:solidFill>
                <a:latin typeface="Segoe UI"/>
              </a:rPr>
              <a:t>Escala do custo de IA   </a:t>
            </a:r>
            <a:r>
              <a:rPr sz="900" b="0" i="0">
                <a:solidFill>
                  <a:srgbClr val="4A4A4A"/>
                </a:solidFill>
                <a:latin typeface="Segoe UI"/>
              </a:rPr>
              <a:t>— gerar código para as </a:t>
            </a:r>
            <a:r>
              <a:rPr sz="900" b="1" i="0">
                <a:solidFill>
                  <a:srgbClr val="2B2B2B"/>
                </a:solidFill>
                <a:latin typeface="Segoe UI"/>
              </a:rPr>
              <a:t>3.147 tasks</a:t>
            </a:r>
            <a:r>
              <a:rPr sz="900" b="0" i="0">
                <a:solidFill>
                  <a:srgbClr val="4A4A4A"/>
                </a:solidFill>
                <a:latin typeface="Segoe UI"/>
              </a:rPr>
              <a:t> do programa completo custaria ≈ </a:t>
            </a:r>
            <a:r>
              <a:rPr sz="900" b="1" i="0">
                <a:solidFill>
                  <a:srgbClr val="CE056A"/>
                </a:solidFill>
                <a:latin typeface="Segoe UI"/>
              </a:rPr>
              <a:t>US$ 4.969</a:t>
            </a:r>
            <a:r>
              <a:rPr sz="900" b="0" i="0">
                <a:solidFill>
                  <a:srgbClr val="4A4A4A"/>
                </a:solidFill>
                <a:latin typeface="Segoe UI"/>
              </a:rPr>
              <a:t> em tokens — menos de 7% do preço desta PoC de 4 semanas. A conta de IA nunca é o gargalo econômico da modernização: ela é a alavanca que reduz o número de horas de pessoas, e são as horas que formam o preço.</a:t>
            </a:r>
          </a:p>
        </p:txBody>
      </p:sp>
      <p:sp>
        <p:nvSpPr>
          <p:cNvPr id="20" name="TextBox 19"/>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Tokens de F0–F3S são estimativas por fase; os de F4 são medidos no run real (239.619 de entrada e 45–69 mil de saída por task de codegen).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299161" y="274320"/>
            <a:ext cx="1481328" cy="224028"/>
          </a:xfrm>
          <a:prstGeom prst="roundRect">
            <a:avLst>
              <a:gd name="adj" fmla="val 50000"/>
            </a:avLst>
          </a:prstGeom>
          <a:solidFill>
            <a:srgbClr val="FF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 bIns="9144" rIns="45720" lIns="45720"/>
          <a:lstStyle/>
          <a:p>
            <a:pPr algn="ctr">
              <a:spcBef>
                <a:spcPts val="0"/>
              </a:spcBef>
              <a:spcAft>
                <a:spcPts val="0"/>
              </a:spcAft>
            </a:pPr>
            <a:r>
              <a:rPr sz="850" b="1" i="0" spc="60">
                <a:solidFill>
                  <a:srgbClr val="FF5800"/>
                </a:solidFill>
                <a:latin typeface="Segoe UI"/>
              </a:rPr>
              <a:t>7 · RESUMO</a:t>
            </a:r>
          </a:p>
        </p:txBody>
      </p:sp>
      <p:sp>
        <p:nvSpPr>
          <p:cNvPr id="3" name="TextBox 2"/>
          <p:cNvSpPr txBox="1"/>
          <p:nvPr/>
        </p:nvSpPr>
        <p:spPr>
          <a:xfrm>
            <a:off x="411480" y="237744"/>
            <a:ext cx="9659081" cy="384048"/>
          </a:xfrm>
          <a:prstGeom prst="rect">
            <a:avLst/>
          </a:prstGeom>
          <a:noFill/>
        </p:spPr>
        <p:txBody>
          <a:bodyPr wrap="square" tIns="0" rIns="0" bIns="0" lIns="0" anchor="t">
            <a:spAutoFit/>
          </a:bodyPr>
          <a:lstStyle/>
          <a:p>
            <a:pPr algn="l">
              <a:spcBef>
                <a:spcPts val="0"/>
              </a:spcBef>
              <a:spcAft>
                <a:spcPts val="0"/>
              </a:spcAft>
            </a:pPr>
            <a:r>
              <a:rPr sz="2100" b="1" i="0">
                <a:solidFill>
                  <a:srgbClr val="2B2B2B"/>
                </a:solidFill>
                <a:latin typeface="Segoe UI"/>
              </a:rPr>
              <a:t>Resumo — Preço Total da PoC</a:t>
            </a:r>
          </a:p>
        </p:txBody>
      </p:sp>
      <p:sp>
        <p:nvSpPr>
          <p:cNvPr id="4" name="TextBox 3"/>
          <p:cNvSpPr txBox="1"/>
          <p:nvPr/>
        </p:nvSpPr>
        <p:spPr>
          <a:xfrm>
            <a:off x="411480" y="640080"/>
            <a:ext cx="11094689" cy="274320"/>
          </a:xfrm>
          <a:prstGeom prst="rect">
            <a:avLst/>
          </a:prstGeom>
          <a:noFill/>
        </p:spPr>
        <p:txBody>
          <a:bodyPr wrap="square" tIns="0" rIns="0" bIns="0" lIns="0" anchor="t">
            <a:spAutoFit/>
          </a:bodyPr>
          <a:lstStyle/>
          <a:p>
            <a:pPr algn="l">
              <a:spcBef>
                <a:spcPts val="0"/>
              </a:spcBef>
              <a:spcAft>
                <a:spcPts val="0"/>
              </a:spcAft>
            </a:pPr>
            <a:r>
              <a:rPr sz="1000" b="0" i="0">
                <a:solidFill>
                  <a:srgbClr val="767676"/>
                </a:solidFill>
                <a:latin typeface="Segoe UI"/>
              </a:rPr>
              <a:t>Pessoas + infraestrutura + IA, com contingência de 15% sobre o total e conversão a R$ 5,40 / US$.</a:t>
            </a:r>
          </a:p>
        </p:txBody>
      </p:sp>
      <p:sp>
        <p:nvSpPr>
          <p:cNvPr id="5" name="Rectangle 4"/>
          <p:cNvSpPr/>
          <p:nvPr/>
        </p:nvSpPr>
        <p:spPr>
          <a:xfrm>
            <a:off x="411480" y="914400"/>
            <a:ext cx="658368" cy="34747"/>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6" name="Rectangle 5"/>
          <p:cNvSpPr/>
          <p:nvPr/>
        </p:nvSpPr>
        <p:spPr>
          <a:xfrm>
            <a:off x="1069848" y="914400"/>
            <a:ext cx="10710641" cy="34747"/>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7" name="Rounded Rectangle 6"/>
          <p:cNvSpPr/>
          <p:nvPr/>
        </p:nvSpPr>
        <p:spPr>
          <a:xfrm>
            <a:off x="411480" y="1024128"/>
            <a:ext cx="7059168" cy="3108960"/>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8" name="TextBox 7"/>
          <p:cNvSpPr txBox="1"/>
          <p:nvPr/>
        </p:nvSpPr>
        <p:spPr>
          <a:xfrm>
            <a:off x="594360" y="1170432"/>
            <a:ext cx="4572000" cy="182880"/>
          </a:xfrm>
          <a:prstGeom prst="rect">
            <a:avLst/>
          </a:prstGeom>
          <a:noFill/>
        </p:spPr>
        <p:txBody>
          <a:bodyPr wrap="square" tIns="0" rIns="0" bIns="0" lIns="0" anchor="t">
            <a:spAutoFit/>
          </a:bodyPr>
          <a:lstStyle/>
          <a:p>
            <a:pPr algn="l">
              <a:spcBef>
                <a:spcPts val="0"/>
              </a:spcBef>
              <a:spcAft>
                <a:spcPts val="0"/>
              </a:spcAft>
            </a:pPr>
            <a:r>
              <a:rPr sz="800" b="1" i="0" spc="90">
                <a:solidFill>
                  <a:srgbClr val="FF5800"/>
                </a:solidFill>
                <a:latin typeface="Segoe UI"/>
              </a:rPr>
              <a:t>6.2 · COMPOSIÇÃO DO CUSTO</a:t>
            </a:r>
          </a:p>
        </p:txBody>
      </p:sp>
      <p:sp>
        <p:nvSpPr>
          <p:cNvPr id="9" name="TextBox 8"/>
          <p:cNvSpPr txBox="1"/>
          <p:nvPr/>
        </p:nvSpPr>
        <p:spPr>
          <a:xfrm>
            <a:off x="612648" y="1481328"/>
            <a:ext cx="2788920" cy="384048"/>
          </a:xfrm>
          <a:prstGeom prst="rect">
            <a:avLst/>
          </a:prstGeom>
          <a:noFill/>
        </p:spPr>
        <p:txBody>
          <a:bodyPr wrap="square" tIns="0" rIns="0" bIns="0" lIns="0" anchor="t">
            <a:spAutoFit/>
          </a:bodyPr>
          <a:lstStyle/>
          <a:p>
            <a:pPr algn="l">
              <a:lnSpc>
                <a:spcPct val="88000"/>
              </a:lnSpc>
              <a:spcBef>
                <a:spcPts val="0"/>
              </a:spcBef>
              <a:spcAft>
                <a:spcPts val="0"/>
              </a:spcAft>
            </a:pPr>
            <a:r>
              <a:rPr sz="950" b="1" i="0">
                <a:solidFill>
                  <a:srgbClr val="2B2B2B"/>
                </a:solidFill>
                <a:latin typeface="Segoe UI"/>
              </a:rPr>
              <a:t>Pessoas — equipe alocada</a:t>
            </a:r>
          </a:p>
          <a:p>
            <a:pPr algn="l">
              <a:lnSpc>
                <a:spcPct val="88000"/>
              </a:lnSpc>
              <a:spcBef>
                <a:spcPts val="0"/>
              </a:spcBef>
              <a:spcAft>
                <a:spcPts val="0"/>
              </a:spcAft>
            </a:pPr>
            <a:r>
              <a:rPr sz="750" b="0" i="0">
                <a:solidFill>
                  <a:srgbClr val="9B9B9B"/>
                </a:solidFill>
                <a:latin typeface="Segoe UI"/>
              </a:rPr>
              <a:t>800 h × rate card por nível</a:t>
            </a:r>
          </a:p>
        </p:txBody>
      </p:sp>
      <p:sp>
        <p:nvSpPr>
          <p:cNvPr id="10" name="Rectangle 9"/>
          <p:cNvSpPr/>
          <p:nvPr/>
        </p:nvSpPr>
        <p:spPr>
          <a:xfrm>
            <a:off x="3520440" y="1572768"/>
            <a:ext cx="3035808"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1" name="Rectangle 10"/>
          <p:cNvSpPr/>
          <p:nvPr/>
        </p:nvSpPr>
        <p:spPr>
          <a:xfrm>
            <a:off x="3520440" y="1572768"/>
            <a:ext cx="2981921" cy="182880"/>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2" name="TextBox 11"/>
          <p:cNvSpPr txBox="1"/>
          <p:nvPr/>
        </p:nvSpPr>
        <p:spPr>
          <a:xfrm>
            <a:off x="6647688" y="1499616"/>
            <a:ext cx="932688" cy="329184"/>
          </a:xfrm>
          <a:prstGeom prst="rect">
            <a:avLst/>
          </a:prstGeom>
          <a:noFill/>
        </p:spPr>
        <p:txBody>
          <a:bodyPr wrap="square" tIns="0" rIns="0" bIns="0" lIns="0" anchor="t">
            <a:spAutoFit/>
          </a:bodyPr>
          <a:lstStyle/>
          <a:p>
            <a:pPr algn="r">
              <a:spcBef>
                <a:spcPts val="0"/>
              </a:spcBef>
              <a:spcAft>
                <a:spcPts val="0"/>
              </a:spcAft>
            </a:pPr>
            <a:r>
              <a:rPr sz="1200" b="1" i="0">
                <a:solidFill>
                  <a:srgbClr val="2B2B2B"/>
                </a:solidFill>
                <a:latin typeface="Segoe UI"/>
              </a:rPr>
              <a:t>64.296</a:t>
            </a:r>
          </a:p>
        </p:txBody>
      </p:sp>
      <p:sp>
        <p:nvSpPr>
          <p:cNvPr id="13" name="TextBox 12"/>
          <p:cNvSpPr txBox="1"/>
          <p:nvPr/>
        </p:nvSpPr>
        <p:spPr>
          <a:xfrm>
            <a:off x="6647688" y="1700784"/>
            <a:ext cx="932688" cy="237744"/>
          </a:xfrm>
          <a:prstGeom prst="rect">
            <a:avLst/>
          </a:prstGeom>
          <a:noFill/>
        </p:spPr>
        <p:txBody>
          <a:bodyPr wrap="square" tIns="0" rIns="0" bIns="0" lIns="0" anchor="t">
            <a:spAutoFit/>
          </a:bodyPr>
          <a:lstStyle/>
          <a:p>
            <a:pPr algn="r">
              <a:spcBef>
                <a:spcPts val="0"/>
              </a:spcBef>
              <a:spcAft>
                <a:spcPts val="0"/>
              </a:spcAft>
            </a:pPr>
            <a:r>
              <a:rPr sz="800" b="1" i="0">
                <a:solidFill>
                  <a:srgbClr val="FF5800"/>
                </a:solidFill>
                <a:latin typeface="Segoe UI"/>
              </a:rPr>
              <a:t>98,2%</a:t>
            </a:r>
          </a:p>
        </p:txBody>
      </p:sp>
      <p:sp>
        <p:nvSpPr>
          <p:cNvPr id="14" name="TextBox 13"/>
          <p:cNvSpPr txBox="1"/>
          <p:nvPr/>
        </p:nvSpPr>
        <p:spPr>
          <a:xfrm>
            <a:off x="612648" y="1993392"/>
            <a:ext cx="2788920" cy="384048"/>
          </a:xfrm>
          <a:prstGeom prst="rect">
            <a:avLst/>
          </a:prstGeom>
          <a:noFill/>
        </p:spPr>
        <p:txBody>
          <a:bodyPr wrap="square" tIns="0" rIns="0" bIns="0" lIns="0" anchor="t">
            <a:spAutoFit/>
          </a:bodyPr>
          <a:lstStyle/>
          <a:p>
            <a:pPr algn="l">
              <a:lnSpc>
                <a:spcPct val="88000"/>
              </a:lnSpc>
              <a:spcBef>
                <a:spcPts val="0"/>
              </a:spcBef>
              <a:spcAft>
                <a:spcPts val="0"/>
              </a:spcAft>
            </a:pPr>
            <a:r>
              <a:rPr sz="950" b="1" i="0">
                <a:solidFill>
                  <a:srgbClr val="2B2B2B"/>
                </a:solidFill>
                <a:latin typeface="Segoe UI"/>
              </a:rPr>
              <a:t>Infraestrutura Azure</a:t>
            </a:r>
          </a:p>
          <a:p>
            <a:pPr algn="l">
              <a:lnSpc>
                <a:spcPct val="88000"/>
              </a:lnSpc>
              <a:spcBef>
                <a:spcPts val="0"/>
              </a:spcBef>
              <a:spcAft>
                <a:spcPts val="0"/>
              </a:spcAft>
            </a:pPr>
            <a:r>
              <a:rPr sz="750" b="0" i="0">
                <a:solidFill>
                  <a:srgbClr val="9B9B9B"/>
                </a:solidFill>
                <a:latin typeface="Segoe UI"/>
              </a:rPr>
              <a:t>runner + DEV do BC piloto + compartilhados</a:t>
            </a:r>
          </a:p>
        </p:txBody>
      </p:sp>
      <p:sp>
        <p:nvSpPr>
          <p:cNvPr id="15" name="Rectangle 14"/>
          <p:cNvSpPr/>
          <p:nvPr/>
        </p:nvSpPr>
        <p:spPr>
          <a:xfrm>
            <a:off x="3520440" y="2084832"/>
            <a:ext cx="3035808"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6" name="Rectangle 15"/>
          <p:cNvSpPr/>
          <p:nvPr/>
        </p:nvSpPr>
        <p:spPr>
          <a:xfrm>
            <a:off x="3520440" y="2084832"/>
            <a:ext cx="32004" cy="182880"/>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17" name="TextBox 16"/>
          <p:cNvSpPr txBox="1"/>
          <p:nvPr/>
        </p:nvSpPr>
        <p:spPr>
          <a:xfrm>
            <a:off x="6647688" y="2011680"/>
            <a:ext cx="932688" cy="329184"/>
          </a:xfrm>
          <a:prstGeom prst="rect">
            <a:avLst/>
          </a:prstGeom>
          <a:noFill/>
        </p:spPr>
        <p:txBody>
          <a:bodyPr wrap="square" tIns="0" rIns="0" bIns="0" lIns="0" anchor="t">
            <a:spAutoFit/>
          </a:bodyPr>
          <a:lstStyle/>
          <a:p>
            <a:pPr algn="r">
              <a:spcBef>
                <a:spcPts val="0"/>
              </a:spcBef>
              <a:spcAft>
                <a:spcPts val="0"/>
              </a:spcAft>
            </a:pPr>
            <a:r>
              <a:rPr sz="1200" b="1" i="0">
                <a:solidFill>
                  <a:srgbClr val="2B2B2B"/>
                </a:solidFill>
                <a:latin typeface="Segoe UI"/>
              </a:rPr>
              <a:t>442</a:t>
            </a:r>
          </a:p>
        </p:txBody>
      </p:sp>
      <p:sp>
        <p:nvSpPr>
          <p:cNvPr id="18" name="TextBox 17"/>
          <p:cNvSpPr txBox="1"/>
          <p:nvPr/>
        </p:nvSpPr>
        <p:spPr>
          <a:xfrm>
            <a:off x="6647688" y="2212848"/>
            <a:ext cx="932688" cy="237744"/>
          </a:xfrm>
          <a:prstGeom prst="rect">
            <a:avLst/>
          </a:prstGeom>
          <a:noFill/>
        </p:spPr>
        <p:txBody>
          <a:bodyPr wrap="square" tIns="0" rIns="0" bIns="0" lIns="0" anchor="t">
            <a:spAutoFit/>
          </a:bodyPr>
          <a:lstStyle/>
          <a:p>
            <a:pPr algn="r">
              <a:spcBef>
                <a:spcPts val="0"/>
              </a:spcBef>
              <a:spcAft>
                <a:spcPts val="0"/>
              </a:spcAft>
            </a:pPr>
            <a:r>
              <a:rPr sz="800" b="1" i="0">
                <a:solidFill>
                  <a:srgbClr val="008C95"/>
                </a:solidFill>
                <a:latin typeface="Segoe UI"/>
              </a:rPr>
              <a:t>0,7%</a:t>
            </a:r>
          </a:p>
        </p:txBody>
      </p:sp>
      <p:sp>
        <p:nvSpPr>
          <p:cNvPr id="19" name="TextBox 18"/>
          <p:cNvSpPr txBox="1"/>
          <p:nvPr/>
        </p:nvSpPr>
        <p:spPr>
          <a:xfrm>
            <a:off x="612648" y="2505456"/>
            <a:ext cx="2788920" cy="384048"/>
          </a:xfrm>
          <a:prstGeom prst="rect">
            <a:avLst/>
          </a:prstGeom>
          <a:noFill/>
        </p:spPr>
        <p:txBody>
          <a:bodyPr wrap="square" tIns="0" rIns="0" bIns="0" lIns="0" anchor="t">
            <a:spAutoFit/>
          </a:bodyPr>
          <a:lstStyle/>
          <a:p>
            <a:pPr algn="l">
              <a:lnSpc>
                <a:spcPct val="88000"/>
              </a:lnSpc>
              <a:spcBef>
                <a:spcPts val="0"/>
              </a:spcBef>
              <a:spcAft>
                <a:spcPts val="0"/>
              </a:spcAft>
            </a:pPr>
            <a:r>
              <a:rPr sz="950" b="1" i="0">
                <a:solidFill>
                  <a:srgbClr val="2B2B2B"/>
                </a:solidFill>
                <a:latin typeface="Segoe UI"/>
              </a:rPr>
              <a:t>Modelo de IA</a:t>
            </a:r>
          </a:p>
          <a:p>
            <a:pPr algn="l">
              <a:lnSpc>
                <a:spcPct val="88000"/>
              </a:lnSpc>
              <a:spcBef>
                <a:spcPts val="0"/>
              </a:spcBef>
              <a:spcAft>
                <a:spcPts val="0"/>
              </a:spcAft>
            </a:pPr>
            <a:r>
              <a:rPr sz="750" b="0" i="0">
                <a:solidFill>
                  <a:srgbClr val="9B9B9B"/>
                </a:solidFill>
                <a:latin typeface="Segoe UI"/>
              </a:rPr>
              <a:t>tokens por fase, com buffer de re-execução</a:t>
            </a:r>
          </a:p>
        </p:txBody>
      </p:sp>
      <p:sp>
        <p:nvSpPr>
          <p:cNvPr id="20" name="Rectangle 19"/>
          <p:cNvSpPr/>
          <p:nvPr/>
        </p:nvSpPr>
        <p:spPr>
          <a:xfrm>
            <a:off x="3520440" y="2596896"/>
            <a:ext cx="3035808"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1" name="Rectangle 20"/>
          <p:cNvSpPr/>
          <p:nvPr/>
        </p:nvSpPr>
        <p:spPr>
          <a:xfrm>
            <a:off x="3520440" y="2596896"/>
            <a:ext cx="33392" cy="182880"/>
          </a:xfrm>
          <a:prstGeom prst="rect">
            <a:avLst/>
          </a:prstGeom>
          <a:solidFill>
            <a:srgbClr val="CE056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2" name="TextBox 21"/>
          <p:cNvSpPr txBox="1"/>
          <p:nvPr/>
        </p:nvSpPr>
        <p:spPr>
          <a:xfrm>
            <a:off x="6647688" y="2523744"/>
            <a:ext cx="932688" cy="329184"/>
          </a:xfrm>
          <a:prstGeom prst="rect">
            <a:avLst/>
          </a:prstGeom>
          <a:noFill/>
        </p:spPr>
        <p:txBody>
          <a:bodyPr wrap="square" tIns="0" rIns="0" bIns="0" lIns="0" anchor="t">
            <a:spAutoFit/>
          </a:bodyPr>
          <a:lstStyle/>
          <a:p>
            <a:pPr algn="r">
              <a:spcBef>
                <a:spcPts val="0"/>
              </a:spcBef>
              <a:spcAft>
                <a:spcPts val="0"/>
              </a:spcAft>
            </a:pPr>
            <a:r>
              <a:rPr sz="1200" b="1" i="0">
                <a:solidFill>
                  <a:srgbClr val="2B2B2B"/>
                </a:solidFill>
                <a:latin typeface="Segoe UI"/>
              </a:rPr>
              <a:t>720</a:t>
            </a:r>
          </a:p>
        </p:txBody>
      </p:sp>
      <p:sp>
        <p:nvSpPr>
          <p:cNvPr id="23" name="TextBox 22"/>
          <p:cNvSpPr txBox="1"/>
          <p:nvPr/>
        </p:nvSpPr>
        <p:spPr>
          <a:xfrm>
            <a:off x="6647688" y="2724912"/>
            <a:ext cx="932688" cy="237744"/>
          </a:xfrm>
          <a:prstGeom prst="rect">
            <a:avLst/>
          </a:prstGeom>
          <a:noFill/>
        </p:spPr>
        <p:txBody>
          <a:bodyPr wrap="square" tIns="0" rIns="0" bIns="0" lIns="0" anchor="t">
            <a:spAutoFit/>
          </a:bodyPr>
          <a:lstStyle/>
          <a:p>
            <a:pPr algn="r">
              <a:spcBef>
                <a:spcPts val="0"/>
              </a:spcBef>
              <a:spcAft>
                <a:spcPts val="0"/>
              </a:spcAft>
            </a:pPr>
            <a:r>
              <a:rPr sz="800" b="1" i="0">
                <a:solidFill>
                  <a:srgbClr val="CE056A"/>
                </a:solidFill>
                <a:latin typeface="Segoe UI"/>
              </a:rPr>
              <a:t>1,1%</a:t>
            </a:r>
          </a:p>
        </p:txBody>
      </p:sp>
      <p:sp>
        <p:nvSpPr>
          <p:cNvPr id="24" name="Rectangle 23"/>
          <p:cNvSpPr/>
          <p:nvPr/>
        </p:nvSpPr>
        <p:spPr>
          <a:xfrm>
            <a:off x="612648" y="3035808"/>
            <a:ext cx="6656831" cy="10972"/>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25" name="TextBox 24"/>
          <p:cNvSpPr txBox="1"/>
          <p:nvPr/>
        </p:nvSpPr>
        <p:spPr>
          <a:xfrm>
            <a:off x="612648" y="3127248"/>
            <a:ext cx="5394960" cy="365760"/>
          </a:xfrm>
          <a:prstGeom prst="rect">
            <a:avLst/>
          </a:prstGeom>
          <a:noFill/>
        </p:spPr>
        <p:txBody>
          <a:bodyPr wrap="square" tIns="0" rIns="0" bIns="0" lIns="0" anchor="t">
            <a:spAutoFit/>
          </a:bodyPr>
          <a:lstStyle/>
          <a:p>
            <a:pPr algn="l">
              <a:lnSpc>
                <a:spcPct val="88000"/>
              </a:lnSpc>
              <a:spcBef>
                <a:spcPts val="0"/>
              </a:spcBef>
              <a:spcAft>
                <a:spcPts val="0"/>
              </a:spcAft>
            </a:pPr>
            <a:r>
              <a:rPr sz="950" b="1" i="0">
                <a:solidFill>
                  <a:srgbClr val="2B2B2B"/>
                </a:solidFill>
                <a:latin typeface="Segoe UI"/>
              </a:rPr>
              <a:t>SUBTOTAL</a:t>
            </a:r>
          </a:p>
          <a:p>
            <a:pPr algn="l">
              <a:lnSpc>
                <a:spcPct val="88000"/>
              </a:lnSpc>
              <a:spcBef>
                <a:spcPts val="0"/>
              </a:spcBef>
              <a:spcAft>
                <a:spcPts val="0"/>
              </a:spcAft>
            </a:pPr>
            <a:r>
              <a:rPr sz="750" b="0" i="0">
                <a:solidFill>
                  <a:srgbClr val="9B9B9B"/>
                </a:solidFill>
                <a:latin typeface="Segoe UI"/>
              </a:rPr>
              <a:t>pessoas + infraestrutura + IA, com margem por item</a:t>
            </a:r>
          </a:p>
        </p:txBody>
      </p:sp>
      <p:sp>
        <p:nvSpPr>
          <p:cNvPr id="26" name="TextBox 25"/>
          <p:cNvSpPr txBox="1"/>
          <p:nvPr/>
        </p:nvSpPr>
        <p:spPr>
          <a:xfrm>
            <a:off x="6236208" y="3145536"/>
            <a:ext cx="1024128" cy="329184"/>
          </a:xfrm>
          <a:prstGeom prst="rect">
            <a:avLst/>
          </a:prstGeom>
          <a:noFill/>
        </p:spPr>
        <p:txBody>
          <a:bodyPr wrap="square" tIns="0" rIns="0" bIns="0" lIns="0" anchor="t">
            <a:spAutoFit/>
          </a:bodyPr>
          <a:lstStyle/>
          <a:p>
            <a:pPr algn="r">
              <a:spcBef>
                <a:spcPts val="0"/>
              </a:spcBef>
              <a:spcAft>
                <a:spcPts val="0"/>
              </a:spcAft>
            </a:pPr>
            <a:r>
              <a:rPr sz="1250" b="1" i="0">
                <a:solidFill>
                  <a:srgbClr val="2B2B2B"/>
                </a:solidFill>
                <a:latin typeface="Segoe UI"/>
              </a:rPr>
              <a:t>65.458</a:t>
            </a:r>
          </a:p>
        </p:txBody>
      </p:sp>
      <p:sp>
        <p:nvSpPr>
          <p:cNvPr id="27" name="TextBox 26"/>
          <p:cNvSpPr txBox="1"/>
          <p:nvPr/>
        </p:nvSpPr>
        <p:spPr>
          <a:xfrm>
            <a:off x="612648" y="3566160"/>
            <a:ext cx="5394960" cy="365760"/>
          </a:xfrm>
          <a:prstGeom prst="rect">
            <a:avLst/>
          </a:prstGeom>
          <a:noFill/>
        </p:spPr>
        <p:txBody>
          <a:bodyPr wrap="square" tIns="0" rIns="0" bIns="0" lIns="0" anchor="t">
            <a:spAutoFit/>
          </a:bodyPr>
          <a:lstStyle/>
          <a:p>
            <a:pPr algn="l">
              <a:lnSpc>
                <a:spcPct val="88000"/>
              </a:lnSpc>
              <a:spcBef>
                <a:spcPts val="0"/>
              </a:spcBef>
              <a:spcAft>
                <a:spcPts val="0"/>
              </a:spcAft>
            </a:pPr>
            <a:r>
              <a:rPr sz="950" b="1" i="0">
                <a:solidFill>
                  <a:srgbClr val="B07600"/>
                </a:solidFill>
                <a:latin typeface="Segoe UI"/>
              </a:rPr>
              <a:t>Contingência (15%)</a:t>
            </a:r>
          </a:p>
          <a:p>
            <a:pPr algn="l">
              <a:lnSpc>
                <a:spcPct val="88000"/>
              </a:lnSpc>
              <a:spcBef>
                <a:spcPts val="0"/>
              </a:spcBef>
              <a:spcAft>
                <a:spcPts val="0"/>
              </a:spcAft>
            </a:pPr>
            <a:r>
              <a:rPr sz="750" b="0" i="0">
                <a:solidFill>
                  <a:srgbClr val="9B9B9B"/>
                </a:solidFill>
                <a:latin typeface="Segoe UI"/>
              </a:rPr>
              <a:t>re-execução de uma fase e remediação do build gate no BC piloto</a:t>
            </a:r>
          </a:p>
        </p:txBody>
      </p:sp>
      <p:sp>
        <p:nvSpPr>
          <p:cNvPr id="28" name="TextBox 27"/>
          <p:cNvSpPr txBox="1"/>
          <p:nvPr/>
        </p:nvSpPr>
        <p:spPr>
          <a:xfrm>
            <a:off x="6236208" y="3584448"/>
            <a:ext cx="1024128" cy="329184"/>
          </a:xfrm>
          <a:prstGeom prst="rect">
            <a:avLst/>
          </a:prstGeom>
          <a:noFill/>
        </p:spPr>
        <p:txBody>
          <a:bodyPr wrap="square" tIns="0" rIns="0" bIns="0" lIns="0" anchor="t">
            <a:spAutoFit/>
          </a:bodyPr>
          <a:lstStyle/>
          <a:p>
            <a:pPr algn="r">
              <a:spcBef>
                <a:spcPts val="0"/>
              </a:spcBef>
              <a:spcAft>
                <a:spcPts val="0"/>
              </a:spcAft>
            </a:pPr>
            <a:r>
              <a:rPr sz="1250" b="1" i="0">
                <a:solidFill>
                  <a:srgbClr val="B07600"/>
                </a:solidFill>
                <a:latin typeface="Segoe UI"/>
              </a:rPr>
              <a:t>9.819</a:t>
            </a:r>
          </a:p>
        </p:txBody>
      </p:sp>
      <p:sp>
        <p:nvSpPr>
          <p:cNvPr id="29" name="TextBox 28"/>
          <p:cNvSpPr txBox="1"/>
          <p:nvPr/>
        </p:nvSpPr>
        <p:spPr>
          <a:xfrm>
            <a:off x="4544568" y="1170432"/>
            <a:ext cx="2743200" cy="219456"/>
          </a:xfrm>
          <a:prstGeom prst="rect">
            <a:avLst/>
          </a:prstGeom>
          <a:noFill/>
        </p:spPr>
        <p:txBody>
          <a:bodyPr wrap="square" tIns="0" rIns="0" bIns="0" lIns="0" anchor="t">
            <a:spAutoFit/>
          </a:bodyPr>
          <a:lstStyle/>
          <a:p>
            <a:pPr algn="r">
              <a:spcBef>
                <a:spcPts val="0"/>
              </a:spcBef>
              <a:spcAft>
                <a:spcPts val="0"/>
              </a:spcAft>
            </a:pPr>
            <a:r>
              <a:rPr sz="750" b="0" i="1">
                <a:solidFill>
                  <a:srgbClr val="9B9B9B"/>
                </a:solidFill>
                <a:latin typeface="Segoe UI"/>
              </a:rPr>
              <a:t>valores em US$, já com margem</a:t>
            </a:r>
          </a:p>
        </p:txBody>
      </p:sp>
      <p:sp>
        <p:nvSpPr>
          <p:cNvPr id="30" name="Rounded Rectangle 29"/>
          <p:cNvSpPr/>
          <p:nvPr/>
        </p:nvSpPr>
        <p:spPr>
          <a:xfrm>
            <a:off x="7726679" y="1024128"/>
            <a:ext cx="4053809" cy="3108960"/>
          </a:xfrm>
          <a:prstGeom prst="roundRect">
            <a:avLst>
              <a:gd name="adj" fmla="val 6000"/>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1" name="Rectangle 30"/>
          <p:cNvSpPr/>
          <p:nvPr/>
        </p:nvSpPr>
        <p:spPr>
          <a:xfrm>
            <a:off x="8001000" y="1298448"/>
            <a:ext cx="566928" cy="45720"/>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2" name="TextBox 31"/>
          <p:cNvSpPr txBox="1"/>
          <p:nvPr/>
        </p:nvSpPr>
        <p:spPr>
          <a:xfrm>
            <a:off x="8001000" y="1444752"/>
            <a:ext cx="3505169" cy="2560320"/>
          </a:xfrm>
          <a:prstGeom prst="rect">
            <a:avLst/>
          </a:prstGeom>
          <a:noFill/>
        </p:spPr>
        <p:txBody>
          <a:bodyPr wrap="square" tIns="0" rIns="0" bIns="0" lIns="0" anchor="t">
            <a:spAutoFit/>
          </a:bodyPr>
          <a:lstStyle/>
          <a:p>
            <a:pPr algn="l">
              <a:lnSpc>
                <a:spcPct val="90000"/>
              </a:lnSpc>
              <a:spcBef>
                <a:spcPts val="0"/>
              </a:spcBef>
              <a:spcAft>
                <a:spcPts val="0"/>
              </a:spcAft>
            </a:pPr>
            <a:r>
              <a:rPr sz="900" b="1" i="0" spc="80">
                <a:solidFill>
                  <a:srgbClr val="FF5800"/>
                </a:solidFill>
                <a:latin typeface="Segoe UI"/>
              </a:rPr>
              <a:t>PREÇO TOTAL DA PoC · 4 SEMANAS</a:t>
            </a:r>
          </a:p>
          <a:p>
            <a:pPr algn="l">
              <a:lnSpc>
                <a:spcPct val="85000"/>
              </a:lnSpc>
              <a:spcBef>
                <a:spcPts val="1000"/>
              </a:spcBef>
              <a:spcAft>
                <a:spcPts val="0"/>
              </a:spcAft>
            </a:pPr>
            <a:r>
              <a:rPr sz="4000" b="1" i="0">
                <a:solidFill>
                  <a:srgbClr val="FFFFFF"/>
                </a:solidFill>
                <a:latin typeface="Segoe UI"/>
              </a:rPr>
              <a:t>US$ 75.277</a:t>
            </a:r>
          </a:p>
          <a:p>
            <a:pPr algn="l">
              <a:lnSpc>
                <a:spcPct val="85000"/>
              </a:lnSpc>
              <a:spcBef>
                <a:spcPts val="600"/>
              </a:spcBef>
              <a:spcAft>
                <a:spcPts val="0"/>
              </a:spcAft>
            </a:pPr>
            <a:r>
              <a:rPr sz="2000" b="1" i="0">
                <a:solidFill>
                  <a:srgbClr val="C9C9C9"/>
                </a:solidFill>
                <a:latin typeface="Segoe UI"/>
              </a:rPr>
              <a:t>R$ 406.493</a:t>
            </a:r>
          </a:p>
          <a:p>
            <a:pPr algn="l">
              <a:lnSpc>
                <a:spcPct val="90000"/>
              </a:lnSpc>
              <a:spcBef>
                <a:spcPts val="200"/>
              </a:spcBef>
              <a:spcAft>
                <a:spcPts val="0"/>
              </a:spcAft>
            </a:pPr>
            <a:r>
              <a:rPr sz="800" b="0" i="0">
                <a:solidFill>
                  <a:srgbClr val="9B9B9B"/>
                </a:solidFill>
                <a:latin typeface="Segoe UI"/>
              </a:rPr>
              <a:t>convertido a R$ 5,40 / US$</a:t>
            </a:r>
          </a:p>
          <a:p>
            <a:pPr algn="l">
              <a:lnSpc>
                <a:spcPct val="105000"/>
              </a:lnSpc>
              <a:spcBef>
                <a:spcPts val="1400"/>
              </a:spcBef>
              <a:spcAft>
                <a:spcPts val="0"/>
              </a:spcAft>
            </a:pPr>
            <a:r>
              <a:rPr sz="850" b="0" i="0">
                <a:solidFill>
                  <a:srgbClr val="B0B0B0"/>
                </a:solidFill>
                <a:latin typeface="Segoe UI"/>
              </a:rPr>
              <a:t>Escopo fechado: F0 → F3S completos + F4 em 1 bounded context piloto, com 11 papéis e 800 h alocadas.</a:t>
            </a:r>
          </a:p>
        </p:txBody>
      </p:sp>
      <p:sp>
        <p:nvSpPr>
          <p:cNvPr id="33" name="Rounded Rectangle 32"/>
          <p:cNvSpPr/>
          <p:nvPr/>
        </p:nvSpPr>
        <p:spPr>
          <a:xfrm>
            <a:off x="411480" y="4315968"/>
            <a:ext cx="2171389" cy="89611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4" name="Rectangle 33"/>
          <p:cNvSpPr/>
          <p:nvPr/>
        </p:nvSpPr>
        <p:spPr>
          <a:xfrm>
            <a:off x="411480" y="4316882"/>
            <a:ext cx="38404" cy="894283"/>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5" name="TextBox 34"/>
          <p:cNvSpPr txBox="1"/>
          <p:nvPr/>
        </p:nvSpPr>
        <p:spPr>
          <a:xfrm>
            <a:off x="594360" y="4443983"/>
            <a:ext cx="1860493" cy="896112"/>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2F4A6B"/>
                </a:solidFill>
                <a:latin typeface="Segoe UI"/>
              </a:rPr>
              <a:t>US$ 94,10</a:t>
            </a:r>
          </a:p>
          <a:p>
            <a:pPr algn="l">
              <a:lnSpc>
                <a:spcPct val="88000"/>
              </a:lnSpc>
              <a:spcBef>
                <a:spcPts val="200"/>
              </a:spcBef>
              <a:spcAft>
                <a:spcPts val="0"/>
              </a:spcAft>
            </a:pPr>
            <a:r>
              <a:rPr sz="850" b="1" i="0">
                <a:solidFill>
                  <a:srgbClr val="2B2B2B"/>
                </a:solidFill>
                <a:latin typeface="Segoe UI"/>
              </a:rPr>
              <a:t>por hora alocada</a:t>
            </a:r>
          </a:p>
          <a:p>
            <a:pPr algn="l">
              <a:lnSpc>
                <a:spcPct val="88000"/>
              </a:lnSpc>
              <a:spcBef>
                <a:spcPts val="0"/>
              </a:spcBef>
              <a:spcAft>
                <a:spcPts val="0"/>
              </a:spcAft>
            </a:pPr>
            <a:r>
              <a:rPr sz="750" b="0" i="0">
                <a:solidFill>
                  <a:srgbClr val="767676"/>
                </a:solidFill>
                <a:latin typeface="Segoe UI"/>
              </a:rPr>
              <a:t>taxa efetiva de venda</a:t>
            </a:r>
          </a:p>
        </p:txBody>
      </p:sp>
      <p:sp>
        <p:nvSpPr>
          <p:cNvPr id="36" name="Rounded Rectangle 35"/>
          <p:cNvSpPr/>
          <p:nvPr/>
        </p:nvSpPr>
        <p:spPr>
          <a:xfrm>
            <a:off x="2710885" y="4315968"/>
            <a:ext cx="2171389" cy="89611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7" name="Rectangle 36"/>
          <p:cNvSpPr/>
          <p:nvPr/>
        </p:nvSpPr>
        <p:spPr>
          <a:xfrm>
            <a:off x="2710885" y="4316882"/>
            <a:ext cx="38404" cy="894283"/>
          </a:xfrm>
          <a:prstGeom prst="rect">
            <a:avLst/>
          </a:prstGeom>
          <a:solidFill>
            <a:srgbClr val="2F4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38" name="TextBox 37"/>
          <p:cNvSpPr txBox="1"/>
          <p:nvPr/>
        </p:nvSpPr>
        <p:spPr>
          <a:xfrm>
            <a:off x="2893765" y="4443983"/>
            <a:ext cx="1860493" cy="896112"/>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2F4A6B"/>
                </a:solidFill>
                <a:latin typeface="Segoe UI"/>
              </a:rPr>
              <a:t>US$ 18.819</a:t>
            </a:r>
          </a:p>
          <a:p>
            <a:pPr algn="l">
              <a:lnSpc>
                <a:spcPct val="88000"/>
              </a:lnSpc>
              <a:spcBef>
                <a:spcPts val="200"/>
              </a:spcBef>
              <a:spcAft>
                <a:spcPts val="0"/>
              </a:spcAft>
            </a:pPr>
            <a:r>
              <a:rPr sz="850" b="1" i="0">
                <a:solidFill>
                  <a:srgbClr val="2B2B2B"/>
                </a:solidFill>
                <a:latin typeface="Segoe UI"/>
              </a:rPr>
              <a:t>por semana de PoC</a:t>
            </a:r>
          </a:p>
          <a:p>
            <a:pPr algn="l">
              <a:lnSpc>
                <a:spcPct val="88000"/>
              </a:lnSpc>
              <a:spcBef>
                <a:spcPts val="0"/>
              </a:spcBef>
              <a:spcAft>
                <a:spcPts val="0"/>
              </a:spcAft>
            </a:pPr>
            <a:r>
              <a:rPr sz="750" b="0" i="0">
                <a:solidFill>
                  <a:srgbClr val="767676"/>
                </a:solidFill>
                <a:latin typeface="Segoe UI"/>
              </a:rPr>
              <a:t>custo semanal fechado</a:t>
            </a:r>
          </a:p>
        </p:txBody>
      </p:sp>
      <p:sp>
        <p:nvSpPr>
          <p:cNvPr id="39" name="Rounded Rectangle 38"/>
          <p:cNvSpPr/>
          <p:nvPr/>
        </p:nvSpPr>
        <p:spPr>
          <a:xfrm>
            <a:off x="5010290" y="4315968"/>
            <a:ext cx="2171389" cy="89611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0" name="Rectangle 39"/>
          <p:cNvSpPr/>
          <p:nvPr/>
        </p:nvSpPr>
        <p:spPr>
          <a:xfrm>
            <a:off x="5010290" y="4316882"/>
            <a:ext cx="38404" cy="894283"/>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1" name="TextBox 40"/>
          <p:cNvSpPr txBox="1"/>
          <p:nvPr/>
        </p:nvSpPr>
        <p:spPr>
          <a:xfrm>
            <a:off x="5193170" y="4443983"/>
            <a:ext cx="1860493" cy="896112"/>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008C95"/>
                </a:solidFill>
                <a:latin typeface="Segoe UI"/>
              </a:rPr>
              <a:t>800 h · 5,0 FTE</a:t>
            </a:r>
          </a:p>
          <a:p>
            <a:pPr algn="l">
              <a:lnSpc>
                <a:spcPct val="88000"/>
              </a:lnSpc>
              <a:spcBef>
                <a:spcPts val="200"/>
              </a:spcBef>
              <a:spcAft>
                <a:spcPts val="0"/>
              </a:spcAft>
            </a:pPr>
            <a:r>
              <a:rPr sz="850" b="1" i="0">
                <a:solidFill>
                  <a:srgbClr val="2B2B2B"/>
                </a:solidFill>
                <a:latin typeface="Segoe UI"/>
              </a:rPr>
              <a:t>capacidade contratada</a:t>
            </a:r>
          </a:p>
          <a:p>
            <a:pPr algn="l">
              <a:lnSpc>
                <a:spcPct val="88000"/>
              </a:lnSpc>
              <a:spcBef>
                <a:spcPts val="0"/>
              </a:spcBef>
              <a:spcAft>
                <a:spcPts val="0"/>
              </a:spcAft>
            </a:pPr>
            <a:r>
              <a:rPr sz="750" b="0" i="0">
                <a:solidFill>
                  <a:srgbClr val="767676"/>
                </a:solidFill>
                <a:latin typeface="Segoe UI"/>
              </a:rPr>
              <a:t>11 papéis em 4 semanas</a:t>
            </a:r>
          </a:p>
        </p:txBody>
      </p:sp>
      <p:sp>
        <p:nvSpPr>
          <p:cNvPr id="42" name="Rounded Rectangle 41"/>
          <p:cNvSpPr/>
          <p:nvPr/>
        </p:nvSpPr>
        <p:spPr>
          <a:xfrm>
            <a:off x="7309695" y="4315968"/>
            <a:ext cx="2171389" cy="89611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3" name="Rectangle 42"/>
          <p:cNvSpPr/>
          <p:nvPr/>
        </p:nvSpPr>
        <p:spPr>
          <a:xfrm>
            <a:off x="7309695" y="4316882"/>
            <a:ext cx="38404" cy="894283"/>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4" name="TextBox 43"/>
          <p:cNvSpPr txBox="1"/>
          <p:nvPr/>
        </p:nvSpPr>
        <p:spPr>
          <a:xfrm>
            <a:off x="7492575" y="4443983"/>
            <a:ext cx="1860493" cy="896112"/>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FF5800"/>
                </a:solidFill>
                <a:latin typeface="Segoe UI"/>
              </a:rPr>
              <a:t>1,5%</a:t>
            </a:r>
          </a:p>
          <a:p>
            <a:pPr algn="l">
              <a:lnSpc>
                <a:spcPct val="88000"/>
              </a:lnSpc>
              <a:spcBef>
                <a:spcPts val="200"/>
              </a:spcBef>
              <a:spcAft>
                <a:spcPts val="0"/>
              </a:spcAft>
            </a:pPr>
            <a:r>
              <a:rPr sz="850" b="1" i="0">
                <a:solidFill>
                  <a:srgbClr val="2B2B2B"/>
                </a:solidFill>
                <a:latin typeface="Segoe UI"/>
              </a:rPr>
              <a:t>infra + IA no total</a:t>
            </a:r>
          </a:p>
          <a:p>
            <a:pPr algn="l">
              <a:lnSpc>
                <a:spcPct val="88000"/>
              </a:lnSpc>
              <a:spcBef>
                <a:spcPts val="0"/>
              </a:spcBef>
              <a:spcAft>
                <a:spcPts val="0"/>
              </a:spcAft>
            </a:pPr>
            <a:r>
              <a:rPr sz="750" b="0" i="0">
                <a:solidFill>
                  <a:srgbClr val="767676"/>
                </a:solidFill>
                <a:latin typeface="Segoe UI"/>
              </a:rPr>
              <a:t>o preço é dirigido por pessoas</a:t>
            </a:r>
          </a:p>
        </p:txBody>
      </p:sp>
      <p:sp>
        <p:nvSpPr>
          <p:cNvPr id="45" name="Rounded Rectangle 44"/>
          <p:cNvSpPr/>
          <p:nvPr/>
        </p:nvSpPr>
        <p:spPr>
          <a:xfrm>
            <a:off x="9609100" y="4315968"/>
            <a:ext cx="2171389" cy="896112"/>
          </a:xfrm>
          <a:prstGeom prst="roundRect">
            <a:avLst>
              <a:gd name="adj" fmla="val 6000"/>
            </a:avLst>
          </a:prstGeom>
          <a:solidFill>
            <a:srgbClr val="FFFFFF"/>
          </a:solidFill>
          <a:ln w="9525">
            <a:solidFill>
              <a:srgbClr val="E1E1E1"/>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6" name="Rectangle 45"/>
          <p:cNvSpPr/>
          <p:nvPr/>
        </p:nvSpPr>
        <p:spPr>
          <a:xfrm>
            <a:off x="9609100" y="4316882"/>
            <a:ext cx="38404" cy="894283"/>
          </a:xfrm>
          <a:prstGeom prst="rect">
            <a:avLst/>
          </a:prstGeom>
          <a:solidFill>
            <a:srgbClr val="4B91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7" name="TextBox 46"/>
          <p:cNvSpPr txBox="1"/>
          <p:nvPr/>
        </p:nvSpPr>
        <p:spPr>
          <a:xfrm>
            <a:off x="9791980" y="4443983"/>
            <a:ext cx="1860493" cy="896112"/>
          </a:xfrm>
          <a:prstGeom prst="rect">
            <a:avLst/>
          </a:prstGeom>
          <a:noFill/>
        </p:spPr>
        <p:txBody>
          <a:bodyPr wrap="square" tIns="0" rIns="0" bIns="0" lIns="0" anchor="t">
            <a:spAutoFit/>
          </a:bodyPr>
          <a:lstStyle/>
          <a:p>
            <a:pPr algn="l">
              <a:lnSpc>
                <a:spcPct val="88000"/>
              </a:lnSpc>
              <a:spcBef>
                <a:spcPts val="0"/>
              </a:spcBef>
              <a:spcAft>
                <a:spcPts val="0"/>
              </a:spcAft>
            </a:pPr>
            <a:r>
              <a:rPr sz="1500" b="1" i="0">
                <a:solidFill>
                  <a:srgbClr val="4B912A"/>
                </a:solidFill>
                <a:latin typeface="Segoe UI"/>
              </a:rPr>
              <a:t>US$ 11.366</a:t>
            </a:r>
          </a:p>
          <a:p>
            <a:pPr algn="l">
              <a:lnSpc>
                <a:spcPct val="88000"/>
              </a:lnSpc>
              <a:spcBef>
                <a:spcPts val="200"/>
              </a:spcBef>
              <a:spcAft>
                <a:spcPts val="0"/>
              </a:spcAft>
            </a:pPr>
            <a:r>
              <a:rPr sz="850" b="1" i="0">
                <a:solidFill>
                  <a:srgbClr val="2B2B2B"/>
                </a:solidFill>
                <a:latin typeface="Segoe UI"/>
              </a:rPr>
              <a:t>margem embutida</a:t>
            </a:r>
          </a:p>
          <a:p>
            <a:pPr algn="l">
              <a:lnSpc>
                <a:spcPct val="88000"/>
              </a:lnSpc>
              <a:spcBef>
                <a:spcPts val="0"/>
              </a:spcBef>
              <a:spcAft>
                <a:spcPts val="0"/>
              </a:spcAft>
            </a:pPr>
            <a:r>
              <a:rPr sz="750" b="0" i="0">
                <a:solidFill>
                  <a:srgbClr val="767676"/>
                </a:solidFill>
                <a:latin typeface="Segoe UI"/>
              </a:rPr>
              <a:t>diferença entre custo bruto e de venda</a:t>
            </a:r>
          </a:p>
        </p:txBody>
      </p:sp>
      <p:sp>
        <p:nvSpPr>
          <p:cNvPr id="48" name="Rounded Rectangle 47"/>
          <p:cNvSpPr/>
          <p:nvPr/>
        </p:nvSpPr>
        <p:spPr>
          <a:xfrm>
            <a:off x="411480" y="5376671"/>
            <a:ext cx="11369009" cy="612648"/>
          </a:xfrm>
          <a:prstGeom prst="roundRect">
            <a:avLst>
              <a:gd name="adj" fmla="val 6000"/>
            </a:avLst>
          </a:prstGeom>
          <a:solidFill>
            <a:srgbClr val="FFF1E8"/>
          </a:solidFill>
          <a:ln w="9525">
            <a:solidFill>
              <a:srgbClr val="FF5800"/>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49" name="Rectangle 48"/>
          <p:cNvSpPr/>
          <p:nvPr/>
        </p:nvSpPr>
        <p:spPr>
          <a:xfrm>
            <a:off x="411480" y="5377586"/>
            <a:ext cx="50292" cy="610819"/>
          </a:xfrm>
          <a:prstGeom prst="rect">
            <a:avLst/>
          </a:prstGeom>
          <a:solidFill>
            <a:srgbClr val="FF58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54864"/>
          <a:lstStyle/>
          <a:p>
            <a:pPr algn="ctr"/>
          </a:p>
        </p:txBody>
      </p:sp>
      <p:sp>
        <p:nvSpPr>
          <p:cNvPr id="50" name="TextBox 49"/>
          <p:cNvSpPr txBox="1"/>
          <p:nvPr/>
        </p:nvSpPr>
        <p:spPr>
          <a:xfrm>
            <a:off x="685800" y="5495543"/>
            <a:ext cx="10820369" cy="612648"/>
          </a:xfrm>
          <a:prstGeom prst="rect">
            <a:avLst/>
          </a:prstGeom>
          <a:noFill/>
        </p:spPr>
        <p:txBody>
          <a:bodyPr wrap="square" tIns="0" rIns="0" bIns="0" lIns="0" anchor="t">
            <a:spAutoFit/>
          </a:bodyPr>
          <a:lstStyle/>
          <a:p>
            <a:pPr algn="l">
              <a:lnSpc>
                <a:spcPct val="95000"/>
              </a:lnSpc>
              <a:spcBef>
                <a:spcPts val="0"/>
              </a:spcBef>
              <a:spcAft>
                <a:spcPts val="0"/>
              </a:spcAft>
            </a:pPr>
            <a:r>
              <a:rPr sz="1000" b="1" i="0">
                <a:solidFill>
                  <a:srgbClr val="FF5800"/>
                </a:solidFill>
                <a:latin typeface="Segoe UI"/>
              </a:rPr>
              <a:t>A leitura do modelo   </a:t>
            </a:r>
            <a:r>
              <a:rPr sz="950" b="0" i="0">
                <a:solidFill>
                  <a:srgbClr val="4A4A4A"/>
                </a:solidFill>
                <a:latin typeface="Segoe UI"/>
              </a:rPr>
              <a:t>— 98% do preço é gente; nuvem e tokens somam 1,5%. A esteira não barateia a hora: ela reduz o número de horas necessárias para chegar ao mesmo resultado. Por isso o preço é fechado, e a contingência de 15% cobre a re-execução de uma fase e a remediação do build gate no BC piloto.</a:t>
            </a:r>
          </a:p>
        </p:txBody>
      </p:sp>
      <p:sp>
        <p:nvSpPr>
          <p:cNvPr id="51" name="TextBox 50"/>
          <p:cNvSpPr txBox="1"/>
          <p:nvPr/>
        </p:nvSpPr>
        <p:spPr>
          <a:xfrm>
            <a:off x="411480" y="6053328"/>
            <a:ext cx="11369009" cy="237744"/>
          </a:xfrm>
          <a:prstGeom prst="rect">
            <a:avLst/>
          </a:prstGeom>
          <a:noFill/>
        </p:spPr>
        <p:txBody>
          <a:bodyPr wrap="square" tIns="0" rIns="0" bIns="0" lIns="0" anchor="t">
            <a:spAutoFit/>
          </a:bodyPr>
          <a:lstStyle/>
          <a:p>
            <a:pPr algn="l">
              <a:spcBef>
                <a:spcPts val="0"/>
              </a:spcBef>
              <a:spcAft>
                <a:spcPts val="0"/>
              </a:spcAft>
            </a:pPr>
            <a:r>
              <a:rPr sz="750" b="0" i="1">
                <a:solidFill>
                  <a:srgbClr val="9B9B9B"/>
                </a:solidFill>
                <a:latin typeface="Segoe UI"/>
              </a:rPr>
              <a:t>Todos os números vêm da calculadora AVA_Fabric_Apps_Migration_Calculator.xlsx com os parâmetros correntes. Rate card ilustrativo — substituir pelos valores oficiais antes do uso comercial.</a:t>
            </a:r>
          </a:p>
        </p:txBody>
      </p:sp>
    </p:spTree>
  </p:cSld>
  <p:clrMapOvr>
    <a:masterClrMapping/>
  </p:clrMapOvr>
</p:sld>
</file>

<file path=ppt/theme/theme1.xml><?xml version="1.0" encoding="utf-8"?>
<a:theme xmlns:a="http://schemas.openxmlformats.org/drawingml/2006/main" name="Highly Confidential">
  <a:themeElements>
    <a:clrScheme name="Update Avanade">
      <a:dk1>
        <a:srgbClr val="333333"/>
      </a:dk1>
      <a:lt1>
        <a:sysClr val="window" lastClr="FFFFFF"/>
      </a:lt1>
      <a:dk2>
        <a:srgbClr val="FF5800"/>
      </a:dk2>
      <a:lt2>
        <a:srgbClr val="EDEDED"/>
      </a:lt2>
      <a:accent1>
        <a:srgbClr val="FF5800"/>
      </a:accent1>
      <a:accent2>
        <a:srgbClr val="CE056A"/>
      </a:accent2>
      <a:accent3>
        <a:srgbClr val="C80000"/>
      </a:accent3>
      <a:accent4>
        <a:srgbClr val="FFB414"/>
      </a:accent4>
      <a:accent5>
        <a:srgbClr val="4B912A"/>
      </a:accent5>
      <a:accent6>
        <a:srgbClr val="008C95"/>
      </a:accent6>
      <a:hlink>
        <a:srgbClr val="FF5800"/>
      </a:hlink>
      <a:folHlink>
        <a:srgbClr val="890078"/>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1C210104-DC78-444B-929E-FBEF4DF41226}" vid="{86462BBF-5BEE-4EB2-A154-3428CBF3A2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a5b8a9d-38f1-4897-b9e1-8e773f0955df" xsi:nil="true"/>
    <lcf76f155ced4ddcb4097134ff3c332f xmlns="8f5d4594-bfee-4375-af12-f6f3779fa86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1323E5ED6E9C64C86C82DE5762DCB03" ma:contentTypeVersion="13" ma:contentTypeDescription="Create a new document." ma:contentTypeScope="" ma:versionID="a6033bf9fc9ccd597a25ecc8903dbfd1">
  <xsd:schema xmlns:xsd="http://www.w3.org/2001/XMLSchema" xmlns:xs="http://www.w3.org/2001/XMLSchema" xmlns:p="http://schemas.microsoft.com/office/2006/metadata/properties" xmlns:ns2="8f5d4594-bfee-4375-af12-f6f3779fa86e" xmlns:ns3="2a5b8a9d-38f1-4897-b9e1-8e773f0955df" targetNamespace="http://schemas.microsoft.com/office/2006/metadata/properties" ma:root="true" ma:fieldsID="2c1b07612394dc5a5c5f475e46648000" ns2:_="" ns3:_="">
    <xsd:import namespace="8f5d4594-bfee-4375-af12-f6f3779fa86e"/>
    <xsd:import namespace="2a5b8a9d-38f1-4897-b9e1-8e773f0955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d4594-bfee-4375-af12-f6f3779fa8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217ff2e-1616-4146-8372-4640400776c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a5b8a9d-38f1-4897-b9e1-8e773f0955d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36f64eb-793b-4afe-8480-17d78506cd17}" ma:internalName="TaxCatchAll" ma:showField="CatchAllData" ma:web="2a5b8a9d-38f1-4897-b9e1-8e773f0955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A03C18-8CA8-4E85-8FD3-26F080DC8A47}">
  <ds:schemaRefs>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2a5b8a9d-38f1-4897-b9e1-8e773f0955df"/>
    <ds:schemaRef ds:uri="8f5d4594-bfee-4375-af12-f6f3779fa86e"/>
  </ds:schemaRefs>
</ds:datastoreItem>
</file>

<file path=customXml/itemProps2.xml><?xml version="1.0" encoding="utf-8"?>
<ds:datastoreItem xmlns:ds="http://schemas.openxmlformats.org/officeDocument/2006/customXml" ds:itemID="{1DFFAFCD-D676-4B87-9554-BC2CA2D9822E}">
  <ds:schemaRefs>
    <ds:schemaRef ds:uri="2a5b8a9d-38f1-4897-b9e1-8e773f0955df"/>
    <ds:schemaRef ds:uri="8f5d4594-bfee-4375-af12-f6f3779fa8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35BC5BD-2F86-406E-8953-9EE1A3C80074}">
  <ds:schemaRefs>
    <ds:schemaRef ds:uri="http://schemas.microsoft.com/sharepoint/v3/contenttype/forms"/>
  </ds:schemaRefs>
</ds:datastoreItem>
</file>

<file path=docMetadata/LabelInfo.xml><?xml version="1.0" encoding="utf-8"?>
<clbl:labelList xmlns:clbl="http://schemas.microsoft.com/office/2020/mipLabelMetadata">
  <clbl:label id="{5fae8262-b78e-4366-8929-a5d6aac95320}" enabled="1" method="Standard" siteId="{cf36141c-ddd7-45a7-b073-111f66d0b30c}" removed="0"/>
</clbl:labelList>
</file>

<file path=docProps/app.xml><?xml version="1.0" encoding="utf-8"?>
<Properties xmlns="http://schemas.openxmlformats.org/officeDocument/2006/extended-properties" xmlns:vt="http://schemas.openxmlformats.org/officeDocument/2006/docPropsVTypes">
  <Template>Light  Aurora PPT 2020</Template>
  <TotalTime>551</TotalTime>
  <Words>3774</Words>
  <Application>Microsoft Office PowerPoint</Application>
  <PresentationFormat>Widescreen</PresentationFormat>
  <Paragraphs>482</Paragraphs>
  <Slides>12</Slides>
  <Notes>7</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Graphik</vt:lpstr>
      <vt:lpstr>Segoe UI</vt:lpstr>
      <vt:lpstr>Segoe UI Black</vt:lpstr>
      <vt:lpstr>Segoe UI Light</vt:lpstr>
      <vt:lpstr>Segoe UI Semibold</vt:lpstr>
      <vt:lpstr>Segoe UI Variable Text</vt:lpstr>
      <vt:lpstr>Highly Confidential</vt:lpstr>
      <vt:lpstr>Brazil Engineering Hub Sumário da Solução</vt:lpstr>
      <vt:lpstr>Version Control</vt:lpstr>
      <vt:lpstr>Condições de Alocação do BEH</vt:lpstr>
      <vt:lpstr>BEH - Solução em uma Página</vt:lpstr>
      <vt:lpstr>Cronograma Macro</vt:lpstr>
      <vt:lpstr>Fora de Escopo para o Brazil Engineering Hub</vt:lpstr>
      <vt:lpstr>Alocação BEH</vt:lpstr>
      <vt:lpstr>Alocação BEH</vt:lpstr>
      <vt:lpstr>Organização do Projeto</vt:lpstr>
      <vt:lpstr>Organização do Projeto</vt:lpstr>
      <vt:lpstr>PowerPoint Presentation</vt:lpstr>
      <vt:lpstr>PoC AVA Fabric | Racional de Custo e Esforço (Modelo de Entrega Factory)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SP051_Template_Global_Master</dc:title>
  <dc:subject/>
  <dc:creator>James Batty</dc:creator>
  <cp:keywords>SP051; Solution Plan Template; Solution Plan; SP Template; SP051 Solution Plan; SP51; SP 51 Template</cp:keywords>
  <dc:description/>
  <cp:lastModifiedBy>Rafael Dos Santos De Almeida</cp:lastModifiedBy>
  <cp:revision>6</cp:revision>
  <dcterms:created xsi:type="dcterms:W3CDTF">2020-04-03T10:03:33Z</dcterms:created>
  <dcterms:modified xsi:type="dcterms:W3CDTF">2026-08-25T02:06:29Z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6020b0-6d69-48c1-9bb5-c586c1062b70_Enabled">
    <vt:lpwstr>True</vt:lpwstr>
  </property>
  <property fmtid="{D5CDD505-2E9C-101B-9397-08002B2CF9AE}" pid="3" name="MSIP_Label_236020b0-6d69-48c1-9bb5-c586c1062b70_SiteId">
    <vt:lpwstr>cf36141c-ddd7-45a7-b073-111f66d0b30c</vt:lpwstr>
  </property>
  <property fmtid="{D5CDD505-2E9C-101B-9397-08002B2CF9AE}" pid="4" name="MSIP_Label_236020b0-6d69-48c1-9bb5-c586c1062b70_Owner">
    <vt:lpwstr>courteney.malon@avanade.com</vt:lpwstr>
  </property>
  <property fmtid="{D5CDD505-2E9C-101B-9397-08002B2CF9AE}" pid="5" name="MSIP_Label_236020b0-6d69-48c1-9bb5-c586c1062b70_SetDate">
    <vt:lpwstr>2018-12-20T17:57:52.8924816Z</vt:lpwstr>
  </property>
  <property fmtid="{D5CDD505-2E9C-101B-9397-08002B2CF9AE}" pid="6" name="MSIP_Label_236020b0-6d69-48c1-9bb5-c586c1062b70_Name">
    <vt:lpwstr>Confidential</vt:lpwstr>
  </property>
  <property fmtid="{D5CDD505-2E9C-101B-9397-08002B2CF9AE}" pid="7" name="MSIP_Label_236020b0-6d69-48c1-9bb5-c586c1062b70_Application">
    <vt:lpwstr>Microsoft Azure Information Protection</vt:lpwstr>
  </property>
  <property fmtid="{D5CDD505-2E9C-101B-9397-08002B2CF9AE}" pid="8" name="MSIP_Label_236020b0-6d69-48c1-9bb5-c586c1062b70_Extended_MSFT_Method">
    <vt:lpwstr>Automatic</vt:lpwstr>
  </property>
  <property fmtid="{D5CDD505-2E9C-101B-9397-08002B2CF9AE}" pid="9" name="MSIP_Label_5fae8262-b78e-4366-8929-a5d6aac95320_Enabled">
    <vt:lpwstr>True</vt:lpwstr>
  </property>
  <property fmtid="{D5CDD505-2E9C-101B-9397-08002B2CF9AE}" pid="10" name="MSIP_Label_5fae8262-b78e-4366-8929-a5d6aac95320_SiteId">
    <vt:lpwstr>cf36141c-ddd7-45a7-b073-111f66d0b30c</vt:lpwstr>
  </property>
  <property fmtid="{D5CDD505-2E9C-101B-9397-08002B2CF9AE}" pid="11" name="MSIP_Label_5fae8262-b78e-4366-8929-a5d6aac95320_Owner">
    <vt:lpwstr>courteney.malon@avanade.com</vt:lpwstr>
  </property>
  <property fmtid="{D5CDD505-2E9C-101B-9397-08002B2CF9AE}" pid="12" name="MSIP_Label_5fae8262-b78e-4366-8929-a5d6aac95320_SetDate">
    <vt:lpwstr>2018-12-20T17:57:52.8924816Z</vt:lpwstr>
  </property>
  <property fmtid="{D5CDD505-2E9C-101B-9397-08002B2CF9AE}" pid="13" name="MSIP_Label_5fae8262-b78e-4366-8929-a5d6aac95320_Name">
    <vt:lpwstr>Recipients Have Full Control</vt:lpwstr>
  </property>
  <property fmtid="{D5CDD505-2E9C-101B-9397-08002B2CF9AE}" pid="14" name="MSIP_Label_5fae8262-b78e-4366-8929-a5d6aac95320_Application">
    <vt:lpwstr>Microsoft Azure Information Protection</vt:lpwstr>
  </property>
  <property fmtid="{D5CDD505-2E9C-101B-9397-08002B2CF9AE}" pid="15" name="MSIP_Label_5fae8262-b78e-4366-8929-a5d6aac95320_Parent">
    <vt:lpwstr>236020b0-6d69-48c1-9bb5-c586c1062b70</vt:lpwstr>
  </property>
  <property fmtid="{D5CDD505-2E9C-101B-9397-08002B2CF9AE}" pid="16" name="MSIP_Label_5fae8262-b78e-4366-8929-a5d6aac95320_Extended_MSFT_Method">
    <vt:lpwstr>Automatic</vt:lpwstr>
  </property>
  <property fmtid="{D5CDD505-2E9C-101B-9397-08002B2CF9AE}" pid="17" name="Sensitivity">
    <vt:lpwstr>Confidential Recipients Have Full Control</vt:lpwstr>
  </property>
  <property fmtid="{D5CDD505-2E9C-101B-9397-08002B2CF9AE}" pid="18" name="ContentTypeId">
    <vt:lpwstr>0x010100F1323E5ED6E9C64C86C82DE5762DCB03</vt:lpwstr>
  </property>
  <property fmtid="{D5CDD505-2E9C-101B-9397-08002B2CF9AE}" pid="19" name="TaxKeyword">
    <vt:lpwstr>6097;#SP 51 Template|54bab825-0ffe-4296-8a10-dca896ccbea1;#6096;#Solution Plan Template|fe2b7d0f-8f28-42b4-b3ec-63447ad1a1cb;#6095;#SP Template|be0bda1e-9f2c-4bfc-8480-80f7069a852a;#6090;#SP051|8f6ddd9e-2785-40af-89e1-22b60871c60f;#6089;#SP51|c8458c0d-cbc0-4e3c-b11f-9f6741ccd0ed;#5203;#SP051 Solution Plan|1f69a0a2-7abf-165f-c16e-7fd915d55496;#7004;#Solution Plan|ead11ab2-cdf3-4dc9-a1b9-461957dea6f4</vt:lpwstr>
  </property>
  <property fmtid="{D5CDD505-2E9C-101B-9397-08002B2CF9AE}" pid="20" name="K_A_Industry">
    <vt:lpwstr/>
  </property>
  <property fmtid="{D5CDD505-2E9C-101B-9397-08002B2CF9AE}" pid="21" name="K_A_DocumentAcceptableUse">
    <vt:lpwstr>5480;#Internal Avanade and Accenture use only|099e54a0-b26b-4760-bf98-af5b6a08c180</vt:lpwstr>
  </property>
  <property fmtid="{D5CDD505-2E9C-101B-9397-08002B2CF9AE}" pid="22" name="K_A_Operating Group">
    <vt:lpwstr/>
  </property>
  <property fmtid="{D5CDD505-2E9C-101B-9397-08002B2CF9AE}" pid="23" name="K_A_Talent Community">
    <vt:lpwstr>5570;#Delivery Management|4411de5b-e590-4601-8941-77e834092b61</vt:lpwstr>
  </property>
  <property fmtid="{D5CDD505-2E9C-101B-9397-08002B2CF9AE}" pid="24" name="K_A_Offering">
    <vt:lpwstr/>
  </property>
  <property fmtid="{D5CDD505-2E9C-101B-9397-08002B2CF9AE}" pid="25" name="K_A_Market_Unit_Portfolio">
    <vt:lpwstr>3190;#N/A- Not Applicable|0e36607a-4796-4f4e-bde1-652abdf19e5c</vt:lpwstr>
  </property>
  <property fmtid="{D5CDD505-2E9C-101B-9397-08002B2CF9AE}" pid="26" name="K_A_Market Unit">
    <vt:lpwstr>8800;#Advisory|6ce414a0-eacf-4938-92fd-1cb6f94e4496;#8801;#Experiences|d8e86e57-5adb-463a-8b64-f092e11cc6a9;#6773;#Applications ＆ Infrastructure|2daebbe5-0761-485b-bad1-c964cf5692b4;#5460;#Business Applications|f3e4c50a-675f-47f8-b433-9cc2fd4e99a0;#6776;#Data ＆ AI|c104987d-814b-4041-ab25-f9435737dddc;#6769;#Modern Workplace|81c51834-f55e-42aa-a152-c12f23918f67;#8583;#Security|ad7f7afc-72cc-436e-ba64-e0806c09fd13</vt:lpwstr>
  </property>
  <property fmtid="{D5CDD505-2E9C-101B-9397-08002B2CF9AE}" pid="27" name="K_A_DigitalInnovation">
    <vt:lpwstr/>
  </property>
  <property fmtid="{D5CDD505-2E9C-101B-9397-08002B2CF9AE}" pid="28" name="d50dde5bb07149a3a1ac3fa50b63730e">
    <vt:lpwstr/>
  </property>
  <property fmtid="{D5CDD505-2E9C-101B-9397-08002B2CF9AE}" pid="29" name="i1b72d3e0121427caf4dcfceb8b8a873">
    <vt:lpwstr/>
  </property>
  <property fmtid="{D5CDD505-2E9C-101B-9397-08002B2CF9AE}" pid="30" name="K_A_Sub_Offerings">
    <vt:lpwstr/>
  </property>
  <property fmtid="{D5CDD505-2E9C-101B-9397-08002B2CF9AE}" pid="31" name="K_A_AMP_BusinessFunction">
    <vt:lpwstr/>
  </property>
  <property fmtid="{D5CDD505-2E9C-101B-9397-08002B2CF9AE}" pid="32" name="bb61b19362a04c4dabb125d63e0bde14">
    <vt:lpwstr/>
  </property>
  <property fmtid="{D5CDD505-2E9C-101B-9397-08002B2CF9AE}" pid="33" name="_docset_NoMedatataSyncRequired">
    <vt:lpwstr>False</vt:lpwstr>
  </property>
  <property fmtid="{D5CDD505-2E9C-101B-9397-08002B2CF9AE}" pid="34" name="MediaServiceImageTags">
    <vt:lpwstr/>
  </property>
  <property fmtid="{D5CDD505-2E9C-101B-9397-08002B2CF9AE}" pid="35" name="K_A_Operating_x0020_Group">
    <vt:lpwstr/>
  </property>
  <property fmtid="{D5CDD505-2E9C-101B-9397-08002B2CF9AE}" pid="36" name="K_A_Asset_x0020_Type">
    <vt:lpwstr>5741</vt:lpwstr>
  </property>
  <property fmtid="{D5CDD505-2E9C-101B-9397-08002B2CF9AE}" pid="37" name="K_A_Talent_x0020_Community">
    <vt:lpwstr>5570;#Delivery Management|4411de5b-e590-4601-8941-77e834092b61</vt:lpwstr>
  </property>
  <property fmtid="{D5CDD505-2E9C-101B-9397-08002B2CF9AE}" pid="38" name="K_A_Market_x0020_Unit">
    <vt:lpwstr>8800;#Advisory|6ce414a0-eacf-4938-92fd-1cb6f94e4496;#8801;#Experiences|d8e86e57-5adb-463a-8b64-f092e11cc6a9;#6773;#Applications ＆ Infrastructure|2daebbe5-0761-485b-bad1-c964cf5692b4;#5460;#Business Applications|f3e4c50a-675f-47f8-b433-9cc2fd4e99a0;#6776;#Data ＆ AI|c104987d-814b-4041-ab25-f9435737dddc;#6769;#Modern Workplace|81c51834-f55e-42aa-a152-c12f23918f67;#8583;#Security|ad7f7afc-72cc-436e-ba64-e0806c09fd13</vt:lpwstr>
  </property>
  <property fmtid="{D5CDD505-2E9C-101B-9397-08002B2CF9AE}" pid="39" name="K_A_Asset Type">
    <vt:lpwstr>5741</vt:lpwstr>
  </property>
</Properties>
</file>